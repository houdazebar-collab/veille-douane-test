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image" Target="../media/image-22-7.png"/><Relationship Id="rId8" Type="http://schemas.openxmlformats.org/officeDocument/2006/relationships/image" Target="../media/image-22-8.png"/><Relationship Id="rId9" Type="http://schemas.openxmlformats.org/officeDocument/2006/relationships/image" Target="../media/image-22-9.png"/><Relationship Id="rId10" Type="http://schemas.openxmlformats.org/officeDocument/2006/relationships/image" Target="../media/image-22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image" Target="../media/image-2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image" Target="../media/image-28-5.png"/><Relationship Id="rId6" Type="http://schemas.openxmlformats.org/officeDocument/2006/relationships/image" Target="../media/image-28-6.png"/><Relationship Id="rId7" Type="http://schemas.openxmlformats.org/officeDocument/2006/relationships/image" Target="../media/image-28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image" Target="../media/image-30-4.png"/><Relationship Id="rId5" Type="http://schemas.openxmlformats.org/officeDocument/2006/relationships/image" Target="../media/image-3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image" Target="../media/image-31-4.png"/><Relationship Id="rId5" Type="http://schemas.openxmlformats.org/officeDocument/2006/relationships/image" Target="../media/image-31-5.png"/><Relationship Id="rId6" Type="http://schemas.openxmlformats.org/officeDocument/2006/relationships/image" Target="../media/image-31-6.png"/><Relationship Id="rId7" Type="http://schemas.openxmlformats.org/officeDocument/2006/relationships/image" Target="../media/image-31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A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2377440"/>
            <a:ext cx="7315200" cy="7315200"/>
          </a:xfrm>
          <a:prstGeom prst="ellipse">
            <a:avLst/>
          </a:prstGeom>
          <a:solidFill>
            <a:srgbClr val="00439A">
              <a:alpha val="30000"/>
            </a:srgbClr>
          </a:solidFill>
          <a:ln w="12700">
            <a:solidFill>
              <a:srgbClr val="00439A">
                <a:alpha val="3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875520" y="3840480"/>
            <a:ext cx="4572000" cy="4572000"/>
          </a:xfrm>
          <a:prstGeom prst="ellipse">
            <a:avLst/>
          </a:prstGeom>
          <a:solidFill>
            <a:srgbClr val="E6005F">
              <a:alpha val="18000"/>
            </a:srgbClr>
          </a:solidFill>
          <a:ln w="12700">
            <a:solidFill>
              <a:srgbClr val="E6005F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640080"/>
            <a:ext cx="301752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731520"/>
            <a:ext cx="2743200" cy="6126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931920" y="640080"/>
            <a:ext cx="82296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7640" y="685800"/>
            <a:ext cx="731520" cy="7315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1965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600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WEBINAIRE  ·  DOUANE &amp; RSE</a:t>
            </a:r>
            <a:endParaRPr lang="en-US" sz="1300" dirty="0"/>
          </a:p>
        </p:txBody>
      </p:sp>
      <p:sp>
        <p:nvSpPr>
          <p:cNvPr id="9" name="Text 5"/>
          <p:cNvSpPr txBox="1"/>
          <p:nvPr/>
        </p:nvSpPr>
        <p:spPr>
          <a:xfrm>
            <a:off x="731520" y="2331720"/>
            <a:ext cx="7863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Maîtriser le RDUE et sécuriser vos opérations douanières</a:t>
            </a:r>
            <a:endParaRPr lang="en-US" sz="4000" dirty="0"/>
          </a:p>
        </p:txBody>
      </p:sp>
      <p:sp>
        <p:nvSpPr>
          <p:cNvPr id="10" name="Text 6"/>
          <p:cNvSpPr txBox="1"/>
          <p:nvPr/>
        </p:nvSpPr>
        <p:spPr>
          <a:xfrm>
            <a:off x="731520" y="393192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7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Règlement européen contre la déforestation (UE) 2023/1115, modifié par le règlement (UE) 2025/2650 — de la parcelle au passage en douane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731520" y="4892040"/>
            <a:ext cx="3520440" cy="868680"/>
          </a:xfrm>
          <a:prstGeom prst="roundRect">
            <a:avLst>
              <a:gd name="adj" fmla="val 8421"/>
            </a:avLst>
          </a:prstGeom>
          <a:solidFill>
            <a:srgbClr val="123A78"/>
          </a:solidFill>
          <a:ln w="12700">
            <a:solidFill>
              <a:srgbClr val="123A7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914400" y="495604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Céline Fontana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914400" y="530352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7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CF² Douane — Consultante &amp; formatrice en douane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4434840" y="4892040"/>
            <a:ext cx="3520440" cy="868680"/>
          </a:xfrm>
          <a:prstGeom prst="roundRect">
            <a:avLst>
              <a:gd name="adj" fmla="val 8421"/>
            </a:avLst>
          </a:prstGeom>
          <a:solidFill>
            <a:srgbClr val="123A78"/>
          </a:solidFill>
          <a:ln w="12700">
            <a:solidFill>
              <a:srgbClr val="123A78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617720" y="495604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Houda Zebar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4617720" y="530352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7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CCI Lyon Métropole — Co-animatrice du webinaire</a:t>
            </a:r>
            <a:endParaRPr lang="en-US" sz="1100" dirty="0"/>
          </a:p>
        </p:txBody>
      </p:sp>
      <p:sp>
        <p:nvSpPr>
          <p:cNvPr id="17" name="Text 13"/>
          <p:cNvSpPr txBox="1"/>
          <p:nvPr/>
        </p:nvSpPr>
        <p:spPr>
          <a:xfrm>
            <a:off x="731520" y="6035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distanciel  ·  jeudi 24 septembre 2026  ·  1 h 30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38360" y="347472"/>
            <a:ext cx="1965960" cy="43891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RDUE / EUDR  ·  Webinaire CCI Lyon Métropole  ·  24 septembre 2026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698480" y="641908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34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Sommaire</a:t>
            </a:r>
            <a:endParaRPr lang="en-US" sz="2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0058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déroulé du webinaire — 1 h 30, une introduction et quatre parties.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11064240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9E1EC"/>
            </a:solidFill>
            <a:prstDash val="solid"/>
          </a:ln>
          <a:effectLst>
            <a:outerShdw sx="100000" sy="100000" kx="0" ky="0" algn="bl" rotWithShape="0" blurRad="50800" dist="12700" dir="5400000">
              <a:srgbClr val="8AA0B4">
                <a:alpha val="2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13232" y="1728216"/>
            <a:ext cx="822960" cy="548640"/>
          </a:xfrm>
          <a:prstGeom prst="roundRect">
            <a:avLst>
              <a:gd name="adj" fmla="val 13333"/>
            </a:avLst>
          </a:prstGeom>
          <a:solidFill>
            <a:srgbClr val="00439A"/>
          </a:solidFill>
          <a:ln w="12700">
            <a:solidFill>
              <a:srgbClr val="00439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13232" y="1728216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1737360" y="1691640"/>
            <a:ext cx="7772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— Contexte &amp; enjeux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737360" y="2039112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Urgence écologique · objectifs du règlement · le texte 2023/1115 modifié par 2025/2650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9966960" y="1828800"/>
            <a:ext cx="1417320" cy="347472"/>
          </a:xfrm>
          <a:prstGeom prst="roundRect">
            <a:avLst>
              <a:gd name="adj" fmla="val 131579"/>
            </a:avLst>
          </a:prstGeom>
          <a:solidFill>
            <a:srgbClr val="E8EFFA"/>
          </a:solidFill>
          <a:ln w="12700">
            <a:solidFill>
              <a:srgbClr val="E8EFF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9966960" y="1828800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4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48640" y="2532888"/>
            <a:ext cx="11064240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9E1EC"/>
            </a:solidFill>
            <a:prstDash val="solid"/>
          </a:ln>
          <a:effectLst>
            <a:outerShdw sx="100000" sy="100000" kx="0" ky="0" algn="bl" rotWithShape="0" blurRad="50800" dist="12700" dir="5400000">
              <a:srgbClr val="8AA0B4">
                <a:alpha val="2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713232" y="2660904"/>
            <a:ext cx="822960" cy="548640"/>
          </a:xfrm>
          <a:prstGeom prst="roundRect">
            <a:avLst>
              <a:gd name="adj" fmla="val 13333"/>
            </a:avLst>
          </a:prstGeom>
          <a:solidFill>
            <a:srgbClr val="00439A"/>
          </a:solidFill>
          <a:ln w="12700">
            <a:solidFill>
              <a:srgbClr val="00439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13232" y="2660904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1737360" y="2624328"/>
            <a:ext cx="7772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Êtes-vous concernés ?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1737360" y="297180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matières &amp; dérivés (annexe I) · ce qui change en 2026-2027 · calendrier · définitions · acteurs &amp; responsabilités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9966960" y="2761488"/>
            <a:ext cx="1417320" cy="347472"/>
          </a:xfrm>
          <a:prstGeom prst="roundRect">
            <a:avLst>
              <a:gd name="adj" fmla="val 131579"/>
            </a:avLst>
          </a:prstGeom>
          <a:solidFill>
            <a:srgbClr val="E8EFFA"/>
          </a:solidFill>
          <a:ln w="12700">
            <a:solidFill>
              <a:srgbClr val="E8EFF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966960" y="2761488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4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48640" y="3465576"/>
            <a:ext cx="11064240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9E1EC"/>
            </a:solidFill>
            <a:prstDash val="solid"/>
          </a:ln>
          <a:effectLst>
            <a:outerShdw sx="100000" sy="100000" kx="0" ky="0" algn="bl" rotWithShape="0" blurRad="50800" dist="12700" dir="5400000">
              <a:srgbClr val="8AA0B4">
                <a:alpha val="22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13232" y="3593592"/>
            <a:ext cx="822960" cy="548640"/>
          </a:xfrm>
          <a:prstGeom prst="roundRect">
            <a:avLst>
              <a:gd name="adj" fmla="val 13333"/>
            </a:avLst>
          </a:prstGeom>
          <a:solidFill>
            <a:srgbClr val="00439A"/>
          </a:solidFill>
          <a:ln w="12700">
            <a:solidFill>
              <a:srgbClr val="00439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13232" y="3593592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</a:t>
            </a:r>
            <a:endParaRPr lang="en-US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1737360" y="3557016"/>
            <a:ext cx="7772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diligence raisonnée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1737360" y="390448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système de diligence (SDR) · les 3 étapes · la diligence simplifiée · le réexamen annuel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9966960" y="3694176"/>
            <a:ext cx="1417320" cy="347472"/>
          </a:xfrm>
          <a:prstGeom prst="roundRect">
            <a:avLst>
              <a:gd name="adj" fmla="val 131579"/>
            </a:avLst>
          </a:prstGeom>
          <a:solidFill>
            <a:srgbClr val="E8EFFA"/>
          </a:solidFill>
          <a:ln w="12700">
            <a:solidFill>
              <a:srgbClr val="E8EFF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966960" y="3694176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4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min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548640" y="4398264"/>
            <a:ext cx="11064240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9E1EC"/>
            </a:solidFill>
            <a:prstDash val="solid"/>
          </a:ln>
          <a:effectLst>
            <a:outerShdw sx="100000" sy="100000" kx="0" ky="0" algn="bl" rotWithShape="0" blurRad="50800" dist="12700" dir="5400000">
              <a:srgbClr val="8AA0B4">
                <a:alpha val="22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13232" y="4526280"/>
            <a:ext cx="822960" cy="548640"/>
          </a:xfrm>
          <a:prstGeom prst="roundRect">
            <a:avLst>
              <a:gd name="adj" fmla="val 13333"/>
            </a:avLst>
          </a:prstGeom>
          <a:solidFill>
            <a:srgbClr val="00439A"/>
          </a:solidFill>
          <a:ln w="12700">
            <a:solidFill>
              <a:srgbClr val="00439A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13232" y="452628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</a:t>
            </a:r>
            <a:endParaRPr lang="en-US" sz="1600" dirty="0"/>
          </a:p>
        </p:txBody>
      </p:sp>
      <p:sp>
        <p:nvSpPr>
          <p:cNvPr id="31" name="Text 28"/>
          <p:cNvSpPr txBox="1"/>
          <p:nvPr/>
        </p:nvSpPr>
        <p:spPr>
          <a:xfrm>
            <a:off x="1737360" y="4489704"/>
            <a:ext cx="7772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Mise en œuvre &amp; formalités douanières</a:t>
            </a:r>
            <a:endParaRPr lang="en-US" sz="1600" dirty="0"/>
          </a:p>
        </p:txBody>
      </p:sp>
      <p:sp>
        <p:nvSpPr>
          <p:cNvPr id="32" name="Text 29"/>
          <p:cNvSpPr txBox="1"/>
          <p:nvPr/>
        </p:nvSpPr>
        <p:spPr>
          <a:xfrm>
            <a:off x="1737360" y="4837176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Système d'information &amp; EU Login · déclarer en douane (Delta) : C716 / C717 / Y · transmission amont-aval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9966960" y="4626864"/>
            <a:ext cx="1417320" cy="347472"/>
          </a:xfrm>
          <a:prstGeom prst="roundRect">
            <a:avLst>
              <a:gd name="adj" fmla="val 131579"/>
            </a:avLst>
          </a:prstGeom>
          <a:solidFill>
            <a:srgbClr val="E8EFFA"/>
          </a:solidFill>
          <a:ln w="12700">
            <a:solidFill>
              <a:srgbClr val="E8EFF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9966960" y="4626864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4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548640" y="5330952"/>
            <a:ext cx="11064240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9E1EC"/>
            </a:solidFill>
            <a:prstDash val="solid"/>
          </a:ln>
          <a:effectLst>
            <a:outerShdw sx="100000" sy="100000" kx="0" ky="0" algn="bl" rotWithShape="0" blurRad="50800" dist="12700" dir="5400000">
              <a:srgbClr val="8AA0B4">
                <a:alpha val="22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713232" y="5458968"/>
            <a:ext cx="822960" cy="548640"/>
          </a:xfrm>
          <a:prstGeom prst="roundRect">
            <a:avLst>
              <a:gd name="adj" fmla="val 13333"/>
            </a:avLst>
          </a:prstGeom>
          <a:solidFill>
            <a:srgbClr val="00439A"/>
          </a:solidFill>
          <a:ln w="12700">
            <a:solidFill>
              <a:srgbClr val="00439A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713232" y="5458968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</a:t>
            </a:r>
            <a:endParaRPr lang="en-US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1737360" y="5422392"/>
            <a:ext cx="7772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Bonnes pratiques &amp; conseils</a:t>
            </a:r>
            <a:endParaRPr lang="en-US" sz="1600" dirty="0"/>
          </a:p>
        </p:txBody>
      </p:sp>
      <p:sp>
        <p:nvSpPr>
          <p:cNvPr id="39" name="Text 36"/>
          <p:cNvSpPr txBox="1"/>
          <p:nvPr/>
        </p:nvSpPr>
        <p:spPr>
          <a:xfrm>
            <a:off x="1737360" y="5769864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Risques &amp; sanctions · leviers · feuille de route · quiz</a:t>
            </a:r>
            <a:endParaRPr lang="en-US" sz="1150" dirty="0"/>
          </a:p>
        </p:txBody>
      </p:sp>
      <p:sp>
        <p:nvSpPr>
          <p:cNvPr id="40" name="Shape 37"/>
          <p:cNvSpPr/>
          <p:nvPr/>
        </p:nvSpPr>
        <p:spPr>
          <a:xfrm>
            <a:off x="9966960" y="5559552"/>
            <a:ext cx="1417320" cy="347472"/>
          </a:xfrm>
          <a:prstGeom prst="roundRect">
            <a:avLst>
              <a:gd name="adj" fmla="val 131579"/>
            </a:avLst>
          </a:prstGeom>
          <a:solidFill>
            <a:srgbClr val="E8EFFA"/>
          </a:solidFill>
          <a:ln w="12700">
            <a:solidFill>
              <a:srgbClr val="E8EFFA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9966960" y="5559552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4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38360" y="347472"/>
            <a:ext cx="1965960" cy="43891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RDUE / EUDR  ·  Webinaire CCI Lyon Métropole  ·  24 septembre 2026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698480" y="641908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34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Objectifs du webinaire</a:t>
            </a:r>
            <a:endParaRPr lang="en-US" sz="2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0058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vous saurez faire en sortant.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544068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9E1EC"/>
            </a:solidFill>
            <a:prstDash val="solid"/>
          </a:ln>
          <a:effectLst>
            <a:outerShdw sx="100000" sy="100000" kx="0" ky="0" algn="bl" rotWithShape="0" blurRad="50800" dist="12700" dir="5400000">
              <a:srgbClr val="8AA0B4">
                <a:alpha val="2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822960" y="2011680"/>
            <a:ext cx="731520" cy="731520"/>
          </a:xfrm>
          <a:prstGeom prst="ellipse">
            <a:avLst/>
          </a:prstGeom>
          <a:solidFill>
            <a:srgbClr val="00439A"/>
          </a:solidFill>
          <a:ln w="12700">
            <a:solidFill>
              <a:srgbClr val="00439A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2194560"/>
            <a:ext cx="365760" cy="36576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783080" y="201168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A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situer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1783080" y="2468880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Déterminer si votre entreprise est concernée, et à quel titre : opérateur, opérateur en aval ou commerçant.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6172200" y="1691640"/>
            <a:ext cx="544068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9E1EC"/>
            </a:solidFill>
            <a:prstDash val="solid"/>
          </a:ln>
          <a:effectLst>
            <a:outerShdw sx="100000" sy="100000" kx="0" ky="0" algn="bl" rotWithShape="0" blurRad="50800" dist="12700" dir="5400000">
              <a:srgbClr val="8AA0B4">
                <a:alpha val="22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6446520" y="2011680"/>
            <a:ext cx="731520" cy="731520"/>
          </a:xfrm>
          <a:prstGeom prst="ellipse">
            <a:avLst/>
          </a:prstGeom>
          <a:solidFill>
            <a:srgbClr val="00439A"/>
          </a:solidFill>
          <a:ln w="12700">
            <a:solidFill>
              <a:srgbClr val="00439A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2194560"/>
            <a:ext cx="365760" cy="36576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7406640" y="201168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A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Identifier vos produits</a:t>
            </a:r>
            <a:endParaRPr lang="en-US" sz="1800" dirty="0"/>
          </a:p>
        </p:txBody>
      </p:sp>
      <p:sp>
        <p:nvSpPr>
          <p:cNvPr id="16" name="Text 11"/>
          <p:cNvSpPr txBox="1"/>
          <p:nvPr/>
        </p:nvSpPr>
        <p:spPr>
          <a:xfrm>
            <a:off x="7406640" y="2468880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retrouver dans l'annexe I et connaître les bons codes douaniers.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548640" y="3794760"/>
            <a:ext cx="544068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9E1EC"/>
            </a:solidFill>
            <a:prstDash val="solid"/>
          </a:ln>
          <a:effectLst>
            <a:outerShdw sx="100000" sy="100000" kx="0" ky="0" algn="bl" rotWithShape="0" blurRad="50800" dist="12700" dir="5400000">
              <a:srgbClr val="8AA0B4">
                <a:alpha val="22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822960" y="4114800"/>
            <a:ext cx="731520" cy="731520"/>
          </a:xfrm>
          <a:prstGeom prst="ellipse">
            <a:avLst/>
          </a:prstGeom>
          <a:solidFill>
            <a:srgbClr val="00439A"/>
          </a:solidFill>
          <a:ln w="12700">
            <a:solidFill>
              <a:srgbClr val="00439A"/>
            </a:solidFill>
            <a:prstDash val="solid"/>
          </a:ln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4297680"/>
            <a:ext cx="365760" cy="36576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783080" y="41148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A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Maîtriser la diligence</a:t>
            </a:r>
            <a:endParaRPr lang="en-US" sz="1800" dirty="0"/>
          </a:p>
        </p:txBody>
      </p:sp>
      <p:sp>
        <p:nvSpPr>
          <p:cNvPr id="21" name="Text 15"/>
          <p:cNvSpPr txBox="1"/>
          <p:nvPr/>
        </p:nvSpPr>
        <p:spPr>
          <a:xfrm>
            <a:off x="1783080" y="4572000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système de diligence, les trois étapes, les preuves à réunir.</a:t>
            </a:r>
            <a:endParaRPr lang="en-US" sz="1300" dirty="0"/>
          </a:p>
        </p:txBody>
      </p:sp>
      <p:sp>
        <p:nvSpPr>
          <p:cNvPr id="22" name="Shape 16"/>
          <p:cNvSpPr/>
          <p:nvPr/>
        </p:nvSpPr>
        <p:spPr>
          <a:xfrm>
            <a:off x="6172200" y="3794760"/>
            <a:ext cx="544068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9E1EC"/>
            </a:solidFill>
            <a:prstDash val="solid"/>
          </a:ln>
          <a:effectLst>
            <a:outerShdw sx="100000" sy="100000" kx="0" ky="0" algn="bl" rotWithShape="0" blurRad="50800" dist="12700" dir="5400000">
              <a:srgbClr val="8AA0B4">
                <a:alpha val="22000"/>
              </a:srgbClr>
            </a:outerShdw>
          </a:effectLst>
        </p:spPr>
      </p:sp>
      <p:sp>
        <p:nvSpPr>
          <p:cNvPr id="23" name="Shape 17"/>
          <p:cNvSpPr/>
          <p:nvPr/>
        </p:nvSpPr>
        <p:spPr>
          <a:xfrm>
            <a:off x="6446520" y="4114800"/>
            <a:ext cx="731520" cy="731520"/>
          </a:xfrm>
          <a:prstGeom prst="ellipse">
            <a:avLst/>
          </a:prstGeom>
          <a:solidFill>
            <a:srgbClr val="00439A"/>
          </a:solidFill>
          <a:ln w="12700">
            <a:solidFill>
              <a:srgbClr val="00439A"/>
            </a:solidFill>
            <a:prstDash val="solid"/>
          </a:ln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9400" y="4297680"/>
            <a:ext cx="365760" cy="36576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7406640" y="41148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A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Passer à l'action</a:t>
            </a:r>
            <a:endParaRPr lang="en-US" sz="1800" dirty="0"/>
          </a:p>
        </p:txBody>
      </p:sp>
      <p:sp>
        <p:nvSpPr>
          <p:cNvPr id="26" name="Text 19"/>
          <p:cNvSpPr txBox="1"/>
          <p:nvPr/>
        </p:nvSpPr>
        <p:spPr>
          <a:xfrm>
            <a:off x="7406640" y="4572000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Système d'information, déclaration en douane, échéances, contacts utiles.</a:t>
            </a:r>
            <a:endParaRPr lang="en-US" sz="1300" dirty="0"/>
          </a:p>
        </p:txBody>
      </p:sp>
      <p:sp>
        <p:nvSpPr>
          <p:cNvPr id="27" name="Text 20"/>
          <p:cNvSpPr txBox="1"/>
          <p:nvPr/>
        </p:nvSpPr>
        <p:spPr>
          <a:xfrm>
            <a:off x="548640" y="5943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E600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Co-animation Céline Fontana &amp; Houda Zebar  ·  cas pratiques et quiz tout au long du webinaire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2A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46920" y="292608"/>
            <a:ext cx="2148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38360" y="347472"/>
            <a:ext cx="1965960" cy="43891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RDUE / EUDR  ·  Webinaire CCI Lyon Métropole  ·  24 septembre 2026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698480" y="641908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34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-2011680" y="3566160"/>
            <a:ext cx="6858000" cy="6858000"/>
          </a:xfrm>
          <a:prstGeom prst="ellipse">
            <a:avLst/>
          </a:prstGeom>
          <a:solidFill>
            <a:srgbClr val="00439A">
              <a:alpha val="22000"/>
            </a:srgbClr>
          </a:solidFill>
          <a:ln w="12700">
            <a:solidFill>
              <a:srgbClr val="00439A">
                <a:alpha val="2200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371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600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  ·   10 min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1783080"/>
            <a:ext cx="6583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 &amp; enjeux</a:t>
            </a:r>
            <a:endParaRPr lang="en-US" sz="34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3063240"/>
            <a:ext cx="6217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L'urgence écologique : le constat en chiffres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objectifs du RDUE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texte : (UE) 2023/1115 modifié par (UE) 2025/2650, et le report d'un an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7863840" y="1417320"/>
            <a:ext cx="3749040" cy="658368"/>
          </a:xfrm>
          <a:prstGeom prst="roundRect">
            <a:avLst>
              <a:gd name="adj" fmla="val 11111"/>
            </a:avLst>
          </a:prstGeom>
          <a:solidFill>
            <a:srgbClr val="E6005F"/>
          </a:solidFill>
          <a:ln w="12700">
            <a:solidFill>
              <a:srgbClr val="E6005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001000" y="1417320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8595360" y="1417320"/>
            <a:ext cx="2926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 &amp; enjeux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7863840" y="2286000"/>
            <a:ext cx="3749040" cy="658368"/>
          </a:xfrm>
          <a:prstGeom prst="roundRect">
            <a:avLst>
              <a:gd name="adj" fmla="val 11111"/>
            </a:avLst>
          </a:prstGeom>
          <a:solidFill>
            <a:srgbClr val="123A78"/>
          </a:solidFill>
          <a:ln w="12700">
            <a:solidFill>
              <a:srgbClr val="123A7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001000" y="2286000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8595360" y="2286000"/>
            <a:ext cx="2926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Êtes-vous concernés ?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63840" y="3154680"/>
            <a:ext cx="3749040" cy="658368"/>
          </a:xfrm>
          <a:prstGeom prst="roundRect">
            <a:avLst>
              <a:gd name="adj" fmla="val 11111"/>
            </a:avLst>
          </a:prstGeom>
          <a:solidFill>
            <a:srgbClr val="123A78"/>
          </a:solidFill>
          <a:ln w="12700">
            <a:solidFill>
              <a:srgbClr val="123A78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001000" y="3154680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8595360" y="3154680"/>
            <a:ext cx="2926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diligence raisonnée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7863840" y="4023360"/>
            <a:ext cx="3749040" cy="658368"/>
          </a:xfrm>
          <a:prstGeom prst="roundRect">
            <a:avLst>
              <a:gd name="adj" fmla="val 11111"/>
            </a:avLst>
          </a:prstGeom>
          <a:solidFill>
            <a:srgbClr val="123A78"/>
          </a:solidFill>
          <a:ln w="12700">
            <a:solidFill>
              <a:srgbClr val="123A78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001000" y="4023360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595360" y="4023360"/>
            <a:ext cx="2926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Mise en œuvre &amp; formalités douanières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7863840" y="4892040"/>
            <a:ext cx="3749040" cy="658368"/>
          </a:xfrm>
          <a:prstGeom prst="roundRect">
            <a:avLst>
              <a:gd name="adj" fmla="val 11111"/>
            </a:avLst>
          </a:prstGeom>
          <a:solidFill>
            <a:srgbClr val="123A78"/>
          </a:solidFill>
          <a:ln w="12700">
            <a:solidFill>
              <a:srgbClr val="123A78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001000" y="4892040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8595360" y="4892040"/>
            <a:ext cx="2926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Bonnes pratiques &amp; conseils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38360" y="347472"/>
            <a:ext cx="1965960" cy="43891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RDUE / EUDR  ·  Webinaire CCI Lyon Métropole  ·  24 septembre 2026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698480" y="641908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34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coût de l'inaction</a:t>
            </a:r>
            <a:endParaRPr lang="en-US" sz="2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0058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ce règlement ? L'urgence écologique en chiffres.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3566160" cy="283464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9525">
            <a:solidFill>
              <a:srgbClr val="D9E1EC"/>
            </a:solidFill>
            <a:prstDash val="solid"/>
          </a:ln>
          <a:effectLst>
            <a:outerShdw sx="100000" sy="100000" kx="0" ky="0" algn="bl" rotWithShape="0" blurRad="50800" dist="12700" dir="5400000">
              <a:srgbClr val="8AA0B4">
                <a:alpha val="2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868680" y="1965960"/>
            <a:ext cx="640080" cy="640080"/>
          </a:xfrm>
          <a:prstGeom prst="ellipse">
            <a:avLst/>
          </a:prstGeom>
          <a:solidFill>
            <a:srgbClr val="E8EFFA"/>
          </a:solidFill>
          <a:ln w="12700">
            <a:solidFill>
              <a:srgbClr val="E8EFFA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8700" y="2125980"/>
            <a:ext cx="320040" cy="32004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68680" y="26974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04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420 M</a:t>
            </a:r>
            <a:endParaRPr lang="en-US" sz="44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356616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hectares de forêts disparus entre 1990 et 2020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4297680" y="1691640"/>
            <a:ext cx="3566160" cy="283464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9525">
            <a:solidFill>
              <a:srgbClr val="D9E1EC"/>
            </a:solidFill>
            <a:prstDash val="solid"/>
          </a:ln>
          <a:effectLst>
            <a:outerShdw sx="100000" sy="100000" kx="0" ky="0" algn="bl" rotWithShape="0" blurRad="50800" dist="12700" dir="5400000">
              <a:srgbClr val="8AA0B4">
                <a:alpha val="22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4617720" y="1965960"/>
            <a:ext cx="640080" cy="640080"/>
          </a:xfrm>
          <a:prstGeom prst="ellipse">
            <a:avLst/>
          </a:prstGeom>
          <a:solidFill>
            <a:srgbClr val="E8EFFA"/>
          </a:solidFill>
          <a:ln w="12700">
            <a:solidFill>
              <a:srgbClr val="E8EFFA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7740" y="2125980"/>
            <a:ext cx="320040" cy="32004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617720" y="26974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04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</a:t>
            </a:r>
            <a:endParaRPr lang="en-US" sz="4400" dirty="0"/>
          </a:p>
        </p:txBody>
      </p:sp>
      <p:sp>
        <p:nvSpPr>
          <p:cNvPr id="16" name="Text 11"/>
          <p:cNvSpPr txBox="1"/>
          <p:nvPr/>
        </p:nvSpPr>
        <p:spPr>
          <a:xfrm>
            <a:off x="4617720" y="356616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hectares supplémentaires perdus chaque année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8046720" y="1691640"/>
            <a:ext cx="3566160" cy="283464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9525">
            <a:solidFill>
              <a:srgbClr val="D9E1EC"/>
            </a:solidFill>
            <a:prstDash val="solid"/>
          </a:ln>
          <a:effectLst>
            <a:outerShdw sx="100000" sy="100000" kx="0" ky="0" algn="bl" rotWithShape="0" blurRad="50800" dist="12700" dir="5400000">
              <a:srgbClr val="8AA0B4">
                <a:alpha val="22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8366760" y="1965960"/>
            <a:ext cx="640080" cy="640080"/>
          </a:xfrm>
          <a:prstGeom prst="ellipse">
            <a:avLst/>
          </a:prstGeom>
          <a:solidFill>
            <a:srgbClr val="E8EFFA"/>
          </a:solidFill>
          <a:ln w="12700">
            <a:solidFill>
              <a:srgbClr val="E8EFFA"/>
            </a:solidFill>
            <a:prstDash val="solid"/>
          </a:ln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26780" y="2125980"/>
            <a:ext cx="320040" cy="32004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366760" y="26974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04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11 %</a:t>
            </a:r>
            <a:endParaRPr lang="en-US" sz="4400" dirty="0"/>
          </a:p>
        </p:txBody>
      </p:sp>
      <p:sp>
        <p:nvSpPr>
          <p:cNvPr id="21" name="Text 15"/>
          <p:cNvSpPr txBox="1"/>
          <p:nvPr/>
        </p:nvSpPr>
        <p:spPr>
          <a:xfrm>
            <a:off x="8366760" y="356616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émissions mondiales de gaz à effet de serre liées à la déforestation</a:t>
            </a:r>
            <a:endParaRPr lang="en-US" sz="1300" dirty="0"/>
          </a:p>
        </p:txBody>
      </p:sp>
      <p:sp>
        <p:nvSpPr>
          <p:cNvPr id="22" name="Shape 16"/>
          <p:cNvSpPr/>
          <p:nvPr/>
        </p:nvSpPr>
        <p:spPr>
          <a:xfrm>
            <a:off x="548640" y="4846320"/>
            <a:ext cx="11064240" cy="1005840"/>
          </a:xfrm>
          <a:prstGeom prst="roundRect">
            <a:avLst>
              <a:gd name="adj" fmla="val 7273"/>
            </a:avLst>
          </a:prstGeom>
          <a:solidFill>
            <a:srgbClr val="0A2A5E"/>
          </a:solidFill>
          <a:ln w="12700">
            <a:solidFill>
              <a:srgbClr val="0A2A5E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822960" y="484632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RDUE vise à réduire la contribution de la consommation européenne à la déforestation importée et à promouvoir des chaînes d'approvisionnement durables.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548640" y="59893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: brochure DGDDI / Douane — Règlement européen contre la déforestation ; FAO, Global Forest Resources Assessment 2020.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38360" y="347472"/>
            <a:ext cx="1965960" cy="43891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RDUE / EUDR  ·  Webinaire CCI Lyon Métropole  ·  24 septembre 2026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698480" y="641908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34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RDUE en bref</a:t>
            </a:r>
            <a:endParaRPr lang="en-US" sz="2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0058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texte, une interdiction, une logique d'accès au marché.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6949440" cy="4343400"/>
          </a:xfrm>
          <a:prstGeom prst="roundRect">
            <a:avLst>
              <a:gd name="adj" fmla="val 1684"/>
            </a:avLst>
          </a:prstGeom>
          <a:solidFill>
            <a:srgbClr val="FFFFFF"/>
          </a:solidFill>
          <a:ln w="9525">
            <a:solidFill>
              <a:srgbClr val="D9E1EC"/>
            </a:solidFill>
            <a:prstDash val="solid"/>
          </a:ln>
          <a:effectLst>
            <a:outerShdw sx="100000" sy="100000" kx="0" ky="0" algn="bl" rotWithShape="0" blurRad="50800" dist="12700" dir="5400000">
              <a:srgbClr val="8AA0B4">
                <a:alpha val="22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868680" y="1920240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4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texte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2267712"/>
            <a:ext cx="6309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Règlement (UE) 2023/1115 du 31 mai 2023, modifié par le règlement (UE) 2025/2650 du 19 décembre 2025 (JOUE du 23/12/2025, en vigueur le 26/12/2025). Il abroge le règlement bois RBUE (995/2010) à la date d'application.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3291840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4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L'interdiction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3639312"/>
            <a:ext cx="6309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Interdire la mise sur le marché de l'UE — et l'exportation depuis l'UE — de produits ayant contribué à la déforestation ou à la dégradation des forêts après le 31/12/2020.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4663440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4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logique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868680" y="5010912"/>
            <a:ext cx="6309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n'est pas un label « vert » : c'est une condition d'accès au marché européen. Reporté d'un an, le calendrier est désormais confirmé par la Commission (revue du 4 mai 2026).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7772400" y="1691640"/>
            <a:ext cx="3840480" cy="2103120"/>
          </a:xfrm>
          <a:prstGeom prst="roundRect">
            <a:avLst>
              <a:gd name="adj" fmla="val 3478"/>
            </a:avLst>
          </a:prstGeom>
          <a:solidFill>
            <a:srgbClr val="0A2A5E"/>
          </a:solidFill>
          <a:ln w="12700">
            <a:solidFill>
              <a:srgbClr val="0A2A5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772400" y="196596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31/12/2020</a:t>
            </a:r>
            <a:endParaRPr lang="en-US" sz="3200" dirty="0"/>
          </a:p>
        </p:txBody>
      </p:sp>
      <p:sp>
        <p:nvSpPr>
          <p:cNvPr id="16" name="Text 13"/>
          <p:cNvSpPr txBox="1"/>
          <p:nvPr/>
        </p:nvSpPr>
        <p:spPr>
          <a:xfrm>
            <a:off x="7772400" y="260604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E600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 BUTOIR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8046720" y="297180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Aucune déforestation postérieure n'est admise.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772400" y="3931920"/>
            <a:ext cx="3840480" cy="2103120"/>
          </a:xfrm>
          <a:prstGeom prst="roundRect">
            <a:avLst>
              <a:gd name="adj" fmla="val 3478"/>
            </a:avLst>
          </a:prstGeom>
          <a:solidFill>
            <a:srgbClr val="00439A"/>
          </a:solidFill>
          <a:ln w="12700">
            <a:solidFill>
              <a:srgbClr val="00439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772400" y="420624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30/12/2026</a:t>
            </a:r>
            <a:endParaRPr lang="en-US" sz="3200" dirty="0"/>
          </a:p>
        </p:txBody>
      </p:sp>
      <p:sp>
        <p:nvSpPr>
          <p:cNvPr id="20" name="Text 17"/>
          <p:cNvSpPr txBox="1"/>
          <p:nvPr/>
        </p:nvSpPr>
        <p:spPr>
          <a:xfrm>
            <a:off x="7772400" y="484632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E600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8046720" y="521208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Grandes &amp; moyennes entreprises. Micro &amp; petites : 30/06/2027.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2A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46920" y="292608"/>
            <a:ext cx="2148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38360" y="347472"/>
            <a:ext cx="1965960" cy="43891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RDUE / EUDR  ·  Webinaire CCI Lyon Métropole  ·  24 septembre 2026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698480" y="641908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34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-2011680" y="3566160"/>
            <a:ext cx="6858000" cy="6858000"/>
          </a:xfrm>
          <a:prstGeom prst="ellipse">
            <a:avLst/>
          </a:prstGeom>
          <a:solidFill>
            <a:srgbClr val="00439A">
              <a:alpha val="22000"/>
            </a:srgbClr>
          </a:solidFill>
          <a:ln w="12700">
            <a:solidFill>
              <a:srgbClr val="00439A">
                <a:alpha val="2200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371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600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I   ·   20 min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1783080"/>
            <a:ext cx="6583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Êtes-vous concernés ?</a:t>
            </a:r>
            <a:endParaRPr lang="en-US" sz="34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3063240"/>
            <a:ext cx="6217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produits visés : 7 matières + dérivés (annexe I) et ce qui change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calendrier consolidé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Définitions clés : zéro déforestation, légalité, DDR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Acteurs &amp; responsabilités : opérateur, aval, commerçant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7863840" y="1417320"/>
            <a:ext cx="3749040" cy="658368"/>
          </a:xfrm>
          <a:prstGeom prst="roundRect">
            <a:avLst>
              <a:gd name="adj" fmla="val 11111"/>
            </a:avLst>
          </a:prstGeom>
          <a:solidFill>
            <a:srgbClr val="123A78"/>
          </a:solidFill>
          <a:ln w="12700">
            <a:solidFill>
              <a:srgbClr val="123A7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001000" y="1417320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8595360" y="1417320"/>
            <a:ext cx="2926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 &amp; enjeux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7863840" y="2286000"/>
            <a:ext cx="3749040" cy="658368"/>
          </a:xfrm>
          <a:prstGeom prst="roundRect">
            <a:avLst>
              <a:gd name="adj" fmla="val 11111"/>
            </a:avLst>
          </a:prstGeom>
          <a:solidFill>
            <a:srgbClr val="E6005F"/>
          </a:solidFill>
          <a:ln w="12700">
            <a:solidFill>
              <a:srgbClr val="E6005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001000" y="2286000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8595360" y="2286000"/>
            <a:ext cx="2926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Êtes-vous concernés ?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7863840" y="3154680"/>
            <a:ext cx="3749040" cy="658368"/>
          </a:xfrm>
          <a:prstGeom prst="roundRect">
            <a:avLst>
              <a:gd name="adj" fmla="val 11111"/>
            </a:avLst>
          </a:prstGeom>
          <a:solidFill>
            <a:srgbClr val="123A78"/>
          </a:solidFill>
          <a:ln w="12700">
            <a:solidFill>
              <a:srgbClr val="123A78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001000" y="3154680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8595360" y="3154680"/>
            <a:ext cx="2926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diligence raisonnée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7863840" y="4023360"/>
            <a:ext cx="3749040" cy="658368"/>
          </a:xfrm>
          <a:prstGeom prst="roundRect">
            <a:avLst>
              <a:gd name="adj" fmla="val 11111"/>
            </a:avLst>
          </a:prstGeom>
          <a:solidFill>
            <a:srgbClr val="123A78"/>
          </a:solidFill>
          <a:ln w="12700">
            <a:solidFill>
              <a:srgbClr val="123A78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001000" y="4023360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595360" y="4023360"/>
            <a:ext cx="2926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Mise en œuvre &amp; formalités douanières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7863840" y="4892040"/>
            <a:ext cx="3749040" cy="658368"/>
          </a:xfrm>
          <a:prstGeom prst="roundRect">
            <a:avLst>
              <a:gd name="adj" fmla="val 11111"/>
            </a:avLst>
          </a:prstGeom>
          <a:solidFill>
            <a:srgbClr val="123A78"/>
          </a:solidFill>
          <a:ln w="12700">
            <a:solidFill>
              <a:srgbClr val="123A78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001000" y="4892040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8595360" y="4892040"/>
            <a:ext cx="2926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Bonnes pratiques &amp; conseils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38360" y="347472"/>
            <a:ext cx="1965960" cy="43891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RDUE / EUDR  ·  Webinaire CCI Lyon Métropole  ·  24 septembre 2026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698480" y="641908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34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7 matières premières — annexe I</a:t>
            </a:r>
            <a:endParaRPr lang="en-US" sz="2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0058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produit est concerné s'il figure à l'annexe I ET contient l'une de ces matières.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48640" y="1645920"/>
            <a:ext cx="260604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9E1EC"/>
            </a:solidFill>
            <a:prstDash val="solid"/>
          </a:ln>
          <a:effectLst>
            <a:outerShdw sx="100000" sy="100000" kx="0" ky="0" algn="bl" rotWithShape="0" blurRad="50800" dist="12700" dir="5400000">
              <a:srgbClr val="8AA0B4">
                <a:alpha val="2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1417320" y="1874520"/>
            <a:ext cx="868680" cy="868680"/>
          </a:xfrm>
          <a:prstGeom prst="ellipse">
            <a:avLst/>
          </a:prstGeom>
          <a:solidFill>
            <a:srgbClr val="E8EFFA"/>
          </a:solidFill>
          <a:ln w="12700">
            <a:solidFill>
              <a:srgbClr val="E8EFFA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4490" y="2091690"/>
            <a:ext cx="434340" cy="43434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48640" y="2816352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Café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3127248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 0901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3337560" y="1645920"/>
            <a:ext cx="260604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9E1EC"/>
            </a:solidFill>
            <a:prstDash val="solid"/>
          </a:ln>
          <a:effectLst>
            <a:outerShdw sx="100000" sy="100000" kx="0" ky="0" algn="bl" rotWithShape="0" blurRad="50800" dist="12700" dir="5400000">
              <a:srgbClr val="8AA0B4">
                <a:alpha val="22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4206240" y="1874520"/>
            <a:ext cx="868680" cy="868680"/>
          </a:xfrm>
          <a:prstGeom prst="ellipse">
            <a:avLst/>
          </a:prstGeom>
          <a:solidFill>
            <a:srgbClr val="E8EFFA"/>
          </a:solidFill>
          <a:ln w="12700">
            <a:solidFill>
              <a:srgbClr val="E8EFFA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3410" y="2091690"/>
            <a:ext cx="434340" cy="43434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3337560" y="2816352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Cacao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3337560" y="3127248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 1801 → 1806</a:t>
            </a:r>
            <a:endParaRPr lang="en-US" sz="1050" dirty="0"/>
          </a:p>
        </p:txBody>
      </p:sp>
      <p:sp>
        <p:nvSpPr>
          <p:cNvPr id="17" name="Shape 12"/>
          <p:cNvSpPr/>
          <p:nvPr/>
        </p:nvSpPr>
        <p:spPr>
          <a:xfrm>
            <a:off x="6126480" y="1645920"/>
            <a:ext cx="260604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9E1EC"/>
            </a:solidFill>
            <a:prstDash val="solid"/>
          </a:ln>
          <a:effectLst>
            <a:outerShdw sx="100000" sy="100000" kx="0" ky="0" algn="bl" rotWithShape="0" blurRad="50800" dist="12700" dir="5400000">
              <a:srgbClr val="8AA0B4">
                <a:alpha val="22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6995160" y="1874520"/>
            <a:ext cx="868680" cy="868680"/>
          </a:xfrm>
          <a:prstGeom prst="ellipse">
            <a:avLst/>
          </a:prstGeom>
          <a:solidFill>
            <a:srgbClr val="E8EFFA"/>
          </a:solidFill>
          <a:ln w="12700">
            <a:solidFill>
              <a:srgbClr val="E8EFFA"/>
            </a:solidFill>
            <a:prstDash val="solid"/>
          </a:ln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12330" y="2091690"/>
            <a:ext cx="434340" cy="43434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6126480" y="2816352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Caoutchouc</a:t>
            </a:r>
            <a:endParaRPr lang="en-US" sz="1500" dirty="0"/>
          </a:p>
        </p:txBody>
      </p:sp>
      <p:sp>
        <p:nvSpPr>
          <p:cNvPr id="21" name="Text 15"/>
          <p:cNvSpPr txBox="1"/>
          <p:nvPr/>
        </p:nvSpPr>
        <p:spPr>
          <a:xfrm>
            <a:off x="6126480" y="3127248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 4001 → 4017</a:t>
            </a:r>
            <a:endParaRPr lang="en-US" sz="1050" dirty="0"/>
          </a:p>
        </p:txBody>
      </p:sp>
      <p:sp>
        <p:nvSpPr>
          <p:cNvPr id="22" name="Shape 16"/>
          <p:cNvSpPr/>
          <p:nvPr/>
        </p:nvSpPr>
        <p:spPr>
          <a:xfrm>
            <a:off x="8915400" y="1645920"/>
            <a:ext cx="260604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9E1EC"/>
            </a:solidFill>
            <a:prstDash val="solid"/>
          </a:ln>
          <a:effectLst>
            <a:outerShdw sx="100000" sy="100000" kx="0" ky="0" algn="bl" rotWithShape="0" blurRad="50800" dist="12700" dir="5400000">
              <a:srgbClr val="8AA0B4">
                <a:alpha val="22000"/>
              </a:srgbClr>
            </a:outerShdw>
          </a:effectLst>
        </p:spPr>
      </p:sp>
      <p:sp>
        <p:nvSpPr>
          <p:cNvPr id="23" name="Shape 17"/>
          <p:cNvSpPr/>
          <p:nvPr/>
        </p:nvSpPr>
        <p:spPr>
          <a:xfrm>
            <a:off x="9784080" y="1874520"/>
            <a:ext cx="868680" cy="868680"/>
          </a:xfrm>
          <a:prstGeom prst="ellipse">
            <a:avLst/>
          </a:prstGeom>
          <a:solidFill>
            <a:srgbClr val="E8EFFA"/>
          </a:solidFill>
          <a:ln w="12700">
            <a:solidFill>
              <a:srgbClr val="E8EFFA"/>
            </a:solidFill>
            <a:prstDash val="solid"/>
          </a:ln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01250" y="2091690"/>
            <a:ext cx="434340" cy="43434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8915400" y="2816352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Soja</a:t>
            </a:r>
            <a:endParaRPr lang="en-US" sz="1500" dirty="0"/>
          </a:p>
        </p:txBody>
      </p:sp>
      <p:sp>
        <p:nvSpPr>
          <p:cNvPr id="26" name="Text 19"/>
          <p:cNvSpPr txBox="1"/>
          <p:nvPr/>
        </p:nvSpPr>
        <p:spPr>
          <a:xfrm>
            <a:off x="8915400" y="3127248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 1201 · 1507</a:t>
            </a:r>
            <a:endParaRPr lang="en-US" sz="1050" dirty="0"/>
          </a:p>
        </p:txBody>
      </p:sp>
      <p:sp>
        <p:nvSpPr>
          <p:cNvPr id="27" name="Shape 20"/>
          <p:cNvSpPr/>
          <p:nvPr/>
        </p:nvSpPr>
        <p:spPr>
          <a:xfrm>
            <a:off x="548640" y="3703320"/>
            <a:ext cx="260604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9E1EC"/>
            </a:solidFill>
            <a:prstDash val="solid"/>
          </a:ln>
          <a:effectLst>
            <a:outerShdw sx="100000" sy="100000" kx="0" ky="0" algn="bl" rotWithShape="0" blurRad="50800" dist="12700" dir="5400000">
              <a:srgbClr val="8AA0B4">
                <a:alpha val="22000"/>
              </a:srgbClr>
            </a:outerShdw>
          </a:effectLst>
        </p:spPr>
      </p:sp>
      <p:sp>
        <p:nvSpPr>
          <p:cNvPr id="28" name="Shape 21"/>
          <p:cNvSpPr/>
          <p:nvPr/>
        </p:nvSpPr>
        <p:spPr>
          <a:xfrm>
            <a:off x="1417320" y="3931920"/>
            <a:ext cx="868680" cy="868680"/>
          </a:xfrm>
          <a:prstGeom prst="ellipse">
            <a:avLst/>
          </a:prstGeom>
          <a:solidFill>
            <a:srgbClr val="E8EFFA"/>
          </a:solidFill>
          <a:ln w="12700">
            <a:solidFill>
              <a:srgbClr val="E8EFFA"/>
            </a:solidFill>
            <a:prstDash val="solid"/>
          </a:ln>
        </p:spPr>
      </p:sp>
      <p:pic>
        <p:nvPicPr>
          <p:cNvPr id="2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34490" y="4149090"/>
            <a:ext cx="434340" cy="434340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548640" y="4873752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Huile de palme</a:t>
            </a:r>
            <a:endParaRPr lang="en-US" sz="1500" dirty="0"/>
          </a:p>
        </p:txBody>
      </p:sp>
      <p:sp>
        <p:nvSpPr>
          <p:cNvPr id="31" name="Text 23"/>
          <p:cNvSpPr txBox="1"/>
          <p:nvPr/>
        </p:nvSpPr>
        <p:spPr>
          <a:xfrm>
            <a:off x="548640" y="5184648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 1511 · 1513</a:t>
            </a:r>
            <a:endParaRPr lang="en-US" sz="1050" dirty="0"/>
          </a:p>
        </p:txBody>
      </p:sp>
      <p:sp>
        <p:nvSpPr>
          <p:cNvPr id="32" name="Shape 24"/>
          <p:cNvSpPr/>
          <p:nvPr/>
        </p:nvSpPr>
        <p:spPr>
          <a:xfrm>
            <a:off x="3337560" y="3703320"/>
            <a:ext cx="260604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9E1EC"/>
            </a:solidFill>
            <a:prstDash val="solid"/>
          </a:ln>
          <a:effectLst>
            <a:outerShdw sx="100000" sy="100000" kx="0" ky="0" algn="bl" rotWithShape="0" blurRad="50800" dist="12700" dir="5400000">
              <a:srgbClr val="8AA0B4">
                <a:alpha val="22000"/>
              </a:srgbClr>
            </a:outerShdw>
          </a:effectLst>
        </p:spPr>
      </p:sp>
      <p:sp>
        <p:nvSpPr>
          <p:cNvPr id="33" name="Shape 25"/>
          <p:cNvSpPr/>
          <p:nvPr/>
        </p:nvSpPr>
        <p:spPr>
          <a:xfrm>
            <a:off x="4206240" y="3931920"/>
            <a:ext cx="868680" cy="868680"/>
          </a:xfrm>
          <a:prstGeom prst="ellipse">
            <a:avLst/>
          </a:prstGeom>
          <a:solidFill>
            <a:srgbClr val="E8EFFA"/>
          </a:solidFill>
          <a:ln w="12700">
            <a:solidFill>
              <a:srgbClr val="E8EFFA"/>
            </a:solidFill>
            <a:prstDash val="solid"/>
          </a:ln>
        </p:spPr>
      </p:sp>
      <p:pic>
        <p:nvPicPr>
          <p:cNvPr id="3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23410" y="4149090"/>
            <a:ext cx="434340" cy="434340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3337560" y="4873752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Bœuf</a:t>
            </a:r>
            <a:endParaRPr lang="en-US" sz="1500" dirty="0"/>
          </a:p>
        </p:txBody>
      </p:sp>
      <p:sp>
        <p:nvSpPr>
          <p:cNvPr id="36" name="Text 27"/>
          <p:cNvSpPr txBox="1"/>
          <p:nvPr/>
        </p:nvSpPr>
        <p:spPr>
          <a:xfrm>
            <a:off x="3337560" y="5184648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 0102 · 0201 · 0202</a:t>
            </a:r>
            <a:endParaRPr lang="en-US" sz="1050" dirty="0"/>
          </a:p>
        </p:txBody>
      </p:sp>
      <p:sp>
        <p:nvSpPr>
          <p:cNvPr id="37" name="Shape 28"/>
          <p:cNvSpPr/>
          <p:nvPr/>
        </p:nvSpPr>
        <p:spPr>
          <a:xfrm>
            <a:off x="6126480" y="3703320"/>
            <a:ext cx="260604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9E1EC"/>
            </a:solidFill>
            <a:prstDash val="solid"/>
          </a:ln>
          <a:effectLst>
            <a:outerShdw sx="100000" sy="100000" kx="0" ky="0" algn="bl" rotWithShape="0" blurRad="50800" dist="12700" dir="5400000">
              <a:srgbClr val="8AA0B4">
                <a:alpha val="22000"/>
              </a:srgbClr>
            </a:outerShdw>
          </a:effectLst>
        </p:spPr>
      </p:sp>
      <p:sp>
        <p:nvSpPr>
          <p:cNvPr id="38" name="Shape 29"/>
          <p:cNvSpPr/>
          <p:nvPr/>
        </p:nvSpPr>
        <p:spPr>
          <a:xfrm>
            <a:off x="6995160" y="3931920"/>
            <a:ext cx="868680" cy="868680"/>
          </a:xfrm>
          <a:prstGeom prst="ellipse">
            <a:avLst/>
          </a:prstGeom>
          <a:solidFill>
            <a:srgbClr val="E8EFFA"/>
          </a:solidFill>
          <a:ln w="12700">
            <a:solidFill>
              <a:srgbClr val="E8EFFA"/>
            </a:solidFill>
            <a:prstDash val="solid"/>
          </a:ln>
        </p:spPr>
      </p:sp>
      <p:pic>
        <p:nvPicPr>
          <p:cNvPr id="39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12330" y="4149090"/>
            <a:ext cx="434340" cy="434340"/>
          </a:xfrm>
          <a:prstGeom prst="rect">
            <a:avLst/>
          </a:prstGeom>
        </p:spPr>
      </p:pic>
      <p:sp>
        <p:nvSpPr>
          <p:cNvPr id="40" name="Text 30"/>
          <p:cNvSpPr txBox="1"/>
          <p:nvPr/>
        </p:nvSpPr>
        <p:spPr>
          <a:xfrm>
            <a:off x="6126480" y="4873752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Bois &amp; papier</a:t>
            </a:r>
            <a:endParaRPr lang="en-US" sz="1500" dirty="0"/>
          </a:p>
        </p:txBody>
      </p:sp>
      <p:sp>
        <p:nvSpPr>
          <p:cNvPr id="41" name="Text 31"/>
          <p:cNvSpPr txBox="1"/>
          <p:nvPr/>
        </p:nvSpPr>
        <p:spPr>
          <a:xfrm>
            <a:off x="6126480" y="5184648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 4401 → 4421 · ch. 47-48</a:t>
            </a:r>
            <a:endParaRPr lang="en-US" sz="1050" dirty="0"/>
          </a:p>
        </p:txBody>
      </p:sp>
      <p:sp>
        <p:nvSpPr>
          <p:cNvPr id="42" name="Shape 32"/>
          <p:cNvSpPr/>
          <p:nvPr/>
        </p:nvSpPr>
        <p:spPr>
          <a:xfrm>
            <a:off x="8915400" y="3703320"/>
            <a:ext cx="2697480" cy="1874520"/>
          </a:xfrm>
          <a:prstGeom prst="roundRect">
            <a:avLst>
              <a:gd name="adj" fmla="val 3902"/>
            </a:avLst>
          </a:prstGeom>
          <a:solidFill>
            <a:srgbClr val="FFF6E0"/>
          </a:solidFill>
          <a:ln w="12700">
            <a:solidFill>
              <a:srgbClr val="F0D9A0"/>
            </a:solidFill>
            <a:prstDash val="solid"/>
          </a:ln>
        </p:spPr>
      </p:sp>
      <p:sp>
        <p:nvSpPr>
          <p:cNvPr id="43" name="Text 33"/>
          <p:cNvSpPr txBox="1"/>
          <p:nvPr/>
        </p:nvSpPr>
        <p:spPr>
          <a:xfrm>
            <a:off x="9098280" y="3794760"/>
            <a:ext cx="2377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 aux dérivés : </a:t>
            </a:r>
            <a:pPr indent="0" marL="0">
              <a:buNone/>
            </a:pPr>
            <a:r>
              <a:rPr lang="en-US" sz="11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papier, charbon de bois, pneus, chocolat, meubles… vous font entrer dans le champ. Le cuir en sort (acte délégué du 13/07/2026).</a:t>
            </a:r>
            <a:endParaRPr lang="en-US" sz="1150" dirty="0"/>
          </a:p>
        </p:txBody>
      </p:sp>
      <p:sp>
        <p:nvSpPr>
          <p:cNvPr id="44" name="Text 34"/>
          <p:cNvSpPr txBox="1"/>
          <p:nvPr/>
        </p:nvSpPr>
        <p:spPr>
          <a:xfrm>
            <a:off x="548640" y="58978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Codes NC indicatifs — la liste exhaustive figure à l'annexe I du règlement.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38360" y="347472"/>
            <a:ext cx="1965960" cy="43891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RDUE / EUDR  ·  Webinaire CCI Lyon Métropole  ·  24 septembre 2026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698480" y="641908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34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Annexe I : ce qui change en 2026-2027</a:t>
            </a:r>
            <a:endParaRPr lang="en-US" sz="2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0058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Acte délégué adopté le 13 juillet 2026 — exclusions dès l'entrée en vigueur (publication au JOUE attendue mi-septembre 2026), ajouts au 30/12/2027.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5440680" cy="3931920"/>
          </a:xfrm>
          <a:prstGeom prst="roundRect">
            <a:avLst>
              <a:gd name="adj" fmla="val 1860"/>
            </a:avLst>
          </a:prstGeom>
          <a:solidFill>
            <a:srgbClr val="FFFFFF"/>
          </a:solidFill>
          <a:ln w="9525">
            <a:solidFill>
              <a:srgbClr val="D9E1EC"/>
            </a:solidFill>
            <a:prstDash val="solid"/>
          </a:ln>
          <a:effectLst>
            <a:outerShdw sx="100000" sy="100000" kx="0" ky="0" algn="bl" rotWithShape="0" blurRad="50800" dist="12700" dir="5400000">
              <a:srgbClr val="8AA0B4">
                <a:alpha val="2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1691640"/>
            <a:ext cx="5440680" cy="777240"/>
          </a:xfrm>
          <a:prstGeom prst="roundRect">
            <a:avLst>
              <a:gd name="adj" fmla="val 9412"/>
            </a:avLst>
          </a:prstGeom>
          <a:solidFill>
            <a:srgbClr val="1E8E5A"/>
          </a:solidFill>
          <a:ln w="12700">
            <a:solidFill>
              <a:srgbClr val="1E8E5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48640" y="2194560"/>
            <a:ext cx="5440680" cy="274320"/>
          </a:xfrm>
          <a:prstGeom prst="rect">
            <a:avLst/>
          </a:prstGeom>
          <a:solidFill>
            <a:srgbClr val="1E8E5A"/>
          </a:solidFill>
          <a:ln w="12700">
            <a:solidFill>
              <a:srgbClr val="1E8E5A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874520"/>
            <a:ext cx="411480" cy="41148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417320" y="169164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Désormais soumis (au 30/12/2027)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697480"/>
            <a:ext cx="48463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Café soluble (SH 2101 11 00)</a:t>
            </a:r>
            <a:endParaRPr lang="en-US" sz="13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Certains dérivés d'huile de palme, acides oléiques, savons</a:t>
            </a:r>
            <a:endParaRPr lang="en-US" sz="13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Langues de bovins congelées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172200" y="1691640"/>
            <a:ext cx="5440680" cy="3931920"/>
          </a:xfrm>
          <a:prstGeom prst="roundRect">
            <a:avLst>
              <a:gd name="adj" fmla="val 1860"/>
            </a:avLst>
          </a:prstGeom>
          <a:solidFill>
            <a:srgbClr val="FFFFFF"/>
          </a:solidFill>
          <a:ln w="9525">
            <a:solidFill>
              <a:srgbClr val="D9E1EC"/>
            </a:solidFill>
            <a:prstDash val="solid"/>
          </a:ln>
          <a:effectLst>
            <a:outerShdw sx="100000" sy="100000" kx="0" ky="0" algn="bl" rotWithShape="0" blurRad="50800" dist="12700" dir="5400000">
              <a:srgbClr val="8AA0B4">
                <a:alpha val="22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172200" y="1691640"/>
            <a:ext cx="5440680" cy="777240"/>
          </a:xfrm>
          <a:prstGeom prst="roundRect">
            <a:avLst>
              <a:gd name="adj" fmla="val 9412"/>
            </a:avLst>
          </a:prstGeom>
          <a:solidFill>
            <a:srgbClr val="D0313B"/>
          </a:solidFill>
          <a:ln w="12700">
            <a:solidFill>
              <a:srgbClr val="D0313B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172200" y="2194560"/>
            <a:ext cx="5440680" cy="274320"/>
          </a:xfrm>
          <a:prstGeom prst="rect">
            <a:avLst/>
          </a:prstGeom>
          <a:solidFill>
            <a:srgbClr val="D0313B"/>
          </a:solidFill>
          <a:ln w="12700">
            <a:solidFill>
              <a:srgbClr val="D0313B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1874520"/>
            <a:ext cx="411480" cy="41148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7040880" y="169164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Désormais hors champ (dès l'entrée en vigueur)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6492240" y="2697480"/>
            <a:ext cx="48463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Cuirs et peaux de bovins (SH 4101, 4104, 4107)</a:t>
            </a:r>
            <a:endParaRPr lang="en-US" sz="13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Pneus rechapés, courroies, certains articles en caoutchouc</a:t>
            </a:r>
            <a:endParaRPr lang="en-US" sz="13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Soja de semence</a:t>
            </a:r>
            <a:endParaRPr lang="en-US" sz="13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Sièges d'avion et de véhicules</a:t>
            </a:r>
            <a:endParaRPr lang="en-US" sz="13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Produits imprimés — déjà sortis par le règlement 2025/2650</a:t>
            </a:r>
            <a:endParaRPr lang="en-US" sz="1350" dirty="0"/>
          </a:p>
        </p:txBody>
      </p:sp>
      <p:sp>
        <p:nvSpPr>
          <p:cNvPr id="19" name="Shape 14"/>
          <p:cNvSpPr/>
          <p:nvPr/>
        </p:nvSpPr>
        <p:spPr>
          <a:xfrm>
            <a:off x="548640" y="5760720"/>
            <a:ext cx="11064240" cy="457200"/>
          </a:xfrm>
          <a:prstGeom prst="roundRect">
            <a:avLst>
              <a:gd name="adj" fmla="val 16000"/>
            </a:avLst>
          </a:prstGeom>
          <a:solidFill>
            <a:srgbClr val="FFF6E0"/>
          </a:solidFill>
          <a:ln w="12700">
            <a:solidFill>
              <a:srgbClr val="F0D9A0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777240" y="576072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Conséquence : </a:t>
            </a:r>
            <a:pPr indent="0" marL="0">
              <a:buNone/>
            </a:pPr>
            <a:r>
              <a:rPr lang="en-US" sz="12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l'audit de vos nomenclatures n'est pas un exercice ponctuel — rejouez-le après publication de l'acte délégué.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38360" y="347472"/>
            <a:ext cx="1965960" cy="43891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RDUE / EUDR  ·  Webinaire CCI Lyon Métropole  ·  24 septembre 2026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698480" y="641908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34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calendrier consolidé</a:t>
            </a:r>
            <a:endParaRPr lang="en-US" sz="2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0058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Reporté d'un an par le règlement (UE) 2025/2650 — et confirmé par la revue de simplification du 4 mai 2026.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0A2A5E"/>
          </a:solidFill>
          <a:ln w="12700">
            <a:solidFill>
              <a:srgbClr val="0A2A5E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77240" y="1737360"/>
            <a:ext cx="594360" cy="594360"/>
          </a:xfrm>
          <a:prstGeom prst="ellipse">
            <a:avLst/>
          </a:prstGeom>
          <a:solidFill>
            <a:srgbClr val="E6005F"/>
          </a:solidFill>
          <a:ln w="12700">
            <a:solidFill>
              <a:srgbClr val="E6005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830" y="1885950"/>
            <a:ext cx="297180" cy="29718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554480" y="1600200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d'un an, pas suppression. </a:t>
            </a:r>
            <a:pPr indent="0" marL="0">
              <a:buNone/>
            </a:pPr>
            <a:r>
              <a:rPr lang="en-US" sz="135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L'échéance 2025 est décalée à 2026/2027 ; la date butoir du 31/12/2020 est inchangée et la Commission ne rouvrira pas le texte.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822960" y="3246120"/>
            <a:ext cx="10515600" cy="0"/>
          </a:xfrm>
          <a:prstGeom prst="line">
            <a:avLst/>
          </a:prstGeom>
          <a:noFill/>
          <a:ln w="25400">
            <a:solidFill>
              <a:srgbClr val="D9E1EC"/>
            </a:solidFill>
            <a:prstDash val="dash"/>
          </a:ln>
        </p:spPr>
      </p:sp>
      <p:sp>
        <p:nvSpPr>
          <p:cNvPr id="12" name="Shape 8"/>
          <p:cNvSpPr/>
          <p:nvPr/>
        </p:nvSpPr>
        <p:spPr>
          <a:xfrm>
            <a:off x="1234440" y="3090672"/>
            <a:ext cx="329184" cy="329184"/>
          </a:xfrm>
          <a:prstGeom prst="ellipse">
            <a:avLst/>
          </a:prstGeom>
          <a:solidFill>
            <a:srgbClr val="8A98A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548640" y="3611880"/>
            <a:ext cx="1719072" cy="224028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9525">
            <a:solidFill>
              <a:srgbClr val="D9E1EC"/>
            </a:solidFill>
            <a:prstDash val="solid"/>
          </a:ln>
          <a:effectLst>
            <a:outerShdw sx="100000" sy="100000" kx="0" ky="0" algn="bl" rotWithShape="0" blurRad="50800" dist="12700" dir="5400000">
              <a:srgbClr val="8AA0B4">
                <a:alpha val="22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548640" y="3749040"/>
            <a:ext cx="17190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26/12/2025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640080" y="4206240"/>
            <a:ext cx="15361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Modificatif en vigueur</a:t>
            </a:r>
            <a:endParaRPr lang="en-US" sz="1250" dirty="0"/>
          </a:p>
        </p:txBody>
      </p:sp>
      <p:sp>
        <p:nvSpPr>
          <p:cNvPr id="16" name="Text 12"/>
          <p:cNvSpPr txBox="1"/>
          <p:nvPr/>
        </p:nvSpPr>
        <p:spPr>
          <a:xfrm>
            <a:off x="640080" y="4892040"/>
            <a:ext cx="15361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Règl. 2025/2650 : report + simplifications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3090672" y="3090672"/>
            <a:ext cx="329184" cy="329184"/>
          </a:xfrm>
          <a:prstGeom prst="ellipse">
            <a:avLst/>
          </a:prstGeom>
          <a:solidFill>
            <a:srgbClr val="8A98A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2404872" y="3611880"/>
            <a:ext cx="1719072" cy="224028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9525">
            <a:solidFill>
              <a:srgbClr val="D9E1EC"/>
            </a:solidFill>
            <a:prstDash val="solid"/>
          </a:ln>
          <a:effectLst>
            <a:outerShdw sx="100000" sy="100000" kx="0" ky="0" algn="bl" rotWithShape="0" blurRad="50800" dist="12700" dir="5400000">
              <a:srgbClr val="8AA0B4">
                <a:alpha val="22000"/>
              </a:srgbClr>
            </a:outerShdw>
          </a:effectLst>
        </p:spPr>
      </p:sp>
      <p:sp>
        <p:nvSpPr>
          <p:cNvPr id="19" name="Text 15"/>
          <p:cNvSpPr txBox="1"/>
          <p:nvPr/>
        </p:nvSpPr>
        <p:spPr>
          <a:xfrm>
            <a:off x="2404872" y="3749040"/>
            <a:ext cx="17190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 juin 2026</a:t>
            </a:r>
            <a:endParaRPr lang="en-US" sz="1500" dirty="0"/>
          </a:p>
        </p:txBody>
      </p:sp>
      <p:sp>
        <p:nvSpPr>
          <p:cNvPr id="20" name="Text 16"/>
          <p:cNvSpPr txBox="1"/>
          <p:nvPr/>
        </p:nvSpPr>
        <p:spPr>
          <a:xfrm>
            <a:off x="2496312" y="4206240"/>
            <a:ext cx="15361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Système d'information rouvert</a:t>
            </a:r>
            <a:endParaRPr lang="en-US" sz="1250" dirty="0"/>
          </a:p>
        </p:txBody>
      </p:sp>
      <p:sp>
        <p:nvSpPr>
          <p:cNvPr id="21" name="Text 17"/>
          <p:cNvSpPr txBox="1"/>
          <p:nvPr/>
        </p:nvSpPr>
        <p:spPr>
          <a:xfrm>
            <a:off x="2496312" y="4892040"/>
            <a:ext cx="15361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Dépôt des DDR possible (ex-TRACES)</a:t>
            </a:r>
            <a:endParaRPr lang="en-US" sz="1150" dirty="0"/>
          </a:p>
        </p:txBody>
      </p:sp>
      <p:sp>
        <p:nvSpPr>
          <p:cNvPr id="22" name="Shape 18"/>
          <p:cNvSpPr/>
          <p:nvPr/>
        </p:nvSpPr>
        <p:spPr>
          <a:xfrm>
            <a:off x="4946904" y="3090672"/>
            <a:ext cx="329184" cy="329184"/>
          </a:xfrm>
          <a:prstGeom prst="ellipse">
            <a:avLst/>
          </a:prstGeom>
          <a:solidFill>
            <a:srgbClr val="8A98A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4261104" y="3611880"/>
            <a:ext cx="1719072" cy="224028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9525">
            <a:solidFill>
              <a:srgbClr val="D9E1EC"/>
            </a:solidFill>
            <a:prstDash val="solid"/>
          </a:ln>
          <a:effectLst>
            <a:outerShdw sx="100000" sy="100000" kx="0" ky="0" algn="bl" rotWithShape="0" blurRad="50800" dist="12700" dir="5400000">
              <a:srgbClr val="8AA0B4">
                <a:alpha val="22000"/>
              </a:srgbClr>
            </a:outerShdw>
          </a:effectLst>
        </p:spPr>
      </p:sp>
      <p:sp>
        <p:nvSpPr>
          <p:cNvPr id="24" name="Text 20"/>
          <p:cNvSpPr txBox="1"/>
          <p:nvPr/>
        </p:nvSpPr>
        <p:spPr>
          <a:xfrm>
            <a:off x="4261104" y="3749040"/>
            <a:ext cx="17190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13/07/2026</a:t>
            </a:r>
            <a:endParaRPr lang="en-US" sz="1500" dirty="0"/>
          </a:p>
        </p:txBody>
      </p:sp>
      <p:sp>
        <p:nvSpPr>
          <p:cNvPr id="25" name="Text 21"/>
          <p:cNvSpPr txBox="1"/>
          <p:nvPr/>
        </p:nvSpPr>
        <p:spPr>
          <a:xfrm>
            <a:off x="4352544" y="4206240"/>
            <a:ext cx="15361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Acte délégué annexe I</a:t>
            </a:r>
            <a:endParaRPr lang="en-US" sz="1250" dirty="0"/>
          </a:p>
        </p:txBody>
      </p:sp>
      <p:sp>
        <p:nvSpPr>
          <p:cNvPr id="26" name="Text 22"/>
          <p:cNvSpPr txBox="1"/>
          <p:nvPr/>
        </p:nvSpPr>
        <p:spPr>
          <a:xfrm>
            <a:off x="4352544" y="4892040"/>
            <a:ext cx="15361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règl. d'exécution 2026/1565 (SI)</a:t>
            </a:r>
            <a:endParaRPr lang="en-US" sz="1150" dirty="0"/>
          </a:p>
        </p:txBody>
      </p:sp>
      <p:sp>
        <p:nvSpPr>
          <p:cNvPr id="27" name="Shape 23"/>
          <p:cNvSpPr/>
          <p:nvPr/>
        </p:nvSpPr>
        <p:spPr>
          <a:xfrm>
            <a:off x="6803136" y="3090672"/>
            <a:ext cx="329184" cy="329184"/>
          </a:xfrm>
          <a:prstGeom prst="ellipse">
            <a:avLst/>
          </a:prstGeom>
          <a:solidFill>
            <a:srgbClr val="E6005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6117336" y="3611880"/>
            <a:ext cx="1719072" cy="224028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9050">
            <a:solidFill>
              <a:srgbClr val="E6005F"/>
            </a:solidFill>
            <a:prstDash val="solid"/>
          </a:ln>
          <a:effectLst>
            <a:outerShdw sx="100000" sy="100000" kx="0" ky="0" algn="bl" rotWithShape="0" blurRad="50800" dist="12700" dir="5400000">
              <a:srgbClr val="8AA0B4">
                <a:alpha val="22000"/>
              </a:srgbClr>
            </a:outerShdw>
          </a:effectLst>
        </p:spPr>
      </p:sp>
      <p:sp>
        <p:nvSpPr>
          <p:cNvPr id="29" name="Text 25"/>
          <p:cNvSpPr txBox="1"/>
          <p:nvPr/>
        </p:nvSpPr>
        <p:spPr>
          <a:xfrm>
            <a:off x="6117336" y="3749040"/>
            <a:ext cx="17190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30/12/2026</a:t>
            </a:r>
            <a:endParaRPr lang="en-US" sz="1500" dirty="0"/>
          </a:p>
        </p:txBody>
      </p:sp>
      <p:sp>
        <p:nvSpPr>
          <p:cNvPr id="30" name="Text 26"/>
          <p:cNvSpPr txBox="1"/>
          <p:nvPr/>
        </p:nvSpPr>
        <p:spPr>
          <a:xfrm>
            <a:off x="6208776" y="4206240"/>
            <a:ext cx="15361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600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— socle</a:t>
            </a:r>
            <a:endParaRPr lang="en-US" sz="1250" dirty="0"/>
          </a:p>
        </p:txBody>
      </p:sp>
      <p:sp>
        <p:nvSpPr>
          <p:cNvPr id="31" name="Text 27"/>
          <p:cNvSpPr txBox="1"/>
          <p:nvPr/>
        </p:nvSpPr>
        <p:spPr>
          <a:xfrm>
            <a:off x="6208776" y="4892040"/>
            <a:ext cx="15361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Grandes &amp; moyennes entreprises</a:t>
            </a:r>
            <a:endParaRPr lang="en-US" sz="1150" dirty="0"/>
          </a:p>
        </p:txBody>
      </p:sp>
      <p:sp>
        <p:nvSpPr>
          <p:cNvPr id="32" name="Shape 28"/>
          <p:cNvSpPr/>
          <p:nvPr/>
        </p:nvSpPr>
        <p:spPr>
          <a:xfrm>
            <a:off x="8659368" y="3090672"/>
            <a:ext cx="329184" cy="329184"/>
          </a:xfrm>
          <a:prstGeom prst="ellipse">
            <a:avLst/>
          </a:prstGeom>
          <a:solidFill>
            <a:srgbClr val="00439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7973568" y="3611880"/>
            <a:ext cx="1719072" cy="224028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9050">
            <a:solidFill>
              <a:srgbClr val="00439A"/>
            </a:solidFill>
            <a:prstDash val="solid"/>
          </a:ln>
          <a:effectLst>
            <a:outerShdw sx="100000" sy="100000" kx="0" ky="0" algn="bl" rotWithShape="0" blurRad="50800" dist="12700" dir="5400000">
              <a:srgbClr val="8AA0B4">
                <a:alpha val="22000"/>
              </a:srgbClr>
            </a:outerShdw>
          </a:effectLst>
        </p:spPr>
      </p:sp>
      <p:sp>
        <p:nvSpPr>
          <p:cNvPr id="34" name="Text 30"/>
          <p:cNvSpPr txBox="1"/>
          <p:nvPr/>
        </p:nvSpPr>
        <p:spPr>
          <a:xfrm>
            <a:off x="7973568" y="3749040"/>
            <a:ext cx="17190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30/06/2027</a:t>
            </a:r>
            <a:endParaRPr lang="en-US" sz="1500" dirty="0"/>
          </a:p>
        </p:txBody>
      </p:sp>
      <p:sp>
        <p:nvSpPr>
          <p:cNvPr id="35" name="Text 31"/>
          <p:cNvSpPr txBox="1"/>
          <p:nvPr/>
        </p:nvSpPr>
        <p:spPr>
          <a:xfrm>
            <a:off x="8065008" y="4206240"/>
            <a:ext cx="15361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4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 &amp; petites entreprises</a:t>
            </a:r>
            <a:endParaRPr lang="en-US" sz="1250" dirty="0"/>
          </a:p>
        </p:txBody>
      </p:sp>
      <p:sp>
        <p:nvSpPr>
          <p:cNvPr id="36" name="Text 32"/>
          <p:cNvSpPr txBox="1"/>
          <p:nvPr/>
        </p:nvSpPr>
        <p:spPr>
          <a:xfrm>
            <a:off x="8065008" y="4892040"/>
            <a:ext cx="15361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 du report TPE/PE</a:t>
            </a:r>
            <a:endParaRPr lang="en-US" sz="1150" dirty="0"/>
          </a:p>
        </p:txBody>
      </p:sp>
      <p:sp>
        <p:nvSpPr>
          <p:cNvPr id="37" name="Shape 33"/>
          <p:cNvSpPr/>
          <p:nvPr/>
        </p:nvSpPr>
        <p:spPr>
          <a:xfrm>
            <a:off x="10515600" y="3090672"/>
            <a:ext cx="329184" cy="329184"/>
          </a:xfrm>
          <a:prstGeom prst="ellipse">
            <a:avLst/>
          </a:prstGeom>
          <a:solidFill>
            <a:srgbClr val="00439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9829800" y="3611880"/>
            <a:ext cx="1719072" cy="224028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9050">
            <a:solidFill>
              <a:srgbClr val="00439A"/>
            </a:solidFill>
            <a:prstDash val="solid"/>
          </a:ln>
          <a:effectLst>
            <a:outerShdw sx="100000" sy="100000" kx="0" ky="0" algn="bl" rotWithShape="0" blurRad="50800" dist="12700" dir="5400000">
              <a:srgbClr val="8AA0B4">
                <a:alpha val="22000"/>
              </a:srgbClr>
            </a:outerShdw>
          </a:effectLst>
        </p:spPr>
      </p:sp>
      <p:sp>
        <p:nvSpPr>
          <p:cNvPr id="39" name="Text 35"/>
          <p:cNvSpPr txBox="1"/>
          <p:nvPr/>
        </p:nvSpPr>
        <p:spPr>
          <a:xfrm>
            <a:off x="9829800" y="3749040"/>
            <a:ext cx="17190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30/12/2027</a:t>
            </a:r>
            <a:endParaRPr lang="en-US" sz="1500" dirty="0"/>
          </a:p>
        </p:txBody>
      </p:sp>
      <p:sp>
        <p:nvSpPr>
          <p:cNvPr id="40" name="Text 36"/>
          <p:cNvSpPr txBox="1"/>
          <p:nvPr/>
        </p:nvSpPr>
        <p:spPr>
          <a:xfrm>
            <a:off x="9921240" y="4206240"/>
            <a:ext cx="15361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4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Nouveaux produits</a:t>
            </a:r>
            <a:endParaRPr lang="en-US" sz="1250" dirty="0"/>
          </a:p>
        </p:txBody>
      </p:sp>
      <p:sp>
        <p:nvSpPr>
          <p:cNvPr id="41" name="Text 37"/>
          <p:cNvSpPr txBox="1"/>
          <p:nvPr/>
        </p:nvSpPr>
        <p:spPr>
          <a:xfrm>
            <a:off x="9921240" y="4892040"/>
            <a:ext cx="15361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Ajouts de l'annexe I</a:t>
            </a:r>
            <a:endParaRPr lang="en-US" sz="1150" dirty="0"/>
          </a:p>
        </p:txBody>
      </p:sp>
      <p:sp>
        <p:nvSpPr>
          <p:cNvPr id="42" name="Text 38"/>
          <p:cNvSpPr txBox="1"/>
          <p:nvPr/>
        </p:nvSpPr>
        <p:spPr>
          <a:xfrm>
            <a:off x="548640" y="6035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Jalons passés en gris, échéances à venir en couleur. Acte délégué : publication au JOUE à vérifier la veille du webinaire.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38360" y="347472"/>
            <a:ext cx="1965960" cy="43891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RDUE / EUDR  ·  Webinaire CCI Lyon Métropole  ·  24 septembre 2026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698480" y="641908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34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conditions cumulatives (art. 3)</a:t>
            </a:r>
            <a:endParaRPr lang="en-US" sz="2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0058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en manque une : le produit ne peut être ni mis sur le marché ni exporté.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3566160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9525">
            <a:solidFill>
              <a:srgbClr val="D9E1EC"/>
            </a:solidFill>
            <a:prstDash val="solid"/>
          </a:ln>
          <a:effectLst>
            <a:outerShdw sx="100000" sy="100000" kx="0" ky="0" algn="bl" rotWithShape="0" blurRad="50800" dist="12700" dir="5400000">
              <a:srgbClr val="8AA0B4">
                <a:alpha val="2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1920240" y="1965960"/>
            <a:ext cx="822960" cy="822960"/>
          </a:xfrm>
          <a:prstGeom prst="ellipse">
            <a:avLst/>
          </a:prstGeom>
          <a:solidFill>
            <a:srgbClr val="00439A"/>
          </a:solidFill>
          <a:ln w="12700">
            <a:solidFill>
              <a:srgbClr val="00439A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5980" y="2171700"/>
            <a:ext cx="411480" cy="41148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22960" y="29260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Zéro déforestation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338328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sur des terres non déboisées après le 31/12/2020. Pour le bois : pas de dégradation forestière après cette date.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1783080" y="4754880"/>
            <a:ext cx="1097280" cy="292608"/>
          </a:xfrm>
          <a:prstGeom prst="roundRect">
            <a:avLst>
              <a:gd name="adj" fmla="val 156250"/>
            </a:avLst>
          </a:prstGeom>
          <a:solidFill>
            <a:srgbClr val="00439A"/>
          </a:solidFill>
          <a:ln w="12700">
            <a:solidFill>
              <a:srgbClr val="00439A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1783080" y="475488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art. 3 a)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4297680" y="1691640"/>
            <a:ext cx="3566160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9525">
            <a:solidFill>
              <a:srgbClr val="D9E1EC"/>
            </a:solidFill>
            <a:prstDash val="solid"/>
          </a:ln>
          <a:effectLst>
            <a:outerShdw sx="100000" sy="100000" kx="0" ky="0" algn="bl" rotWithShape="0" blurRad="50800" dist="12700" dir="5400000">
              <a:srgbClr val="8AA0B4">
                <a:alpha val="2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5669280" y="1965960"/>
            <a:ext cx="822960" cy="822960"/>
          </a:xfrm>
          <a:prstGeom prst="ellipse">
            <a:avLst/>
          </a:prstGeom>
          <a:solidFill>
            <a:srgbClr val="00439A"/>
          </a:solidFill>
          <a:ln w="12700">
            <a:solidFill>
              <a:srgbClr val="00439A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020" y="2171700"/>
            <a:ext cx="411480" cy="41148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4572000" y="29260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Légalité</a:t>
            </a:r>
            <a:endParaRPr lang="en-US" sz="1800" dirty="0"/>
          </a:p>
        </p:txBody>
      </p:sp>
      <p:sp>
        <p:nvSpPr>
          <p:cNvPr id="18" name="Text 13"/>
          <p:cNvSpPr txBox="1"/>
          <p:nvPr/>
        </p:nvSpPr>
        <p:spPr>
          <a:xfrm>
            <a:off x="4617720" y="338328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Conformité à la législation du pays de production : foncier, environnement, travail, droits des peuples autochtones, fiscalité, douane.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5532120" y="4754880"/>
            <a:ext cx="1097280" cy="292608"/>
          </a:xfrm>
          <a:prstGeom prst="roundRect">
            <a:avLst>
              <a:gd name="adj" fmla="val 156250"/>
            </a:avLst>
          </a:prstGeom>
          <a:solidFill>
            <a:srgbClr val="00439A"/>
          </a:solidFill>
          <a:ln w="12700">
            <a:solidFill>
              <a:srgbClr val="00439A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32120" y="475488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art. 3 b)</a:t>
            </a:r>
            <a:endParaRPr lang="en-US" sz="1000" dirty="0"/>
          </a:p>
        </p:txBody>
      </p:sp>
      <p:sp>
        <p:nvSpPr>
          <p:cNvPr id="21" name="Shape 16"/>
          <p:cNvSpPr/>
          <p:nvPr/>
        </p:nvSpPr>
        <p:spPr>
          <a:xfrm>
            <a:off x="8046720" y="1691640"/>
            <a:ext cx="3566160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9525">
            <a:solidFill>
              <a:srgbClr val="D9E1EC"/>
            </a:solidFill>
            <a:prstDash val="solid"/>
          </a:ln>
          <a:effectLst>
            <a:outerShdw sx="100000" sy="100000" kx="0" ky="0" algn="bl" rotWithShape="0" blurRad="50800" dist="12700" dir="5400000">
              <a:srgbClr val="8AA0B4">
                <a:alpha val="22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9418320" y="1965960"/>
            <a:ext cx="822960" cy="822960"/>
          </a:xfrm>
          <a:prstGeom prst="ellipse">
            <a:avLst/>
          </a:prstGeom>
          <a:solidFill>
            <a:srgbClr val="00439A"/>
          </a:solidFill>
          <a:ln w="12700">
            <a:solidFill>
              <a:srgbClr val="00439A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4060" y="2171700"/>
            <a:ext cx="411480" cy="41148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8321040" y="29260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Déclaration (DDR)</a:t>
            </a:r>
            <a:endParaRPr lang="en-US" sz="1800" dirty="0"/>
          </a:p>
        </p:txBody>
      </p:sp>
      <p:sp>
        <p:nvSpPr>
          <p:cNvPr id="25" name="Text 19"/>
          <p:cNvSpPr txBox="1"/>
          <p:nvPr/>
        </p:nvSpPr>
        <p:spPr>
          <a:xfrm>
            <a:off x="8366760" y="338328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Couvert par une déclaration de diligence raisonnée déposée dans le système d'information.</a:t>
            </a:r>
            <a:endParaRPr lang="en-US" sz="1250" dirty="0"/>
          </a:p>
        </p:txBody>
      </p:sp>
      <p:sp>
        <p:nvSpPr>
          <p:cNvPr id="26" name="Shape 20"/>
          <p:cNvSpPr/>
          <p:nvPr/>
        </p:nvSpPr>
        <p:spPr>
          <a:xfrm>
            <a:off x="9281160" y="4754880"/>
            <a:ext cx="1097280" cy="292608"/>
          </a:xfrm>
          <a:prstGeom prst="roundRect">
            <a:avLst>
              <a:gd name="adj" fmla="val 156250"/>
            </a:avLst>
          </a:prstGeom>
          <a:solidFill>
            <a:srgbClr val="00439A"/>
          </a:solidFill>
          <a:ln w="12700">
            <a:solidFill>
              <a:srgbClr val="00439A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9281160" y="475488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art. 3 c)</a:t>
            </a:r>
            <a:endParaRPr lang="en-US" sz="1000" dirty="0"/>
          </a:p>
        </p:txBody>
      </p:sp>
      <p:sp>
        <p:nvSpPr>
          <p:cNvPr id="28" name="Text 22"/>
          <p:cNvSpPr txBox="1"/>
          <p:nvPr/>
        </p:nvSpPr>
        <p:spPr>
          <a:xfrm>
            <a:off x="548640" y="55321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E600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produit légal mais issu d'une parcelle déforestée après 2020 reste interdit — et le volet export est le plus souvent oublié.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38360" y="347472"/>
            <a:ext cx="1965960" cy="43891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RDUE / EUDR  ·  Webinaire CCI Lyon Métropole  ·  24 septembre 2026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698480" y="641908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34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 est concerné ? Produit entrant, produit sortant</a:t>
            </a:r>
            <a:endParaRPr lang="en-US" sz="2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0058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fois le produit dans le champ (annexe I + matière) : que se passe-t-il selon le flux ?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1737360" y="1481328"/>
            <a:ext cx="2743200" cy="347472"/>
          </a:xfrm>
          <a:prstGeom prst="roundRect">
            <a:avLst>
              <a:gd name="adj" fmla="val 131579"/>
            </a:avLst>
          </a:prstGeom>
          <a:solidFill>
            <a:srgbClr val="0A2A5E"/>
          </a:solidFill>
          <a:ln w="12700">
            <a:solidFill>
              <a:srgbClr val="0A2A5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737360" y="148132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PRODUIT ENTRANT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7680960" y="1481328"/>
            <a:ext cx="2743200" cy="347472"/>
          </a:xfrm>
          <a:prstGeom prst="roundRect">
            <a:avLst>
              <a:gd name="adj" fmla="val 131579"/>
            </a:avLst>
          </a:prstGeom>
          <a:solidFill>
            <a:srgbClr val="0A2A5E"/>
          </a:solidFill>
          <a:ln w="12700">
            <a:solidFill>
              <a:srgbClr val="0A2A5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680960" y="148132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PRODUIT SORTANT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48640" y="1938528"/>
            <a:ext cx="51206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E8E5A"/>
            </a:solidFill>
            <a:prstDash val="solid"/>
          </a:ln>
          <a:effectLst>
            <a:outerShdw sx="100000" sy="100000" kx="0" ky="0" algn="bl" rotWithShape="0" blurRad="50800" dist="12700" dir="5400000">
              <a:srgbClr val="8AA0B4">
                <a:alpha val="22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731520" y="202996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A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Importation sur le marché de l'UE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731520" y="239572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= opérateur · DDR + n° en douane (C716)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3611880" y="2468880"/>
            <a:ext cx="1874520" cy="256032"/>
          </a:xfrm>
          <a:prstGeom prst="roundRect">
            <a:avLst>
              <a:gd name="adj" fmla="val 178571"/>
            </a:avLst>
          </a:prstGeom>
          <a:solidFill>
            <a:srgbClr val="1E8E5A"/>
          </a:solidFill>
          <a:ln w="12700">
            <a:solidFill>
              <a:srgbClr val="1E8E5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611880" y="2468880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DDR requise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6492240" y="1938528"/>
            <a:ext cx="51206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E8E5A"/>
            </a:solidFill>
            <a:prstDash val="solid"/>
          </a:ln>
          <a:effectLst>
            <a:outerShdw sx="100000" sy="100000" kx="0" ky="0" algn="bl" rotWithShape="0" blurRad="50800" dist="12700" dir="5400000">
              <a:srgbClr val="8AA0B4">
                <a:alpha val="22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6675120" y="202996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A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Exportation depuis le marché de l'UE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6675120" y="239572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= opérateur · DDR avant l'export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9555480" y="2468880"/>
            <a:ext cx="1874520" cy="256032"/>
          </a:xfrm>
          <a:prstGeom prst="roundRect">
            <a:avLst>
              <a:gd name="adj" fmla="val 178571"/>
            </a:avLst>
          </a:prstGeom>
          <a:solidFill>
            <a:srgbClr val="1E8E5A"/>
          </a:solidFill>
          <a:ln w="12700">
            <a:solidFill>
              <a:srgbClr val="1E8E5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555480" y="2468880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DDR requise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5806440" y="2240280"/>
            <a:ext cx="365760" cy="310896"/>
          </a:xfrm>
          <a:prstGeom prst="rightArrow">
            <a:avLst/>
          </a:prstGeom>
          <a:solidFill>
            <a:srgbClr val="0A2A5E"/>
          </a:solidFill>
          <a:ln w="12700">
            <a:solidFill>
              <a:srgbClr val="0A2A5E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48640" y="2944368"/>
            <a:ext cx="51206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E1EC"/>
            </a:solidFill>
            <a:prstDash val="solid"/>
          </a:ln>
          <a:effectLst>
            <a:outerShdw sx="100000" sy="100000" kx="0" ky="0" algn="bl" rotWithShape="0" blurRad="50800" dist="12700" dir="5400000">
              <a:srgbClr val="8AA0B4">
                <a:alpha val="22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731520" y="303580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A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Acheté sur le marché UE et utilisé pour un produit RDUE sortant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731520" y="340156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Opérateur en aval · pas de DDR, conserve le n° du fournisseur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3611880" y="3474720"/>
            <a:ext cx="1874520" cy="256032"/>
          </a:xfrm>
          <a:prstGeom prst="roundRect">
            <a:avLst>
              <a:gd name="adj" fmla="val 178571"/>
            </a:avLst>
          </a:prstGeom>
          <a:solidFill>
            <a:srgbClr val="00439A"/>
          </a:solidFill>
          <a:ln w="12700">
            <a:solidFill>
              <a:srgbClr val="00439A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3611880" y="3474720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 de DDR à conserver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6492240" y="2944368"/>
            <a:ext cx="51206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E1EC"/>
            </a:solidFill>
            <a:prstDash val="solid"/>
          </a:ln>
          <a:effectLst>
            <a:outerShdw sx="100000" sy="100000" kx="0" ky="0" algn="bl" rotWithShape="0" blurRad="50800" dist="12700" dir="5400000">
              <a:srgbClr val="8AA0B4">
                <a:alpha val="22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6675120" y="303580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A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Vendu au sein du marché UE (« mise à disposition »)</a:t>
            </a:r>
            <a:endParaRPr lang="en-US" sz="1250" dirty="0"/>
          </a:p>
        </p:txBody>
      </p:sp>
      <p:sp>
        <p:nvSpPr>
          <p:cNvPr id="29" name="Text 26"/>
          <p:cNvSpPr txBox="1"/>
          <p:nvPr/>
        </p:nvSpPr>
        <p:spPr>
          <a:xfrm>
            <a:off x="6675120" y="340156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Commerçant · références fournisseur conservées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9555480" y="3474720"/>
            <a:ext cx="1874520" cy="256032"/>
          </a:xfrm>
          <a:prstGeom prst="roundRect">
            <a:avLst>
              <a:gd name="adj" fmla="val 178571"/>
            </a:avLst>
          </a:prstGeom>
          <a:solidFill>
            <a:srgbClr val="00439A"/>
          </a:solidFill>
          <a:ln w="12700">
            <a:solidFill>
              <a:srgbClr val="00439A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9555480" y="3474720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 transmis par le fournisseur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5806440" y="3246120"/>
            <a:ext cx="365760" cy="310896"/>
          </a:xfrm>
          <a:prstGeom prst="rightArrow">
            <a:avLst/>
          </a:prstGeom>
          <a:solidFill>
            <a:srgbClr val="0A2A5E"/>
          </a:solidFill>
          <a:ln w="12700">
            <a:solidFill>
              <a:srgbClr val="0A2A5E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548640" y="3950208"/>
            <a:ext cx="51206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E1EC"/>
            </a:solidFill>
            <a:prstDash val="solid"/>
          </a:ln>
          <a:effectLst>
            <a:outerShdw sx="100000" sy="100000" kx="0" ky="0" algn="bl" rotWithShape="0" blurRad="50800" dist="12700" dir="5400000">
              <a:srgbClr val="8AA0B4">
                <a:alpha val="22000"/>
              </a:srgbClr>
            </a:outerShdw>
          </a:effectLst>
        </p:spPr>
      </p:sp>
      <p:sp>
        <p:nvSpPr>
          <p:cNvPr id="34" name="Text 31"/>
          <p:cNvSpPr txBox="1"/>
          <p:nvPr/>
        </p:nvSpPr>
        <p:spPr>
          <a:xfrm>
            <a:off x="731520" y="404164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A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Acheté sur le marché UE et PAS utilisé pour un produit RDUE sortant</a:t>
            </a:r>
            <a:endParaRPr lang="en-US" sz="1250" dirty="0"/>
          </a:p>
        </p:txBody>
      </p:sp>
      <p:sp>
        <p:nvSpPr>
          <p:cNvPr id="35" name="Text 32"/>
          <p:cNvSpPr txBox="1"/>
          <p:nvPr/>
        </p:nvSpPr>
        <p:spPr>
          <a:xfrm>
            <a:off x="731520" y="440740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D03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Produit non relevant</a:t>
            </a:r>
            <a:endParaRPr lang="en-US" sz="1050" dirty="0"/>
          </a:p>
        </p:txBody>
      </p:sp>
      <p:sp>
        <p:nvSpPr>
          <p:cNvPr id="36" name="Shape 33"/>
          <p:cNvSpPr/>
          <p:nvPr/>
        </p:nvSpPr>
        <p:spPr>
          <a:xfrm>
            <a:off x="3611880" y="4480560"/>
            <a:ext cx="1874520" cy="256032"/>
          </a:xfrm>
          <a:prstGeom prst="roundRect">
            <a:avLst>
              <a:gd name="adj" fmla="val 178571"/>
            </a:avLst>
          </a:prstGeom>
          <a:solidFill>
            <a:srgbClr val="D0313B"/>
          </a:solidFill>
          <a:ln w="12700">
            <a:solidFill>
              <a:srgbClr val="D0313B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3611880" y="4480560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de DDR</a:t>
            </a:r>
            <a:endParaRPr lang="en-US" sz="900" dirty="0"/>
          </a:p>
        </p:txBody>
      </p:sp>
      <p:sp>
        <p:nvSpPr>
          <p:cNvPr id="38" name="Shape 35"/>
          <p:cNvSpPr/>
          <p:nvPr/>
        </p:nvSpPr>
        <p:spPr>
          <a:xfrm>
            <a:off x="6492240" y="3950208"/>
            <a:ext cx="51206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E1EC"/>
            </a:solidFill>
            <a:prstDash val="solid"/>
          </a:ln>
          <a:effectLst>
            <a:outerShdw sx="100000" sy="100000" kx="0" ky="0" algn="bl" rotWithShape="0" blurRad="50800" dist="12700" dir="5400000">
              <a:srgbClr val="8AA0B4">
                <a:alpha val="22000"/>
              </a:srgbClr>
            </a:outerShdw>
          </a:effectLst>
        </p:spPr>
      </p:sp>
      <p:sp>
        <p:nvSpPr>
          <p:cNvPr id="39" name="Text 36"/>
          <p:cNvSpPr txBox="1"/>
          <p:nvPr/>
        </p:nvSpPr>
        <p:spPr>
          <a:xfrm>
            <a:off x="6675120" y="404164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A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Exporté ou vendu sur le marché de l'UE</a:t>
            </a:r>
            <a:endParaRPr lang="en-US" sz="1250" dirty="0"/>
          </a:p>
        </p:txBody>
      </p:sp>
      <p:sp>
        <p:nvSpPr>
          <p:cNvPr id="40" name="Text 37"/>
          <p:cNvSpPr txBox="1"/>
          <p:nvPr/>
        </p:nvSpPr>
        <p:spPr>
          <a:xfrm>
            <a:off x="6675120" y="440740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D03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Produit non relevant</a:t>
            </a:r>
            <a:endParaRPr lang="en-US" sz="1050" dirty="0"/>
          </a:p>
        </p:txBody>
      </p:sp>
      <p:sp>
        <p:nvSpPr>
          <p:cNvPr id="41" name="Shape 38"/>
          <p:cNvSpPr/>
          <p:nvPr/>
        </p:nvSpPr>
        <p:spPr>
          <a:xfrm>
            <a:off x="9555480" y="4480560"/>
            <a:ext cx="1874520" cy="256032"/>
          </a:xfrm>
          <a:prstGeom prst="roundRect">
            <a:avLst>
              <a:gd name="adj" fmla="val 178571"/>
            </a:avLst>
          </a:prstGeom>
          <a:solidFill>
            <a:srgbClr val="D0313B"/>
          </a:solidFill>
          <a:ln w="12700">
            <a:solidFill>
              <a:srgbClr val="D0313B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9555480" y="4480560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de DDR</a:t>
            </a:r>
            <a:endParaRPr lang="en-US" sz="900" dirty="0"/>
          </a:p>
        </p:txBody>
      </p:sp>
      <p:sp>
        <p:nvSpPr>
          <p:cNvPr id="43" name="Shape 40"/>
          <p:cNvSpPr/>
          <p:nvPr/>
        </p:nvSpPr>
        <p:spPr>
          <a:xfrm>
            <a:off x="5806440" y="4251960"/>
            <a:ext cx="365760" cy="310896"/>
          </a:xfrm>
          <a:prstGeom prst="rightArrow">
            <a:avLst/>
          </a:prstGeom>
          <a:solidFill>
            <a:srgbClr val="0A2A5E"/>
          </a:solidFill>
          <a:ln w="12700">
            <a:solidFill>
              <a:srgbClr val="0A2A5E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548640" y="4956048"/>
            <a:ext cx="51206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E1EC"/>
            </a:solidFill>
            <a:prstDash val="solid"/>
          </a:ln>
          <a:effectLst>
            <a:outerShdw sx="100000" sy="100000" kx="0" ky="0" algn="bl" rotWithShape="0" blurRad="50800" dist="12700" dir="5400000">
              <a:srgbClr val="8AA0B4">
                <a:alpha val="22000"/>
              </a:srgbClr>
            </a:outerShdw>
          </a:effectLst>
        </p:spPr>
      </p:sp>
      <p:sp>
        <p:nvSpPr>
          <p:cNvPr id="45" name="Text 42"/>
          <p:cNvSpPr txBox="1"/>
          <p:nvPr/>
        </p:nvSpPr>
        <p:spPr>
          <a:xfrm>
            <a:off x="731520" y="504748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A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Acheté sur le marché UE — consommation interne</a:t>
            </a:r>
            <a:endParaRPr lang="en-US" sz="1250" dirty="0"/>
          </a:p>
        </p:txBody>
      </p:sp>
      <p:sp>
        <p:nvSpPr>
          <p:cNvPr id="46" name="Text 43"/>
          <p:cNvSpPr txBox="1"/>
          <p:nvPr/>
        </p:nvSpPr>
        <p:spPr>
          <a:xfrm>
            <a:off x="731520" y="541324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D03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Produit non relevant</a:t>
            </a:r>
            <a:endParaRPr lang="en-US" sz="1050" dirty="0"/>
          </a:p>
        </p:txBody>
      </p:sp>
      <p:sp>
        <p:nvSpPr>
          <p:cNvPr id="47" name="Shape 44"/>
          <p:cNvSpPr/>
          <p:nvPr/>
        </p:nvSpPr>
        <p:spPr>
          <a:xfrm>
            <a:off x="3611880" y="5486400"/>
            <a:ext cx="1874520" cy="256032"/>
          </a:xfrm>
          <a:prstGeom prst="roundRect">
            <a:avLst>
              <a:gd name="adj" fmla="val 178571"/>
            </a:avLst>
          </a:prstGeom>
          <a:solidFill>
            <a:srgbClr val="D0313B"/>
          </a:solidFill>
          <a:ln w="12700">
            <a:solidFill>
              <a:srgbClr val="D0313B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3611880" y="5486400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de DDR</a:t>
            </a:r>
            <a:endParaRPr lang="en-US" sz="900" dirty="0"/>
          </a:p>
        </p:txBody>
      </p:sp>
      <p:sp>
        <p:nvSpPr>
          <p:cNvPr id="49" name="Shape 46"/>
          <p:cNvSpPr/>
          <p:nvPr/>
        </p:nvSpPr>
        <p:spPr>
          <a:xfrm>
            <a:off x="6492240" y="4956048"/>
            <a:ext cx="51206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E1EC"/>
            </a:solidFill>
            <a:prstDash val="solid"/>
          </a:ln>
          <a:effectLst>
            <a:outerShdw sx="100000" sy="100000" kx="0" ky="0" algn="bl" rotWithShape="0" blurRad="50800" dist="12700" dir="5400000">
              <a:srgbClr val="8AA0B4">
                <a:alpha val="22000"/>
              </a:srgbClr>
            </a:outerShdw>
          </a:effectLst>
        </p:spPr>
      </p:sp>
      <p:sp>
        <p:nvSpPr>
          <p:cNvPr id="50" name="Text 47"/>
          <p:cNvSpPr txBox="1"/>
          <p:nvPr/>
        </p:nvSpPr>
        <p:spPr>
          <a:xfrm>
            <a:off x="6675120" y="504748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A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Hors obligation</a:t>
            </a:r>
            <a:endParaRPr lang="en-US" sz="1250" dirty="0"/>
          </a:p>
        </p:txBody>
      </p:sp>
      <p:sp>
        <p:nvSpPr>
          <p:cNvPr id="51" name="Text 48"/>
          <p:cNvSpPr txBox="1"/>
          <p:nvPr/>
        </p:nvSpPr>
        <p:spPr>
          <a:xfrm>
            <a:off x="6675120" y="541324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D03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Aucune DDR, aucun n° à conserver</a:t>
            </a:r>
            <a:endParaRPr lang="en-US" sz="1050" dirty="0"/>
          </a:p>
        </p:txBody>
      </p:sp>
      <p:sp>
        <p:nvSpPr>
          <p:cNvPr id="52" name="Shape 49"/>
          <p:cNvSpPr/>
          <p:nvPr/>
        </p:nvSpPr>
        <p:spPr>
          <a:xfrm>
            <a:off x="9555480" y="5486400"/>
            <a:ext cx="1874520" cy="256032"/>
          </a:xfrm>
          <a:prstGeom prst="roundRect">
            <a:avLst>
              <a:gd name="adj" fmla="val 178571"/>
            </a:avLst>
          </a:prstGeom>
          <a:solidFill>
            <a:srgbClr val="D0313B"/>
          </a:solidFill>
          <a:ln w="12700">
            <a:solidFill>
              <a:srgbClr val="D0313B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9555480" y="5486400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de DDR</a:t>
            </a:r>
            <a:endParaRPr lang="en-US" sz="900" dirty="0"/>
          </a:p>
        </p:txBody>
      </p:sp>
      <p:sp>
        <p:nvSpPr>
          <p:cNvPr id="54" name="Text 51"/>
          <p:cNvSpPr txBox="1"/>
          <p:nvPr/>
        </p:nvSpPr>
        <p:spPr>
          <a:xfrm>
            <a:off x="5806440" y="5184648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800" dirty="0"/>
          </a:p>
        </p:txBody>
      </p:sp>
      <p:sp>
        <p:nvSpPr>
          <p:cNvPr id="55" name="Shape 52"/>
          <p:cNvSpPr/>
          <p:nvPr/>
        </p:nvSpPr>
        <p:spPr>
          <a:xfrm>
            <a:off x="548640" y="5925312"/>
            <a:ext cx="11064240" cy="384048"/>
          </a:xfrm>
          <a:prstGeom prst="roundRect">
            <a:avLst>
              <a:gd name="adj" fmla="val 19048"/>
            </a:avLst>
          </a:prstGeom>
          <a:solidFill>
            <a:srgbClr val="FFF6E0"/>
          </a:solidFill>
          <a:ln w="12700">
            <a:solidFill>
              <a:srgbClr val="F0D9A0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777240" y="5925312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Régimes douaniers particuliers : </a:t>
            </a:r>
            <a:pPr indent="0" marL="0">
              <a:buNone/>
            </a:pPr>
            <a:r>
              <a:rPr lang="en-US" sz="11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entrepôt douanier, perfectionnement actif, admission temporaire… ne sont pas soumis au RDUE (FAQ de la Commission).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38360" y="347472"/>
            <a:ext cx="1965960" cy="43891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RDUE / EUDR  ·  Webinaire CCI Lyon Métropole  ·  24 septembre 2026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698480" y="641908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34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Acteurs &amp; responsabilités</a:t>
            </a:r>
            <a:endParaRPr lang="en-US" sz="2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0058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Amont ou aval, le rôle — flux par flux — fixe le niveau d'obligation (définitions art. 2).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3566160" cy="416052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9525">
            <a:solidFill>
              <a:srgbClr val="D9E1EC"/>
            </a:solidFill>
            <a:prstDash val="solid"/>
          </a:ln>
          <a:effectLst>
            <a:outerShdw sx="100000" sy="100000" kx="0" ky="0" algn="bl" rotWithShape="0" blurRad="50800" dist="12700" dir="5400000">
              <a:srgbClr val="8AA0B4">
                <a:alpha val="2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1691640"/>
            <a:ext cx="3566160" cy="868680"/>
          </a:xfrm>
          <a:prstGeom prst="roundRect">
            <a:avLst>
              <a:gd name="adj" fmla="val 8421"/>
            </a:avLst>
          </a:prstGeom>
          <a:solidFill>
            <a:srgbClr val="0A2A5E"/>
          </a:solidFill>
          <a:ln w="12700">
            <a:solidFill>
              <a:srgbClr val="0A2A5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48640" y="2286000"/>
            <a:ext cx="3566160" cy="274320"/>
          </a:xfrm>
          <a:prstGeom prst="rect">
            <a:avLst/>
          </a:prstGeom>
          <a:solidFill>
            <a:srgbClr val="0A2A5E"/>
          </a:solidFill>
          <a:ln w="12700">
            <a:solidFill>
              <a:srgbClr val="0A2A5E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901952"/>
            <a:ext cx="457200" cy="4572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463040" y="169164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Opérateur (amont)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1371600" y="2743200"/>
            <a:ext cx="1920240" cy="274320"/>
          </a:xfrm>
          <a:prstGeom prst="roundRect">
            <a:avLst>
              <a:gd name="adj" fmla="val 166667"/>
            </a:avLst>
          </a:prstGeom>
          <a:solidFill>
            <a:srgbClr val="E8EFFA"/>
          </a:solidFill>
          <a:ln w="12700">
            <a:solidFill>
              <a:srgbClr val="E8EFFA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1371600" y="274320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4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art. 2 · art. 4 à 11</a:t>
            </a:r>
            <a:endParaRPr lang="en-US" sz="950" dirty="0"/>
          </a:p>
        </p:txBody>
      </p:sp>
      <p:sp>
        <p:nvSpPr>
          <p:cNvPr id="14" name="Text 10"/>
          <p:cNvSpPr txBox="1"/>
          <p:nvPr/>
        </p:nvSpPr>
        <p:spPr>
          <a:xfrm>
            <a:off x="548640" y="31089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A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 MAXIMALE</a:t>
            </a:r>
            <a:endParaRPr lang="en-US" sz="1000" dirty="0"/>
          </a:p>
        </p:txBody>
      </p:sp>
      <p:sp>
        <p:nvSpPr>
          <p:cNvPr id="15" name="Text 11"/>
          <p:cNvSpPr txBox="1"/>
          <p:nvPr/>
        </p:nvSpPr>
        <p:spPr>
          <a:xfrm>
            <a:off x="822960" y="3520440"/>
            <a:ext cx="30632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 sur le marché UE en premier, ou exporte.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Diligence raisonnée complète (art. 8 à 11).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Dépose la DDR dans le système d'information.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 de référence en douane (C716).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4297680" y="1691640"/>
            <a:ext cx="3566160" cy="416052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9525">
            <a:solidFill>
              <a:srgbClr val="D9E1EC"/>
            </a:solidFill>
            <a:prstDash val="solid"/>
          </a:ln>
          <a:effectLst>
            <a:outerShdw sx="100000" sy="100000" kx="0" ky="0" algn="bl" rotWithShape="0" blurRad="50800" dist="12700" dir="5400000">
              <a:srgbClr val="8AA0B4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4297680" y="1691640"/>
            <a:ext cx="3566160" cy="868680"/>
          </a:xfrm>
          <a:prstGeom prst="roundRect">
            <a:avLst>
              <a:gd name="adj" fmla="val 8421"/>
            </a:avLst>
          </a:prstGeom>
          <a:solidFill>
            <a:srgbClr val="00439A"/>
          </a:solidFill>
          <a:ln w="12700">
            <a:solidFill>
              <a:srgbClr val="00439A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297680" y="2286000"/>
            <a:ext cx="3566160" cy="274320"/>
          </a:xfrm>
          <a:prstGeom prst="rect">
            <a:avLst/>
          </a:prstGeom>
          <a:solidFill>
            <a:srgbClr val="00439A"/>
          </a:solidFill>
          <a:ln w="12700">
            <a:solidFill>
              <a:srgbClr val="00439A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901952"/>
            <a:ext cx="457200" cy="45720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5212080" y="169164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Opérateur en aval</a:t>
            </a:r>
            <a:endParaRPr lang="en-US" sz="1700" dirty="0"/>
          </a:p>
        </p:txBody>
      </p:sp>
      <p:sp>
        <p:nvSpPr>
          <p:cNvPr id="21" name="Shape 16"/>
          <p:cNvSpPr/>
          <p:nvPr/>
        </p:nvSpPr>
        <p:spPr>
          <a:xfrm>
            <a:off x="5120640" y="2743200"/>
            <a:ext cx="1920240" cy="274320"/>
          </a:xfrm>
          <a:prstGeom prst="roundRect">
            <a:avLst>
              <a:gd name="adj" fmla="val 166667"/>
            </a:avLst>
          </a:prstGeom>
          <a:solidFill>
            <a:srgbClr val="E8EFFA"/>
          </a:solidFill>
          <a:ln w="12700">
            <a:solidFill>
              <a:srgbClr val="E8EFFA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5120640" y="274320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4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art. 2 · règl. 2025/2650</a:t>
            </a:r>
            <a:endParaRPr lang="en-US" sz="950" dirty="0"/>
          </a:p>
        </p:txBody>
      </p:sp>
      <p:sp>
        <p:nvSpPr>
          <p:cNvPr id="23" name="Text 18"/>
          <p:cNvSpPr txBox="1"/>
          <p:nvPr/>
        </p:nvSpPr>
        <p:spPr>
          <a:xfrm>
            <a:off x="4297680" y="31089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04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 ALLÉGÉE</a:t>
            </a:r>
            <a:endParaRPr lang="en-US" sz="1000" dirty="0"/>
          </a:p>
        </p:txBody>
      </p:sp>
      <p:sp>
        <p:nvSpPr>
          <p:cNvPr id="24" name="Text 19"/>
          <p:cNvSpPr txBox="1"/>
          <p:nvPr/>
        </p:nvSpPr>
        <p:spPr>
          <a:xfrm>
            <a:off x="4572000" y="3520440"/>
            <a:ext cx="30632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 un produit déjà mis sur le marché UE.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de diligence, pas de DDR à déposer.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1er aval : collecte et conserve le n° de DDR amont (5 ans).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Avals suivants : informations fournisseur seulement.</a:t>
            </a:r>
            <a:endParaRPr lang="en-US" sz="1200" dirty="0"/>
          </a:p>
        </p:txBody>
      </p:sp>
      <p:sp>
        <p:nvSpPr>
          <p:cNvPr id="25" name="Shape 20"/>
          <p:cNvSpPr/>
          <p:nvPr/>
        </p:nvSpPr>
        <p:spPr>
          <a:xfrm>
            <a:off x="8046720" y="1691640"/>
            <a:ext cx="3566160" cy="416052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9525">
            <a:solidFill>
              <a:srgbClr val="D9E1EC"/>
            </a:solidFill>
            <a:prstDash val="solid"/>
          </a:ln>
          <a:effectLst>
            <a:outerShdw sx="100000" sy="100000" kx="0" ky="0" algn="bl" rotWithShape="0" blurRad="50800" dist="12700" dir="5400000">
              <a:srgbClr val="8AA0B4">
                <a:alpha val="22000"/>
              </a:srgbClr>
            </a:outerShdw>
          </a:effectLst>
        </p:spPr>
      </p:sp>
      <p:sp>
        <p:nvSpPr>
          <p:cNvPr id="26" name="Shape 21"/>
          <p:cNvSpPr/>
          <p:nvPr/>
        </p:nvSpPr>
        <p:spPr>
          <a:xfrm>
            <a:off x="8046720" y="1691640"/>
            <a:ext cx="3566160" cy="868680"/>
          </a:xfrm>
          <a:prstGeom prst="roundRect">
            <a:avLst>
              <a:gd name="adj" fmla="val 8421"/>
            </a:avLst>
          </a:prstGeom>
          <a:solidFill>
            <a:srgbClr val="0E8A8A"/>
          </a:solidFill>
          <a:ln w="12700">
            <a:solidFill>
              <a:srgbClr val="0E8A8A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8046720" y="2286000"/>
            <a:ext cx="3566160" cy="274320"/>
          </a:xfrm>
          <a:prstGeom prst="rect">
            <a:avLst/>
          </a:prstGeom>
          <a:solidFill>
            <a:srgbClr val="0E8A8A"/>
          </a:solidFill>
          <a:ln w="12700">
            <a:solidFill>
              <a:srgbClr val="0E8A8A"/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1040" y="1901952"/>
            <a:ext cx="457200" cy="457200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8961120" y="169164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Commerçant</a:t>
            </a:r>
            <a:endParaRPr lang="en-US" sz="1700" dirty="0"/>
          </a:p>
        </p:txBody>
      </p:sp>
      <p:sp>
        <p:nvSpPr>
          <p:cNvPr id="30" name="Shape 24"/>
          <p:cNvSpPr/>
          <p:nvPr/>
        </p:nvSpPr>
        <p:spPr>
          <a:xfrm>
            <a:off x="8869680" y="2743200"/>
            <a:ext cx="1920240" cy="274320"/>
          </a:xfrm>
          <a:prstGeom prst="roundRect">
            <a:avLst>
              <a:gd name="adj" fmla="val 166667"/>
            </a:avLst>
          </a:prstGeom>
          <a:solidFill>
            <a:srgbClr val="E8EFFA"/>
          </a:solidFill>
          <a:ln w="12700">
            <a:solidFill>
              <a:srgbClr val="E8EFFA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8869680" y="274320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4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art. 2 · art. 5</a:t>
            </a:r>
            <a:endParaRPr lang="en-US" sz="950" dirty="0"/>
          </a:p>
        </p:txBody>
      </p:sp>
      <p:sp>
        <p:nvSpPr>
          <p:cNvPr id="32" name="Text 26"/>
          <p:cNvSpPr txBox="1"/>
          <p:nvPr/>
        </p:nvSpPr>
        <p:spPr>
          <a:xfrm>
            <a:off x="8046720" y="31089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 MINIMALE</a:t>
            </a:r>
            <a:endParaRPr lang="en-US" sz="1000" dirty="0"/>
          </a:p>
        </p:txBody>
      </p:sp>
      <p:sp>
        <p:nvSpPr>
          <p:cNvPr id="33" name="Text 27"/>
          <p:cNvSpPr txBox="1"/>
          <p:nvPr/>
        </p:nvSpPr>
        <p:spPr>
          <a:xfrm>
            <a:off x="8321040" y="3520440"/>
            <a:ext cx="30632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 à disposition sans transformer.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1er commerçant aval : conserve le n° de DDR.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Suivants : nom, adresse, site du fournisseur.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Enregistrement au système d'information si non-PME.</a:t>
            </a:r>
            <a:endParaRPr lang="en-US" sz="1200" dirty="0"/>
          </a:p>
        </p:txBody>
      </p:sp>
      <p:sp>
        <p:nvSpPr>
          <p:cNvPr id="34" name="Text 28"/>
          <p:cNvSpPr txBox="1"/>
          <p:nvPr/>
        </p:nvSpPr>
        <p:spPr>
          <a:xfrm>
            <a:off x="548640" y="59893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mandataire (art. 6), établi dans l'UE, peut déposer la DDR au nom de l'opérateur — qui reste responsable.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38360" y="347472"/>
            <a:ext cx="1965960" cy="43891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RDUE / EUDR  ·  Webinaire CCI Lyon Métropole  ·  24 septembre 2026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698480" y="641908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34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 pratiques : quel rôle pour qui ?</a:t>
            </a:r>
            <a:endParaRPr lang="en-US" sz="2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0058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Sondage — opérateur, opérateur en aval ou commerçant ?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48640" y="1737360"/>
            <a:ext cx="1106424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9525">
            <a:solidFill>
              <a:srgbClr val="D9E1EC"/>
            </a:solidFill>
            <a:prstDash val="solid"/>
          </a:ln>
          <a:effectLst>
            <a:outerShdw sx="100000" sy="100000" kx="0" ky="0" algn="bl" rotWithShape="0" blurRad="50800" dist="12700" dir="5400000">
              <a:srgbClr val="8AA0B4">
                <a:alpha val="2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822960" y="1993392"/>
            <a:ext cx="640080" cy="640080"/>
          </a:xfrm>
          <a:prstGeom prst="ellipse">
            <a:avLst/>
          </a:prstGeom>
          <a:solidFill>
            <a:srgbClr val="E8EFFA"/>
          </a:solidFill>
          <a:ln w="12700">
            <a:solidFill>
              <a:srgbClr val="E8EFFA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980" y="2153412"/>
            <a:ext cx="320040" cy="32004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77240" y="265176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 1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1737360" y="1737360"/>
            <a:ext cx="6949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négociant importe des fèves de cacao du Ghana et les revend à un chocolatier français.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9052560" y="2084832"/>
            <a:ext cx="2286000" cy="457200"/>
          </a:xfrm>
          <a:prstGeom prst="roundRect">
            <a:avLst>
              <a:gd name="adj" fmla="val 100000"/>
            </a:avLst>
          </a:prstGeom>
          <a:solidFill>
            <a:srgbClr val="0A2A5E"/>
          </a:solidFill>
          <a:ln w="12700">
            <a:solidFill>
              <a:srgbClr val="0A2A5E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9052560" y="2084832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Opérateur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48640" y="3063240"/>
            <a:ext cx="1106424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9525">
            <a:solidFill>
              <a:srgbClr val="D9E1EC"/>
            </a:solidFill>
            <a:prstDash val="solid"/>
          </a:ln>
          <a:effectLst>
            <a:outerShdw sx="100000" sy="100000" kx="0" ky="0" algn="bl" rotWithShape="0" blurRad="50800" dist="12700" dir="5400000">
              <a:srgbClr val="8AA0B4">
                <a:alpha val="2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22960" y="3319272"/>
            <a:ext cx="640080" cy="640080"/>
          </a:xfrm>
          <a:prstGeom prst="ellipse">
            <a:avLst/>
          </a:prstGeom>
          <a:solidFill>
            <a:srgbClr val="E8EFFA"/>
          </a:solidFill>
          <a:ln w="12700">
            <a:solidFill>
              <a:srgbClr val="E8EFFA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980" y="3479292"/>
            <a:ext cx="320040" cy="32004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777240" y="397764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 2</a:t>
            </a:r>
            <a:endParaRPr lang="en-US" sz="900" dirty="0"/>
          </a:p>
        </p:txBody>
      </p:sp>
      <p:sp>
        <p:nvSpPr>
          <p:cNvPr id="18" name="Text 13"/>
          <p:cNvSpPr txBox="1"/>
          <p:nvPr/>
        </p:nvSpPr>
        <p:spPr>
          <a:xfrm>
            <a:off x="1737360" y="3063240"/>
            <a:ext cx="6949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fabricant de meubles achète du contreplaqué déjà déclaré (DDR déposée) et fabrique des meubles.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9052560" y="3410712"/>
            <a:ext cx="2286000" cy="457200"/>
          </a:xfrm>
          <a:prstGeom prst="roundRect">
            <a:avLst>
              <a:gd name="adj" fmla="val 100000"/>
            </a:avLst>
          </a:prstGeom>
          <a:solidFill>
            <a:srgbClr val="00439A"/>
          </a:solidFill>
          <a:ln w="12700">
            <a:solidFill>
              <a:srgbClr val="00439A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9052560" y="3410712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Opérateur en aval</a:t>
            </a:r>
            <a:endParaRPr lang="en-US" sz="1200" dirty="0"/>
          </a:p>
        </p:txBody>
      </p:sp>
      <p:sp>
        <p:nvSpPr>
          <p:cNvPr id="21" name="Shape 16"/>
          <p:cNvSpPr/>
          <p:nvPr/>
        </p:nvSpPr>
        <p:spPr>
          <a:xfrm>
            <a:off x="548640" y="4389120"/>
            <a:ext cx="1106424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9525">
            <a:solidFill>
              <a:srgbClr val="D9E1EC"/>
            </a:solidFill>
            <a:prstDash val="solid"/>
          </a:ln>
          <a:effectLst>
            <a:outerShdw sx="100000" sy="100000" kx="0" ky="0" algn="bl" rotWithShape="0" blurRad="50800" dist="12700" dir="5400000">
              <a:srgbClr val="8AA0B4">
                <a:alpha val="22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822960" y="4645152"/>
            <a:ext cx="640080" cy="640080"/>
          </a:xfrm>
          <a:prstGeom prst="ellipse">
            <a:avLst/>
          </a:prstGeom>
          <a:solidFill>
            <a:srgbClr val="E8EFFA"/>
          </a:solidFill>
          <a:ln w="12700">
            <a:solidFill>
              <a:srgbClr val="E8EFFA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2980" y="4805172"/>
            <a:ext cx="320040" cy="32004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777240" y="530352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 3</a:t>
            </a:r>
            <a:endParaRPr lang="en-US" sz="900" dirty="0"/>
          </a:p>
        </p:txBody>
      </p:sp>
      <p:sp>
        <p:nvSpPr>
          <p:cNvPr id="25" name="Text 19"/>
          <p:cNvSpPr txBox="1"/>
          <p:nvPr/>
        </p:nvSpPr>
        <p:spPr>
          <a:xfrm>
            <a:off x="1737360" y="4389120"/>
            <a:ext cx="6949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enseigne achète en France des meubles déjà couverts et les revend en magasin.</a:t>
            </a:r>
            <a:endParaRPr lang="en-US" sz="1400" dirty="0"/>
          </a:p>
        </p:txBody>
      </p:sp>
      <p:sp>
        <p:nvSpPr>
          <p:cNvPr id="26" name="Shape 20"/>
          <p:cNvSpPr/>
          <p:nvPr/>
        </p:nvSpPr>
        <p:spPr>
          <a:xfrm>
            <a:off x="9052560" y="4736592"/>
            <a:ext cx="2286000" cy="457200"/>
          </a:xfrm>
          <a:prstGeom prst="roundRect">
            <a:avLst>
              <a:gd name="adj" fmla="val 100000"/>
            </a:avLst>
          </a:prstGeom>
          <a:solidFill>
            <a:srgbClr val="0E8A8A"/>
          </a:solidFill>
          <a:ln w="12700">
            <a:solidFill>
              <a:srgbClr val="0E8A8A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9052560" y="4736592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Commerçant</a:t>
            </a:r>
            <a:endParaRPr lang="en-US" sz="1200" dirty="0"/>
          </a:p>
        </p:txBody>
      </p:sp>
      <p:sp>
        <p:nvSpPr>
          <p:cNvPr id="28" name="Text 22"/>
          <p:cNvSpPr txBox="1"/>
          <p:nvPr/>
        </p:nvSpPr>
        <p:spPr>
          <a:xfrm>
            <a:off x="548640" y="58064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Réponses à révéler après le vote (animation ou masquage).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38360" y="347472"/>
            <a:ext cx="1965960" cy="43891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RDUE / EUDR  ·  Webinaire CCI Lyon Métropole  ·  24 septembre 2026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698480" y="641908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34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Précisions clés — FAQ de la Commission (v5, avril 2026)</a:t>
            </a:r>
            <a:endParaRPr lang="en-US" sz="2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0058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la 5ᵉ édition de la FAQ confirme ou clarifie. Numéros de question à contrôler sur la version publiée.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544068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9525">
            <a:solidFill>
              <a:srgbClr val="D9E1EC"/>
            </a:solidFill>
            <a:prstDash val="solid"/>
          </a:ln>
          <a:effectLst>
            <a:outerShdw sx="100000" sy="100000" kx="0" ky="0" algn="bl" rotWithShape="0" blurRad="50800" dist="12700" dir="5400000">
              <a:srgbClr val="8AA0B4">
                <a:alpha val="2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822960" y="1965960"/>
            <a:ext cx="640080" cy="640080"/>
          </a:xfrm>
          <a:prstGeom prst="ellipse">
            <a:avLst/>
          </a:prstGeom>
          <a:solidFill>
            <a:srgbClr val="00439A"/>
          </a:solidFill>
          <a:ln w="12700">
            <a:solidFill>
              <a:srgbClr val="00439A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980" y="2125980"/>
            <a:ext cx="320040" cy="32004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645920" y="1984248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e-commerce est couvert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1645920" y="242316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Ventes en ligne B2B et B2C, places de marché : opérateur, aval ou commerçant selon le rôle. L'usage privé entre particuliers est exclu.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1645920" y="3246120"/>
            <a:ext cx="1463040" cy="256032"/>
          </a:xfrm>
          <a:prstGeom prst="roundRect">
            <a:avLst>
              <a:gd name="adj" fmla="val 178571"/>
            </a:avLst>
          </a:prstGeom>
          <a:solidFill>
            <a:srgbClr val="E8EFFA"/>
          </a:solidFill>
          <a:ln w="12700">
            <a:solidFill>
              <a:srgbClr val="E8EFFA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1645920" y="324612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4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FAQ 3.17 à 3.19</a:t>
            </a:r>
            <a:endParaRPr 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6172200" y="1691640"/>
            <a:ext cx="544068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9525">
            <a:solidFill>
              <a:srgbClr val="D9E1EC"/>
            </a:solidFill>
            <a:prstDash val="solid"/>
          </a:ln>
          <a:effectLst>
            <a:outerShdw sx="100000" sy="100000" kx="0" ky="0" algn="bl" rotWithShape="0" blurRad="50800" dist="12700" dir="5400000">
              <a:srgbClr val="8AA0B4">
                <a:alpha val="2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446520" y="1965960"/>
            <a:ext cx="640080" cy="640080"/>
          </a:xfrm>
          <a:prstGeom prst="ellipse">
            <a:avLst/>
          </a:prstGeom>
          <a:solidFill>
            <a:srgbClr val="00439A"/>
          </a:solidFill>
          <a:ln w="12700">
            <a:solidFill>
              <a:srgbClr val="00439A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6540" y="2125980"/>
            <a:ext cx="320040" cy="32004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7269480" y="1984248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de dilution possible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7269480" y="242316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lot mélangé avec une part non conforme, non isolable, devient non conforme en entier.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7269480" y="3246120"/>
            <a:ext cx="1463040" cy="256032"/>
          </a:xfrm>
          <a:prstGeom prst="roundRect">
            <a:avLst>
              <a:gd name="adj" fmla="val 178571"/>
            </a:avLst>
          </a:prstGeom>
          <a:solidFill>
            <a:srgbClr val="E8EFFA"/>
          </a:solidFill>
          <a:ln w="12700">
            <a:solidFill>
              <a:srgbClr val="E8EFFA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7269480" y="324612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4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FAQ 1.4 &amp; 1.5</a:t>
            </a:r>
            <a:endParaRPr lang="en-US" sz="900" dirty="0"/>
          </a:p>
        </p:txBody>
      </p:sp>
      <p:sp>
        <p:nvSpPr>
          <p:cNvPr id="21" name="Shape 16"/>
          <p:cNvSpPr/>
          <p:nvPr/>
        </p:nvSpPr>
        <p:spPr>
          <a:xfrm>
            <a:off x="548640" y="3840480"/>
            <a:ext cx="544068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9525">
            <a:solidFill>
              <a:srgbClr val="D9E1EC"/>
            </a:solidFill>
            <a:prstDash val="solid"/>
          </a:ln>
          <a:effectLst>
            <a:outerShdw sx="100000" sy="100000" kx="0" ky="0" algn="bl" rotWithShape="0" blurRad="50800" dist="12700" dir="5400000">
              <a:srgbClr val="8AA0B4">
                <a:alpha val="22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822960" y="4114800"/>
            <a:ext cx="640080" cy="640080"/>
          </a:xfrm>
          <a:prstGeom prst="ellipse">
            <a:avLst/>
          </a:prstGeom>
          <a:solidFill>
            <a:srgbClr val="00439A"/>
          </a:solidFill>
          <a:ln w="12700">
            <a:solidFill>
              <a:srgbClr val="00439A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2980" y="4274820"/>
            <a:ext cx="320040" cy="32004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645920" y="4133088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Produits composés</a:t>
            </a:r>
            <a:endParaRPr lang="en-US" sz="1600" dirty="0"/>
          </a:p>
        </p:txBody>
      </p:sp>
      <p:sp>
        <p:nvSpPr>
          <p:cNvPr id="25" name="Text 19"/>
          <p:cNvSpPr txBox="1"/>
          <p:nvPr/>
        </p:nvSpPr>
        <p:spPr>
          <a:xfrm>
            <a:off x="1645920" y="457200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Produit multi-matières : diligence sur chaque matière de base en cause.</a:t>
            </a:r>
            <a:endParaRPr lang="en-US" sz="1250" dirty="0"/>
          </a:p>
        </p:txBody>
      </p:sp>
      <p:sp>
        <p:nvSpPr>
          <p:cNvPr id="26" name="Shape 20"/>
          <p:cNvSpPr/>
          <p:nvPr/>
        </p:nvSpPr>
        <p:spPr>
          <a:xfrm>
            <a:off x="1645920" y="5394960"/>
            <a:ext cx="1463040" cy="256032"/>
          </a:xfrm>
          <a:prstGeom prst="roundRect">
            <a:avLst>
              <a:gd name="adj" fmla="val 178571"/>
            </a:avLst>
          </a:prstGeom>
          <a:solidFill>
            <a:srgbClr val="E8EFFA"/>
          </a:solidFill>
          <a:ln w="12700">
            <a:solidFill>
              <a:srgbClr val="E8EFFA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1645920" y="539496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4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FAQ 1.3</a:t>
            </a:r>
            <a:endParaRPr lang="en-US" sz="900" dirty="0"/>
          </a:p>
        </p:txBody>
      </p:sp>
      <p:sp>
        <p:nvSpPr>
          <p:cNvPr id="28" name="Shape 22"/>
          <p:cNvSpPr/>
          <p:nvPr/>
        </p:nvSpPr>
        <p:spPr>
          <a:xfrm>
            <a:off x="6172200" y="3840480"/>
            <a:ext cx="544068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9525">
            <a:solidFill>
              <a:srgbClr val="D9E1EC"/>
            </a:solidFill>
            <a:prstDash val="solid"/>
          </a:ln>
          <a:effectLst>
            <a:outerShdw sx="100000" sy="100000" kx="0" ky="0" algn="bl" rotWithShape="0" blurRad="50800" dist="12700" dir="5400000">
              <a:srgbClr val="8AA0B4">
                <a:alpha val="22000"/>
              </a:srgbClr>
            </a:outerShdw>
          </a:effectLst>
        </p:spPr>
      </p:sp>
      <p:sp>
        <p:nvSpPr>
          <p:cNvPr id="29" name="Shape 23"/>
          <p:cNvSpPr/>
          <p:nvPr/>
        </p:nvSpPr>
        <p:spPr>
          <a:xfrm>
            <a:off x="6446520" y="4114800"/>
            <a:ext cx="640080" cy="640080"/>
          </a:xfrm>
          <a:prstGeom prst="ellipse">
            <a:avLst/>
          </a:prstGeom>
          <a:solidFill>
            <a:srgbClr val="00439A"/>
          </a:solidFill>
          <a:ln w="12700">
            <a:solidFill>
              <a:srgbClr val="00439A"/>
            </a:solidFill>
            <a:prstDash val="solid"/>
          </a:ln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06540" y="4274820"/>
            <a:ext cx="320040" cy="320040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7269480" y="4133088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compte, plusieurs rôles</a:t>
            </a:r>
            <a:endParaRPr lang="en-US" sz="1600" dirty="0"/>
          </a:p>
        </p:txBody>
      </p:sp>
      <p:sp>
        <p:nvSpPr>
          <p:cNvPr id="32" name="Text 25"/>
          <p:cNvSpPr txBox="1"/>
          <p:nvPr/>
        </p:nvSpPr>
        <p:spPr>
          <a:xfrm>
            <a:off x="7269480" y="457200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Dans le système d'information, un même compte porte opérateur, aval, commerçant et mandataire.</a:t>
            </a:r>
            <a:endParaRPr lang="en-US" sz="1250" dirty="0"/>
          </a:p>
        </p:txBody>
      </p:sp>
      <p:sp>
        <p:nvSpPr>
          <p:cNvPr id="33" name="Shape 26"/>
          <p:cNvSpPr/>
          <p:nvPr/>
        </p:nvSpPr>
        <p:spPr>
          <a:xfrm>
            <a:off x="7269480" y="5394960"/>
            <a:ext cx="1463040" cy="256032"/>
          </a:xfrm>
          <a:prstGeom prst="roundRect">
            <a:avLst>
              <a:gd name="adj" fmla="val 178571"/>
            </a:avLst>
          </a:prstGeom>
          <a:solidFill>
            <a:srgbClr val="E8EFFA"/>
          </a:solidFill>
          <a:ln w="12700">
            <a:solidFill>
              <a:srgbClr val="E8EFFA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7269480" y="539496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4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FAQ 7.29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A2A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46920" y="292608"/>
            <a:ext cx="2148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38360" y="347472"/>
            <a:ext cx="1965960" cy="43891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RDUE / EUDR  ·  Webinaire CCI Lyon Métropole  ·  24 septembre 2026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698480" y="641908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34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-2011680" y="3566160"/>
            <a:ext cx="6858000" cy="6858000"/>
          </a:xfrm>
          <a:prstGeom prst="ellipse">
            <a:avLst/>
          </a:prstGeom>
          <a:solidFill>
            <a:srgbClr val="00439A">
              <a:alpha val="22000"/>
            </a:srgbClr>
          </a:solidFill>
          <a:ln w="12700">
            <a:solidFill>
              <a:srgbClr val="00439A">
                <a:alpha val="2200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371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600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II   ·   30 min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1783080"/>
            <a:ext cx="6583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diligence raisonnée</a:t>
            </a:r>
            <a:endParaRPr lang="en-US" sz="34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3063240"/>
            <a:ext cx="6217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système de diligence raisonnée (SDR)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démarche en 3 étapes : recueil, évaluation, atténuation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diligence simplifiée (pays à risque faible)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réexamen annuel du SDR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7863840" y="1417320"/>
            <a:ext cx="3749040" cy="658368"/>
          </a:xfrm>
          <a:prstGeom prst="roundRect">
            <a:avLst>
              <a:gd name="adj" fmla="val 11111"/>
            </a:avLst>
          </a:prstGeom>
          <a:solidFill>
            <a:srgbClr val="123A78"/>
          </a:solidFill>
          <a:ln w="12700">
            <a:solidFill>
              <a:srgbClr val="123A7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001000" y="1417320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8595360" y="1417320"/>
            <a:ext cx="2926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 &amp; enjeux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7863840" y="2286000"/>
            <a:ext cx="3749040" cy="658368"/>
          </a:xfrm>
          <a:prstGeom prst="roundRect">
            <a:avLst>
              <a:gd name="adj" fmla="val 11111"/>
            </a:avLst>
          </a:prstGeom>
          <a:solidFill>
            <a:srgbClr val="123A78"/>
          </a:solidFill>
          <a:ln w="12700">
            <a:solidFill>
              <a:srgbClr val="123A7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001000" y="2286000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8595360" y="2286000"/>
            <a:ext cx="2926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Êtes-vous concernés ?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63840" y="3154680"/>
            <a:ext cx="3749040" cy="658368"/>
          </a:xfrm>
          <a:prstGeom prst="roundRect">
            <a:avLst>
              <a:gd name="adj" fmla="val 11111"/>
            </a:avLst>
          </a:prstGeom>
          <a:solidFill>
            <a:srgbClr val="E6005F"/>
          </a:solidFill>
          <a:ln w="12700">
            <a:solidFill>
              <a:srgbClr val="E6005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001000" y="3154680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8595360" y="3154680"/>
            <a:ext cx="2926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diligence raisonnée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7863840" y="4023360"/>
            <a:ext cx="3749040" cy="658368"/>
          </a:xfrm>
          <a:prstGeom prst="roundRect">
            <a:avLst>
              <a:gd name="adj" fmla="val 11111"/>
            </a:avLst>
          </a:prstGeom>
          <a:solidFill>
            <a:srgbClr val="123A78"/>
          </a:solidFill>
          <a:ln w="12700">
            <a:solidFill>
              <a:srgbClr val="123A78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001000" y="4023360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595360" y="4023360"/>
            <a:ext cx="2926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Mise en œuvre &amp; formalités douanières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7863840" y="4892040"/>
            <a:ext cx="3749040" cy="658368"/>
          </a:xfrm>
          <a:prstGeom prst="roundRect">
            <a:avLst>
              <a:gd name="adj" fmla="val 11111"/>
            </a:avLst>
          </a:prstGeom>
          <a:solidFill>
            <a:srgbClr val="123A78"/>
          </a:solidFill>
          <a:ln w="12700">
            <a:solidFill>
              <a:srgbClr val="123A78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001000" y="4892040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8595360" y="4892040"/>
            <a:ext cx="2926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Bonnes pratiques &amp; conseils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38360" y="347472"/>
            <a:ext cx="1965960" cy="43891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RDUE / EUDR  ·  Webinaire CCI Lyon Métropole  ·  24 septembre 2026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698480" y="641908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34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système de diligence raisonnée (SDR)</a:t>
            </a:r>
            <a:endParaRPr lang="en-US" sz="2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0058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obligation permanente, pas un acte ponctuel (art. 12).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6949440" cy="4114800"/>
          </a:xfrm>
          <a:prstGeom prst="roundRect">
            <a:avLst>
              <a:gd name="adj" fmla="val 1778"/>
            </a:avLst>
          </a:prstGeom>
          <a:solidFill>
            <a:srgbClr val="FFFFFF"/>
          </a:solidFill>
          <a:ln w="9525">
            <a:solidFill>
              <a:srgbClr val="D9E1EC"/>
            </a:solidFill>
            <a:prstDash val="solid"/>
          </a:ln>
          <a:effectLst>
            <a:outerShdw sx="100000" sy="100000" kx="0" ky="0" algn="bl" rotWithShape="0" blurRad="50800" dist="12700" dir="5400000">
              <a:srgbClr val="8AA0B4">
                <a:alpha val="22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868680" y="192024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4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c'est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2286000"/>
            <a:ext cx="6309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ensemble de procédures et de mesures internes qui prouvent la légalité et l'absence de déforestation de vos produits, et qui restent auditables.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324612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4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qu'il impose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3611880"/>
            <a:ext cx="63093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Documenter la démarche et conserver les preuves 5 ans.</a:t>
            </a:r>
            <a:endParaRPr lang="en-US" sz="13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Réexaminer le SDR au moins une fois par an.</a:t>
            </a:r>
            <a:endParaRPr lang="en-US" sz="13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Publier un rapport annuel pour les entreprises non-PME (art. 12 § 3).</a:t>
            </a:r>
            <a:endParaRPr lang="en-US" sz="13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Intégrer des clauses RDUE dans les contrats fournisseurs.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7772400" y="1691640"/>
            <a:ext cx="3840480" cy="4114800"/>
          </a:xfrm>
          <a:prstGeom prst="roundRect">
            <a:avLst>
              <a:gd name="adj" fmla="val 1905"/>
            </a:avLst>
          </a:prstGeom>
          <a:solidFill>
            <a:srgbClr val="0A2A5E"/>
          </a:solidFill>
          <a:ln w="12700">
            <a:solidFill>
              <a:srgbClr val="0A2A5E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9235440" y="2103120"/>
            <a:ext cx="914400" cy="914400"/>
          </a:xfrm>
          <a:prstGeom prst="ellipse">
            <a:avLst/>
          </a:prstGeom>
          <a:solidFill>
            <a:srgbClr val="E6005F"/>
          </a:solidFill>
          <a:ln w="12700">
            <a:solidFill>
              <a:srgbClr val="E6005F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2331720"/>
            <a:ext cx="457200" cy="45720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7955280" y="320040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Réexamen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 moins 1 fois par an</a:t>
            </a:r>
            <a:endParaRPr lang="en-US" sz="1800" dirty="0"/>
          </a:p>
        </p:txBody>
      </p:sp>
      <p:sp>
        <p:nvSpPr>
          <p:cNvPr id="16" name="Text 12"/>
          <p:cNvSpPr txBox="1"/>
          <p:nvPr/>
        </p:nvSpPr>
        <p:spPr>
          <a:xfrm>
            <a:off x="7955280" y="411480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Recueil → Évaluation → Atténuation,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revus régulièrement.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9052560" y="5074920"/>
            <a:ext cx="1280160" cy="292608"/>
          </a:xfrm>
          <a:prstGeom prst="roundRect">
            <a:avLst>
              <a:gd name="adj" fmla="val 156250"/>
            </a:avLst>
          </a:prstGeom>
          <a:solidFill>
            <a:srgbClr val="E6005F"/>
          </a:solidFill>
          <a:ln w="12700">
            <a:solidFill>
              <a:srgbClr val="E6005F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9052560" y="5074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ART. 12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38360" y="347472"/>
            <a:ext cx="1965960" cy="43891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RDUE / EUDR  ·  Webinaire CCI Lyon Métropole  ·  24 septembre 2026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698480" y="641908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34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diligence raisonnée en 3 étapes</a:t>
            </a:r>
            <a:endParaRPr lang="en-US" sz="2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0058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Articles 8 à 11 du règlement.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3566160" cy="301752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9525">
            <a:solidFill>
              <a:srgbClr val="D9E1EC"/>
            </a:solidFill>
            <a:prstDash val="solid"/>
          </a:ln>
          <a:effectLst>
            <a:outerShdw sx="100000" sy="100000" kx="0" ky="0" algn="bl" rotWithShape="0" blurRad="50800" dist="12700" dir="5400000">
              <a:srgbClr val="8AA0B4">
                <a:alpha val="2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822960" y="1965960"/>
            <a:ext cx="731520" cy="731520"/>
          </a:xfrm>
          <a:prstGeom prst="ellipse">
            <a:avLst/>
          </a:prstGeom>
          <a:solidFill>
            <a:srgbClr val="00439A"/>
          </a:solidFill>
          <a:ln w="12700">
            <a:solidFill>
              <a:srgbClr val="00439A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2148840"/>
            <a:ext cx="365760" cy="36576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3291840" y="187452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4000" b="1" dirty="0">
                <a:solidFill>
                  <a:srgbClr val="D9E1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4000" dirty="0"/>
          </a:p>
        </p:txBody>
      </p:sp>
      <p:sp>
        <p:nvSpPr>
          <p:cNvPr id="11" name="Text 7"/>
          <p:cNvSpPr txBox="1"/>
          <p:nvPr/>
        </p:nvSpPr>
        <p:spPr>
          <a:xfrm>
            <a:off x="822960" y="28346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A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Recueil d'informations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822960" y="324612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Produit, quantité, pays, fournisseurs, géolocalisation des parcelles, dates de production, preuves de légalité.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822960" y="4297680"/>
            <a:ext cx="822960" cy="274320"/>
          </a:xfrm>
          <a:prstGeom prst="roundRect">
            <a:avLst>
              <a:gd name="adj" fmla="val 166667"/>
            </a:avLst>
          </a:prstGeom>
          <a:solidFill>
            <a:srgbClr val="00439A"/>
          </a:solidFill>
          <a:ln w="12700">
            <a:solidFill>
              <a:srgbClr val="00439A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822960" y="42976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art. 9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4160520" y="3017520"/>
            <a:ext cx="137160" cy="274320"/>
          </a:xfrm>
          <a:prstGeom prst="rightArrow">
            <a:avLst/>
          </a:prstGeom>
          <a:solidFill>
            <a:srgbClr val="D9E1EC"/>
          </a:solidFill>
          <a:ln w="12700">
            <a:solidFill>
              <a:srgbClr val="D9E1EC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4297680" y="1691640"/>
            <a:ext cx="3566160" cy="301752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9525">
            <a:solidFill>
              <a:srgbClr val="D9E1EC"/>
            </a:solidFill>
            <a:prstDash val="solid"/>
          </a:ln>
          <a:effectLst>
            <a:outerShdw sx="100000" sy="100000" kx="0" ky="0" algn="bl" rotWithShape="0" blurRad="50800" dist="12700" dir="5400000">
              <a:srgbClr val="8AA0B4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4572000" y="1965960"/>
            <a:ext cx="731520" cy="731520"/>
          </a:xfrm>
          <a:prstGeom prst="ellipse">
            <a:avLst/>
          </a:prstGeom>
          <a:solidFill>
            <a:srgbClr val="00439A"/>
          </a:solidFill>
          <a:ln w="12700">
            <a:solidFill>
              <a:srgbClr val="00439A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2148840"/>
            <a:ext cx="365760" cy="36576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7040880" y="187452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4000" b="1" dirty="0">
                <a:solidFill>
                  <a:srgbClr val="D9E1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4000" dirty="0"/>
          </a:p>
        </p:txBody>
      </p:sp>
      <p:sp>
        <p:nvSpPr>
          <p:cNvPr id="20" name="Text 15"/>
          <p:cNvSpPr txBox="1"/>
          <p:nvPr/>
        </p:nvSpPr>
        <p:spPr>
          <a:xfrm>
            <a:off x="4572000" y="28346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A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Évaluation du risque</a:t>
            </a:r>
            <a:endParaRPr lang="en-US" sz="1700" dirty="0"/>
          </a:p>
        </p:txBody>
      </p:sp>
      <p:sp>
        <p:nvSpPr>
          <p:cNvPr id="21" name="Text 16"/>
          <p:cNvSpPr txBox="1"/>
          <p:nvPr/>
        </p:nvSpPr>
        <p:spPr>
          <a:xfrm>
            <a:off x="4572000" y="324612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Selon la zone de production, la complexité de la chaîne, la présence de forêts et de peuples autochtones.</a:t>
            </a:r>
            <a:endParaRPr lang="en-US" sz="1250" dirty="0"/>
          </a:p>
        </p:txBody>
      </p:sp>
      <p:sp>
        <p:nvSpPr>
          <p:cNvPr id="22" name="Shape 17"/>
          <p:cNvSpPr/>
          <p:nvPr/>
        </p:nvSpPr>
        <p:spPr>
          <a:xfrm>
            <a:off x="4572000" y="4297680"/>
            <a:ext cx="822960" cy="274320"/>
          </a:xfrm>
          <a:prstGeom prst="roundRect">
            <a:avLst>
              <a:gd name="adj" fmla="val 166667"/>
            </a:avLst>
          </a:prstGeom>
          <a:solidFill>
            <a:srgbClr val="00439A"/>
          </a:solidFill>
          <a:ln w="12700">
            <a:solidFill>
              <a:srgbClr val="00439A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4572000" y="42976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art. 10</a:t>
            </a:r>
            <a:endParaRPr lang="en-US" sz="950" dirty="0"/>
          </a:p>
        </p:txBody>
      </p:sp>
      <p:sp>
        <p:nvSpPr>
          <p:cNvPr id="24" name="Shape 19"/>
          <p:cNvSpPr/>
          <p:nvPr/>
        </p:nvSpPr>
        <p:spPr>
          <a:xfrm>
            <a:off x="7909560" y="3017520"/>
            <a:ext cx="137160" cy="274320"/>
          </a:xfrm>
          <a:prstGeom prst="rightArrow">
            <a:avLst/>
          </a:prstGeom>
          <a:solidFill>
            <a:srgbClr val="D9E1EC"/>
          </a:solidFill>
          <a:ln w="12700">
            <a:solidFill>
              <a:srgbClr val="D9E1EC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8046720" y="1691640"/>
            <a:ext cx="3566160" cy="301752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9525">
            <a:solidFill>
              <a:srgbClr val="D9E1EC"/>
            </a:solidFill>
            <a:prstDash val="solid"/>
          </a:ln>
          <a:effectLst>
            <a:outerShdw sx="100000" sy="100000" kx="0" ky="0" algn="bl" rotWithShape="0" blurRad="50800" dist="12700" dir="5400000">
              <a:srgbClr val="8AA0B4">
                <a:alpha val="22000"/>
              </a:srgbClr>
            </a:outerShdw>
          </a:effectLst>
        </p:spPr>
      </p:sp>
      <p:sp>
        <p:nvSpPr>
          <p:cNvPr id="26" name="Shape 21"/>
          <p:cNvSpPr/>
          <p:nvPr/>
        </p:nvSpPr>
        <p:spPr>
          <a:xfrm>
            <a:off x="8321040" y="1965960"/>
            <a:ext cx="731520" cy="731520"/>
          </a:xfrm>
          <a:prstGeom prst="ellipse">
            <a:avLst/>
          </a:prstGeom>
          <a:solidFill>
            <a:srgbClr val="00439A"/>
          </a:solidFill>
          <a:ln w="12700">
            <a:solidFill>
              <a:srgbClr val="00439A"/>
            </a:solidFill>
            <a:prstDash val="solid"/>
          </a:ln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3920" y="2148840"/>
            <a:ext cx="365760" cy="365760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10789920" y="187452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4000" b="1" dirty="0">
                <a:solidFill>
                  <a:srgbClr val="D9E1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4000" dirty="0"/>
          </a:p>
        </p:txBody>
      </p:sp>
      <p:sp>
        <p:nvSpPr>
          <p:cNvPr id="29" name="Text 23"/>
          <p:cNvSpPr txBox="1"/>
          <p:nvPr/>
        </p:nvSpPr>
        <p:spPr>
          <a:xfrm>
            <a:off x="8321040" y="28346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A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Atténuation du risque</a:t>
            </a:r>
            <a:endParaRPr lang="en-US" sz="1700" dirty="0"/>
          </a:p>
        </p:txBody>
      </p:sp>
      <p:sp>
        <p:nvSpPr>
          <p:cNvPr id="30" name="Text 24"/>
          <p:cNvSpPr txBox="1"/>
          <p:nvPr/>
        </p:nvSpPr>
        <p:spPr>
          <a:xfrm>
            <a:off x="8321040" y="324612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Mesures correctives, audits ou enquêtes indépendantes si un risque non négligeable est identifié.</a:t>
            </a:r>
            <a:endParaRPr lang="en-US" sz="1250" dirty="0"/>
          </a:p>
        </p:txBody>
      </p:sp>
      <p:sp>
        <p:nvSpPr>
          <p:cNvPr id="31" name="Shape 25"/>
          <p:cNvSpPr/>
          <p:nvPr/>
        </p:nvSpPr>
        <p:spPr>
          <a:xfrm>
            <a:off x="8321040" y="4297680"/>
            <a:ext cx="822960" cy="274320"/>
          </a:xfrm>
          <a:prstGeom prst="roundRect">
            <a:avLst>
              <a:gd name="adj" fmla="val 166667"/>
            </a:avLst>
          </a:prstGeom>
          <a:solidFill>
            <a:srgbClr val="00439A"/>
          </a:solidFill>
          <a:ln w="12700">
            <a:solidFill>
              <a:srgbClr val="00439A"/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8321040" y="42976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art. 11</a:t>
            </a:r>
            <a:endParaRPr lang="en-US" sz="950" dirty="0"/>
          </a:p>
        </p:txBody>
      </p:sp>
      <p:sp>
        <p:nvSpPr>
          <p:cNvPr id="33" name="Shape 27"/>
          <p:cNvSpPr/>
          <p:nvPr/>
        </p:nvSpPr>
        <p:spPr>
          <a:xfrm>
            <a:off x="548640" y="4983480"/>
            <a:ext cx="11064240" cy="1005840"/>
          </a:xfrm>
          <a:prstGeom prst="roundRect">
            <a:avLst>
              <a:gd name="adj" fmla="val 7273"/>
            </a:avLst>
          </a:prstGeom>
          <a:solidFill>
            <a:srgbClr val="0A2A5E"/>
          </a:solidFill>
          <a:ln w="12700">
            <a:solidFill>
              <a:srgbClr val="0A2A5E"/>
            </a:solidFill>
            <a:prstDash val="solid"/>
          </a:ln>
        </p:spPr>
      </p:sp>
      <p:sp>
        <p:nvSpPr>
          <p:cNvPr id="34" name="Shape 28"/>
          <p:cNvSpPr/>
          <p:nvPr/>
        </p:nvSpPr>
        <p:spPr>
          <a:xfrm>
            <a:off x="777240" y="5138928"/>
            <a:ext cx="685800" cy="685800"/>
          </a:xfrm>
          <a:prstGeom prst="ellipse">
            <a:avLst/>
          </a:prstGeom>
          <a:solidFill>
            <a:srgbClr val="E6005F"/>
          </a:solidFill>
          <a:ln w="12700">
            <a:solidFill>
              <a:srgbClr val="E6005F"/>
            </a:solidFill>
            <a:prstDash val="solid"/>
          </a:ln>
        </p:spPr>
      </p:sp>
      <p:pic>
        <p:nvPicPr>
          <p:cNvPr id="3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8690" y="5310378"/>
            <a:ext cx="342900" cy="342900"/>
          </a:xfrm>
          <a:prstGeom prst="rect">
            <a:avLst/>
          </a:prstGeom>
        </p:spPr>
      </p:pic>
      <p:sp>
        <p:nvSpPr>
          <p:cNvPr id="36" name="Text 29"/>
          <p:cNvSpPr txBox="1"/>
          <p:nvPr/>
        </p:nvSpPr>
        <p:spPr>
          <a:xfrm>
            <a:off x="1645920" y="4983480"/>
            <a:ext cx="9784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vrai chantier : la donnée amont. </a:t>
            </a:r>
            <a:pPr indent="0" marL="0">
              <a:buNone/>
            </a:pPr>
            <a:r>
              <a:rPr lang="en-US" sz="13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géolocalisation des parcelles et les preuves dépendent d'un fournisseur hors UE qui n'a aucune obligation directe — c'est l'effort le plus lourd, à lancer dès maintenant.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38360" y="347472"/>
            <a:ext cx="1965960" cy="43891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RDUE / EUDR  ·  Webinaire CCI Lyon Métropole  ·  24 septembre 2026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698480" y="641908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34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diligence simplifiée : le rôle du pays</a:t>
            </a:r>
            <a:endParaRPr lang="en-US" sz="2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0058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pays de production module l'intensité de la diligence (benchmarking, art. 29) — liste du 22/05/2025, révision annoncée pour 2026.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9525">
            <a:solidFill>
              <a:srgbClr val="D9E1EC"/>
            </a:solidFill>
            <a:prstDash val="solid"/>
          </a:ln>
          <a:effectLst>
            <a:outerShdw sx="100000" sy="100000" kx="0" ky="0" algn="bl" rotWithShape="0" blurRad="50800" dist="12700" dir="5400000">
              <a:srgbClr val="8AA0B4">
                <a:alpha val="2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1691640"/>
            <a:ext cx="2103120" cy="1234440"/>
          </a:xfrm>
          <a:prstGeom prst="roundRect">
            <a:avLst>
              <a:gd name="adj" fmla="val 5926"/>
            </a:avLst>
          </a:prstGeom>
          <a:solidFill>
            <a:srgbClr val="1E8E5A"/>
          </a:solidFill>
          <a:ln w="12700">
            <a:solidFill>
              <a:srgbClr val="1E8E5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377440" y="1691640"/>
            <a:ext cx="274320" cy="1234440"/>
          </a:xfrm>
          <a:prstGeom prst="rect">
            <a:avLst/>
          </a:prstGeom>
          <a:solidFill>
            <a:srgbClr val="1E8E5A"/>
          </a:solidFill>
          <a:ln w="12700">
            <a:solidFill>
              <a:srgbClr val="1E8E5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1801368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140</a:t>
            </a:r>
            <a:endParaRPr lang="en-US" sz="34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24688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RISQUE FAIBLE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2926080" y="182880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A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pays, dont toute l'UE, le Royaume-Uni, les États-Unis, la Chine…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2926080" y="2240280"/>
            <a:ext cx="603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Diligence simplifiée : seule la collecte d'informations (étape 1) est exigée — l'avantage stratégique.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9418320" y="18745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spc="150" kern="0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Contrôles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9418320" y="210312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8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1 %</a:t>
            </a:r>
            <a:endParaRPr lang="en-US" sz="2600" dirty="0"/>
          </a:p>
        </p:txBody>
      </p:sp>
      <p:sp>
        <p:nvSpPr>
          <p:cNvPr id="16" name="Shape 13"/>
          <p:cNvSpPr/>
          <p:nvPr/>
        </p:nvSpPr>
        <p:spPr>
          <a:xfrm>
            <a:off x="548640" y="306324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9525">
            <a:solidFill>
              <a:srgbClr val="D9E1EC"/>
            </a:solidFill>
            <a:prstDash val="solid"/>
          </a:ln>
          <a:effectLst>
            <a:outerShdw sx="100000" sy="100000" kx="0" ky="0" algn="bl" rotWithShape="0" blurRad="50800" dist="12700" dir="5400000">
              <a:srgbClr val="8AA0B4">
                <a:alpha val="22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548640" y="3063240"/>
            <a:ext cx="2103120" cy="1234440"/>
          </a:xfrm>
          <a:prstGeom prst="roundRect">
            <a:avLst>
              <a:gd name="adj" fmla="val 5926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2377440" y="3063240"/>
            <a:ext cx="274320" cy="1234440"/>
          </a:xfrm>
          <a:prstGeom prst="rect">
            <a:avLst/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48640" y="3172968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</a:t>
            </a:r>
            <a:endParaRPr lang="en-US" sz="34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38404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RISQUE STANDARD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2926080" y="320040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A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pays — Brésil, Indonésie, Malaisie, Côte d'Ivoire…</a:t>
            </a:r>
            <a:endParaRPr lang="en-US" sz="1350" dirty="0"/>
          </a:p>
        </p:txBody>
      </p:sp>
      <p:sp>
        <p:nvSpPr>
          <p:cNvPr id="22" name="Text 19"/>
          <p:cNvSpPr txBox="1"/>
          <p:nvPr/>
        </p:nvSpPr>
        <p:spPr>
          <a:xfrm>
            <a:off x="2926080" y="3611880"/>
            <a:ext cx="603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Diligence raisonnée complète : les trois étapes sont obligatoires.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9418320" y="32461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spc="150" kern="0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Contrôles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9418320" y="347472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3 %</a:t>
            </a:r>
            <a:endParaRPr lang="en-US" sz="2600" dirty="0"/>
          </a:p>
        </p:txBody>
      </p:sp>
      <p:sp>
        <p:nvSpPr>
          <p:cNvPr id="25" name="Shape 22"/>
          <p:cNvSpPr/>
          <p:nvPr/>
        </p:nvSpPr>
        <p:spPr>
          <a:xfrm>
            <a:off x="548640" y="443484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9525">
            <a:solidFill>
              <a:srgbClr val="D9E1EC"/>
            </a:solidFill>
            <a:prstDash val="solid"/>
          </a:ln>
          <a:effectLst>
            <a:outerShdw sx="100000" sy="100000" kx="0" ky="0" algn="bl" rotWithShape="0" blurRad="50800" dist="12700" dir="5400000">
              <a:srgbClr val="8AA0B4">
                <a:alpha val="22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548640" y="4434840"/>
            <a:ext cx="2103120" cy="1234440"/>
          </a:xfrm>
          <a:prstGeom prst="roundRect">
            <a:avLst>
              <a:gd name="adj" fmla="val 5926"/>
            </a:avLst>
          </a:prstGeom>
          <a:solidFill>
            <a:srgbClr val="D0313B"/>
          </a:solidFill>
          <a:ln w="12700">
            <a:solidFill>
              <a:srgbClr val="D0313B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2377440" y="4434840"/>
            <a:ext cx="274320" cy="1234440"/>
          </a:xfrm>
          <a:prstGeom prst="rect">
            <a:avLst/>
          </a:prstGeom>
          <a:solidFill>
            <a:srgbClr val="D0313B"/>
          </a:solidFill>
          <a:ln w="12700">
            <a:solidFill>
              <a:srgbClr val="D0313B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48640" y="4544568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3400" dirty="0"/>
          </a:p>
        </p:txBody>
      </p:sp>
      <p:sp>
        <p:nvSpPr>
          <p:cNvPr id="29" name="Text 26"/>
          <p:cNvSpPr txBox="1"/>
          <p:nvPr/>
        </p:nvSpPr>
        <p:spPr>
          <a:xfrm>
            <a:off x="548640" y="52120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RISQUE ÉLEVÉ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2926080" y="457200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A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Biélorussie · Corée du Nord · Birmanie · Russie</a:t>
            </a:r>
            <a:endParaRPr lang="en-US" sz="1350" dirty="0"/>
          </a:p>
        </p:txBody>
      </p:sp>
      <p:sp>
        <p:nvSpPr>
          <p:cNvPr id="31" name="Text 28"/>
          <p:cNvSpPr txBox="1"/>
          <p:nvPr/>
        </p:nvSpPr>
        <p:spPr>
          <a:xfrm>
            <a:off x="2926080" y="4983480"/>
            <a:ext cx="603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Vigilance renforcée et contrôles accrus.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9418320" y="46177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spc="150" kern="0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Contrôles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9418320" y="484632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03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9 %</a:t>
            </a:r>
            <a:endParaRPr lang="en-US" sz="2600" dirty="0"/>
          </a:p>
        </p:txBody>
      </p:sp>
      <p:sp>
        <p:nvSpPr>
          <p:cNvPr id="34" name="Text 31"/>
          <p:cNvSpPr txBox="1"/>
          <p:nvPr/>
        </p:nvSpPr>
        <p:spPr>
          <a:xfrm>
            <a:off x="548640" y="58521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Taux de contrôle minimaux des autorités (art. 16) : part des opérateurs — et des quantités pour le risque élevé. Le mélange en cours de chaîne avec des produits d'origine inconnue fait retomber dans le régime complet.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38360" y="347472"/>
            <a:ext cx="1965960" cy="43891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RDUE / EUDR  ·  Webinaire CCI Lyon Métropole  ·  24 septembre 2026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698480" y="641908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34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parcours de diligence raisonnée</a:t>
            </a:r>
            <a:endParaRPr lang="en-US" sz="2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0058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parcours obligatoire, article par article (art. 8 à 13).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48640" y="1508760"/>
            <a:ext cx="110642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9E1EC"/>
            </a:solidFill>
            <a:prstDash val="solid"/>
          </a:ln>
          <a:effectLst>
            <a:outerShdw sx="100000" sy="100000" kx="0" ky="0" algn="bl" rotWithShape="0" blurRad="50800" dist="12700" dir="5400000">
              <a:srgbClr val="8AA0B4">
                <a:alpha val="2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31520" y="1627632"/>
            <a:ext cx="365760" cy="365760"/>
          </a:xfrm>
          <a:prstGeom prst="roundRect">
            <a:avLst>
              <a:gd name="adj" fmla="val 125000"/>
            </a:avLst>
          </a:prstGeom>
          <a:solidFill>
            <a:srgbClr val="0A2A5E"/>
          </a:solidFill>
          <a:ln w="12700">
            <a:solidFill>
              <a:srgbClr val="0A2A5E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" y="16276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1234440" y="16002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Collecte des informations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10424160" y="1664208"/>
            <a:ext cx="1005840" cy="274320"/>
          </a:xfrm>
          <a:prstGeom prst="roundRect">
            <a:avLst>
              <a:gd name="adj" fmla="val 166667"/>
            </a:avLst>
          </a:prstGeom>
          <a:solidFill>
            <a:srgbClr val="D0313B"/>
          </a:solidFill>
          <a:ln w="12700">
            <a:solidFill>
              <a:srgbClr val="D0313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0424160" y="166420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ARTICLE 9</a:t>
            </a:r>
            <a:endParaRPr lang="en-US" sz="900" dirty="0"/>
          </a:p>
        </p:txBody>
      </p:sp>
      <p:sp>
        <p:nvSpPr>
          <p:cNvPr id="13" name="Text 10"/>
          <p:cNvSpPr txBox="1"/>
          <p:nvPr/>
        </p:nvSpPr>
        <p:spPr>
          <a:xfrm>
            <a:off x="822960" y="2029968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Description, nom commercial, type de produit</a:t>
            </a:r>
            <a:endParaRPr lang="en-US" sz="11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Quantités et pays (zones) de production</a:t>
            </a:r>
            <a:endParaRPr lang="en-US" sz="11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Fournisseurs et clients (nom, adresse)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6126480" y="2029968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Géolocalisation de toutes les parcelles</a:t>
            </a:r>
            <a:endParaRPr lang="en-US" sz="11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 ou période de production</a:t>
            </a:r>
            <a:endParaRPr lang="en-US" sz="11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Preuves de légalité et de « zéro déforestation »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8001000" y="2670048"/>
            <a:ext cx="320040" cy="274320"/>
          </a:xfrm>
          <a:prstGeom prst="downArrow">
            <a:avLst/>
          </a:prstGeom>
          <a:solidFill>
            <a:srgbClr val="0A2A5E"/>
          </a:solidFill>
          <a:ln w="12700">
            <a:solidFill>
              <a:srgbClr val="0A2A5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937760" y="2999232"/>
            <a:ext cx="6675120" cy="685800"/>
          </a:xfrm>
          <a:prstGeom prst="roundRect">
            <a:avLst>
              <a:gd name="adj" fmla="val 20000"/>
            </a:avLst>
          </a:prstGeom>
          <a:solidFill>
            <a:srgbClr val="1E8E5A"/>
          </a:solidFill>
          <a:ln w="12700">
            <a:solidFill>
              <a:srgbClr val="1E8E5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029200" y="2999232"/>
            <a:ext cx="6492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Pays de production à risque standard ou élevé ?
</a:t>
            </a:r>
            <a:pPr algn="ctr" indent="0" marL="0">
              <a:buNone/>
            </a:pPr>
            <a:r>
              <a:rPr lang="en-US" sz="1000" dirty="0">
                <a:solidFill>
                  <a:srgbClr val="D7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 des pays — benchmarking, art. 29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4434840" y="3044952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8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4526280" y="3273552"/>
            <a:ext cx="365760" cy="274320"/>
          </a:xfrm>
          <a:prstGeom prst="leftArrow">
            <a:avLst/>
          </a:prstGeom>
          <a:solidFill>
            <a:srgbClr val="1E8E5A"/>
          </a:solidFill>
          <a:ln w="12700">
            <a:solidFill>
              <a:srgbClr val="1E8E5A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48640" y="2999232"/>
            <a:ext cx="3840480" cy="2148840"/>
          </a:xfrm>
          <a:prstGeom prst="roundRect">
            <a:avLst>
              <a:gd name="adj" fmla="val 3404"/>
            </a:avLst>
          </a:prstGeom>
          <a:solidFill>
            <a:srgbClr val="E8EFFA"/>
          </a:solidFill>
          <a:ln w="12700">
            <a:solidFill>
              <a:srgbClr val="00439A"/>
            </a:solidFill>
            <a:prstDash val="dash"/>
          </a:ln>
        </p:spPr>
      </p:sp>
      <p:sp>
        <p:nvSpPr>
          <p:cNvPr id="21" name="Shape 18"/>
          <p:cNvSpPr/>
          <p:nvPr/>
        </p:nvSpPr>
        <p:spPr>
          <a:xfrm>
            <a:off x="731520" y="3127248"/>
            <a:ext cx="1737360" cy="256032"/>
          </a:xfrm>
          <a:prstGeom prst="roundRect">
            <a:avLst>
              <a:gd name="adj" fmla="val 1785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31520" y="312724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4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pays à risque faible</a:t>
            </a:r>
            <a:endParaRPr lang="en-US" sz="900" dirty="0"/>
          </a:p>
        </p:txBody>
      </p:sp>
      <p:sp>
        <p:nvSpPr>
          <p:cNvPr id="23" name="Text 20"/>
          <p:cNvSpPr txBox="1"/>
          <p:nvPr/>
        </p:nvSpPr>
        <p:spPr>
          <a:xfrm>
            <a:off x="731520" y="34747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Diligence raisonnée simplifiée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731520" y="384048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Seule l'étape 1 est exigée. </a:t>
            </a:r>
            <a:pPr indent="0" marL="0">
              <a:buNone/>
            </a:pPr>
            <a:r>
              <a:rPr lang="en-US" sz="11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L'opérateur n'est pas tenu à l'évaluation ni à l'atténuation du risque (art. 10 et 11).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3200400" y="4754880"/>
            <a:ext cx="1005840" cy="274320"/>
          </a:xfrm>
          <a:prstGeom prst="roundRect">
            <a:avLst>
              <a:gd name="adj" fmla="val 166667"/>
            </a:avLst>
          </a:prstGeom>
          <a:solidFill>
            <a:srgbClr val="D0313B"/>
          </a:solidFill>
          <a:ln w="12700">
            <a:solidFill>
              <a:srgbClr val="D0313B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3200400" y="47548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ARTICLE 13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4937760" y="37307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8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OUI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8001000" y="3730752"/>
            <a:ext cx="320040" cy="274320"/>
          </a:xfrm>
          <a:prstGeom prst="downArrow">
            <a:avLst/>
          </a:prstGeom>
          <a:solidFill>
            <a:srgbClr val="1E8E5A"/>
          </a:solidFill>
          <a:ln w="12700">
            <a:solidFill>
              <a:srgbClr val="1E8E5A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937760" y="4069080"/>
            <a:ext cx="329184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9050">
            <a:solidFill>
              <a:srgbClr val="00439A"/>
            </a:solidFill>
            <a:prstDash val="solid"/>
          </a:ln>
          <a:effectLst>
            <a:outerShdw sx="100000" sy="100000" kx="0" ky="0" algn="bl" rotWithShape="0" blurRad="50800" dist="12700" dir="5400000">
              <a:srgbClr val="8AA0B4">
                <a:alpha val="22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5074920" y="4160520"/>
            <a:ext cx="310896" cy="310896"/>
          </a:xfrm>
          <a:prstGeom prst="roundRect">
            <a:avLst>
              <a:gd name="adj" fmla="val 147059"/>
            </a:avLst>
          </a:prstGeom>
          <a:solidFill>
            <a:srgbClr val="00439A"/>
          </a:solidFill>
          <a:ln w="12700">
            <a:solidFill>
              <a:srgbClr val="00439A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074920" y="41605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5486400" y="4133088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A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Évaluation du risque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5074920" y="452628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Vérifier et analyser les informations (critères de l'art. 10)</a:t>
            </a:r>
            <a:endParaRPr lang="en-US" sz="10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Réexamen au moins une fois par an</a:t>
            </a:r>
            <a:endParaRPr lang="en-US" sz="10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de mise sur le marché si le risque n'est pas nul ou négligeable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7178040" y="5486400"/>
            <a:ext cx="914400" cy="237744"/>
          </a:xfrm>
          <a:prstGeom prst="roundRect">
            <a:avLst>
              <a:gd name="adj" fmla="val 192308"/>
            </a:avLst>
          </a:prstGeom>
          <a:solidFill>
            <a:srgbClr val="D0313B"/>
          </a:solidFill>
          <a:ln w="12700">
            <a:solidFill>
              <a:srgbClr val="D0313B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7178040" y="548640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ARTICLE 10</a:t>
            </a:r>
            <a:endParaRPr lang="en-US" sz="850" dirty="0"/>
          </a:p>
        </p:txBody>
      </p:sp>
      <p:sp>
        <p:nvSpPr>
          <p:cNvPr id="36" name="Shape 33"/>
          <p:cNvSpPr/>
          <p:nvPr/>
        </p:nvSpPr>
        <p:spPr>
          <a:xfrm>
            <a:off x="8321040" y="4069080"/>
            <a:ext cx="329184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9050">
            <a:solidFill>
              <a:srgbClr val="B7791F"/>
            </a:solidFill>
            <a:prstDash val="solid"/>
          </a:ln>
          <a:effectLst>
            <a:outerShdw sx="100000" sy="100000" kx="0" ky="0" algn="bl" rotWithShape="0" blurRad="50800" dist="12700" dir="5400000">
              <a:srgbClr val="8AA0B4">
                <a:alpha val="22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8458200" y="4160520"/>
            <a:ext cx="310896" cy="310896"/>
          </a:xfrm>
          <a:prstGeom prst="roundRect">
            <a:avLst>
              <a:gd name="adj" fmla="val 147059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8458200" y="41605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8869680" y="4133088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A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Atténuation du risque</a:t>
            </a:r>
            <a:endParaRPr lang="en-US" sz="1300" dirty="0"/>
          </a:p>
        </p:txBody>
      </p:sp>
      <p:sp>
        <p:nvSpPr>
          <p:cNvPr id="40" name="Text 37"/>
          <p:cNvSpPr txBox="1"/>
          <p:nvPr/>
        </p:nvSpPr>
        <p:spPr>
          <a:xfrm>
            <a:off x="8458200" y="452628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Informations, données ou documents complémentaires</a:t>
            </a:r>
            <a:endParaRPr lang="en-US" sz="10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Audits ou enquêtes indépendants</a:t>
            </a:r>
            <a:endParaRPr lang="en-US" sz="10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Procédures et contrôles proportionnés</a:t>
            </a:r>
            <a:endParaRPr lang="en-US" sz="1000" dirty="0"/>
          </a:p>
        </p:txBody>
      </p:sp>
      <p:sp>
        <p:nvSpPr>
          <p:cNvPr id="41" name="Shape 38"/>
          <p:cNvSpPr/>
          <p:nvPr/>
        </p:nvSpPr>
        <p:spPr>
          <a:xfrm>
            <a:off x="10561320" y="5486400"/>
            <a:ext cx="914400" cy="237744"/>
          </a:xfrm>
          <a:prstGeom prst="roundRect">
            <a:avLst>
              <a:gd name="adj" fmla="val 192308"/>
            </a:avLst>
          </a:prstGeom>
          <a:solidFill>
            <a:srgbClr val="D0313B"/>
          </a:solidFill>
          <a:ln w="12700">
            <a:solidFill>
              <a:srgbClr val="D0313B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10561320" y="548640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ARTICLE 11</a:t>
            </a:r>
            <a:endParaRPr lang="en-US" sz="850" dirty="0"/>
          </a:p>
        </p:txBody>
      </p:sp>
      <p:sp>
        <p:nvSpPr>
          <p:cNvPr id="43" name="Shape 40"/>
          <p:cNvSpPr/>
          <p:nvPr/>
        </p:nvSpPr>
        <p:spPr>
          <a:xfrm>
            <a:off x="4937760" y="5943600"/>
            <a:ext cx="3291840" cy="384048"/>
          </a:xfrm>
          <a:prstGeom prst="roundRect">
            <a:avLst>
              <a:gd name="adj" fmla="val 71429"/>
            </a:avLst>
          </a:prstGeom>
          <a:solidFill>
            <a:srgbClr val="E6F5EE"/>
          </a:solidFill>
          <a:ln w="12700">
            <a:solidFill>
              <a:srgbClr val="1E8E5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4937760" y="594360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8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Risque nul ou négligeable → DDR</a:t>
            </a:r>
            <a:endParaRPr lang="en-US" sz="1100" dirty="0"/>
          </a:p>
        </p:txBody>
      </p:sp>
      <p:sp>
        <p:nvSpPr>
          <p:cNvPr id="45" name="Shape 42"/>
          <p:cNvSpPr/>
          <p:nvPr/>
        </p:nvSpPr>
        <p:spPr>
          <a:xfrm>
            <a:off x="8321040" y="5943600"/>
            <a:ext cx="3291840" cy="384048"/>
          </a:xfrm>
          <a:prstGeom prst="roundRect">
            <a:avLst>
              <a:gd name="adj" fmla="val 71429"/>
            </a:avLst>
          </a:prstGeom>
          <a:solidFill>
            <a:srgbClr val="FBE9EA"/>
          </a:solidFill>
          <a:ln w="12700">
            <a:solidFill>
              <a:srgbClr val="D0313B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8321040" y="594360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03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Risque non négligeable → STOP (art. 3)</a:t>
            </a:r>
            <a:endParaRPr lang="en-US" sz="1100" dirty="0"/>
          </a:p>
        </p:txBody>
      </p:sp>
      <p:sp>
        <p:nvSpPr>
          <p:cNvPr id="47" name="Shape 44"/>
          <p:cNvSpPr/>
          <p:nvPr/>
        </p:nvSpPr>
        <p:spPr>
          <a:xfrm>
            <a:off x="2286000" y="5230368"/>
            <a:ext cx="320040" cy="274320"/>
          </a:xfrm>
          <a:prstGeom prst="downArrow">
            <a:avLst/>
          </a:prstGeom>
          <a:solidFill>
            <a:srgbClr val="00439A"/>
          </a:solidFill>
          <a:ln w="12700">
            <a:solidFill>
              <a:srgbClr val="00439A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548640" y="5577840"/>
            <a:ext cx="3840480" cy="749808"/>
          </a:xfrm>
          <a:prstGeom prst="roundRect">
            <a:avLst>
              <a:gd name="adj" fmla="val 9756"/>
            </a:avLst>
          </a:prstGeom>
          <a:solidFill>
            <a:srgbClr val="0A2A5E"/>
          </a:solidFill>
          <a:ln w="12700">
            <a:solidFill>
              <a:srgbClr val="0A2A5E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685800" y="5577840"/>
            <a:ext cx="3611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Déclaration de diligence raisonnée
</a:t>
            </a:r>
            <a:pPr indent="0" marL="0">
              <a:buNone/>
            </a:pPr>
            <a:r>
              <a:rPr lang="en-US" sz="95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déposée dans le SI avant mise sur le marché ou export → n° de DDR (C716) · art. 4 &amp; 12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A2A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46920" y="292608"/>
            <a:ext cx="2148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38360" y="347472"/>
            <a:ext cx="1965960" cy="43891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RDUE / EUDR  ·  Webinaire CCI Lyon Métropole  ·  24 septembre 2026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698480" y="641908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34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-2011680" y="3566160"/>
            <a:ext cx="6858000" cy="6858000"/>
          </a:xfrm>
          <a:prstGeom prst="ellipse">
            <a:avLst/>
          </a:prstGeom>
          <a:solidFill>
            <a:srgbClr val="00439A">
              <a:alpha val="22000"/>
            </a:srgbClr>
          </a:solidFill>
          <a:ln w="12700">
            <a:solidFill>
              <a:srgbClr val="00439A">
                <a:alpha val="2200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371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600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III   ·   20 min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1783080"/>
            <a:ext cx="6583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Mise en œuvre &amp; formalités douanières</a:t>
            </a:r>
            <a:endParaRPr lang="en-US" sz="34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3063240"/>
            <a:ext cx="6217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système d'information RDUE &amp; le compte EU Login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déclaration de diligence raisonnée (DDR) → n° de référence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Déclarer en douane (Delta) : codes C716 / C717 / Y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transmission amont / aval du n° de DDR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7863840" y="1417320"/>
            <a:ext cx="3749040" cy="658368"/>
          </a:xfrm>
          <a:prstGeom prst="roundRect">
            <a:avLst>
              <a:gd name="adj" fmla="val 11111"/>
            </a:avLst>
          </a:prstGeom>
          <a:solidFill>
            <a:srgbClr val="123A78"/>
          </a:solidFill>
          <a:ln w="12700">
            <a:solidFill>
              <a:srgbClr val="123A7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001000" y="1417320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8595360" y="1417320"/>
            <a:ext cx="2926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 &amp; enjeux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7863840" y="2286000"/>
            <a:ext cx="3749040" cy="658368"/>
          </a:xfrm>
          <a:prstGeom prst="roundRect">
            <a:avLst>
              <a:gd name="adj" fmla="val 11111"/>
            </a:avLst>
          </a:prstGeom>
          <a:solidFill>
            <a:srgbClr val="123A78"/>
          </a:solidFill>
          <a:ln w="12700">
            <a:solidFill>
              <a:srgbClr val="123A7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001000" y="2286000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8595360" y="2286000"/>
            <a:ext cx="2926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Êtes-vous concernés ?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63840" y="3154680"/>
            <a:ext cx="3749040" cy="658368"/>
          </a:xfrm>
          <a:prstGeom prst="roundRect">
            <a:avLst>
              <a:gd name="adj" fmla="val 11111"/>
            </a:avLst>
          </a:prstGeom>
          <a:solidFill>
            <a:srgbClr val="123A78"/>
          </a:solidFill>
          <a:ln w="12700">
            <a:solidFill>
              <a:srgbClr val="123A78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001000" y="3154680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8595360" y="3154680"/>
            <a:ext cx="2926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diligence raisonnée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7863840" y="4023360"/>
            <a:ext cx="3749040" cy="658368"/>
          </a:xfrm>
          <a:prstGeom prst="roundRect">
            <a:avLst>
              <a:gd name="adj" fmla="val 11111"/>
            </a:avLst>
          </a:prstGeom>
          <a:solidFill>
            <a:srgbClr val="E6005F"/>
          </a:solidFill>
          <a:ln w="12700">
            <a:solidFill>
              <a:srgbClr val="E6005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001000" y="4023360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595360" y="4023360"/>
            <a:ext cx="2926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Mise en œuvre &amp; formalités douanières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7863840" y="4892040"/>
            <a:ext cx="3749040" cy="658368"/>
          </a:xfrm>
          <a:prstGeom prst="roundRect">
            <a:avLst>
              <a:gd name="adj" fmla="val 11111"/>
            </a:avLst>
          </a:prstGeom>
          <a:solidFill>
            <a:srgbClr val="123A78"/>
          </a:solidFill>
          <a:ln w="12700">
            <a:solidFill>
              <a:srgbClr val="123A78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001000" y="4892040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8595360" y="4892040"/>
            <a:ext cx="2926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Bonnes pratiques &amp; conseils</a:t>
            </a:r>
            <a:endParaRPr lang="en-US" sz="11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38360" y="347472"/>
            <a:ext cx="1965960" cy="43891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RDUE / EUDR  ·  Webinaire CCI Lyon Métropole  ·  24 septembre 2026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698480" y="641908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/ 34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système d'information RDUE &amp; EU Login</a:t>
            </a:r>
            <a:endParaRPr lang="en-US" sz="2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0058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Enregistrer la DDR pour obtenir un numéro de référence — rouvert fin juin 2026, formations de la Commission en septembre.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3931920" cy="4297680"/>
          </a:xfrm>
          <a:prstGeom prst="roundRect">
            <a:avLst>
              <a:gd name="adj" fmla="val 1860"/>
            </a:avLst>
          </a:prstGeom>
          <a:solidFill>
            <a:srgbClr val="0A2A5E"/>
          </a:solidFill>
          <a:ln w="12700">
            <a:solidFill>
              <a:srgbClr val="0A2A5E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057400" y="2011680"/>
            <a:ext cx="914400" cy="914400"/>
          </a:xfrm>
          <a:prstGeom prst="ellipse">
            <a:avLst/>
          </a:prstGeom>
          <a:solidFill>
            <a:srgbClr val="E6005F"/>
          </a:solidFill>
          <a:ln w="12700">
            <a:solidFill>
              <a:srgbClr val="E6005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240280"/>
            <a:ext cx="457200" cy="4572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31520" y="306324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Prérequis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914400" y="3520440"/>
            <a:ext cx="3291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compte EU Login par personne.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numéro EORI actif.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L'enregistrement de l'entreprise dans le système d'information (obligatoire pour les opérateurs et les non-PME aval).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1737360" y="5532120"/>
            <a:ext cx="1554480" cy="292608"/>
          </a:xfrm>
          <a:prstGeom prst="roundRect">
            <a:avLst>
              <a:gd name="adj" fmla="val 156250"/>
            </a:avLst>
          </a:prstGeom>
          <a:solidFill>
            <a:srgbClr val="E6005F"/>
          </a:solidFill>
          <a:ln w="12700">
            <a:solidFill>
              <a:srgbClr val="E6005F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1737360" y="553212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dès maintenant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4754880" y="1691640"/>
            <a:ext cx="685800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9525">
            <a:solidFill>
              <a:srgbClr val="D9E1EC"/>
            </a:solidFill>
            <a:prstDash val="solid"/>
          </a:ln>
          <a:effectLst>
            <a:outerShdw sx="100000" sy="100000" kx="0" ky="0" algn="bl" rotWithShape="0" blurRad="50800" dist="12700" dir="5400000">
              <a:srgbClr val="8AA0B4">
                <a:alpha val="22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5029200" y="18745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DDR dans le système d'information — à saisir</a:t>
            </a:r>
            <a:endParaRPr lang="en-US" sz="150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2423160"/>
            <a:ext cx="256032" cy="25603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5394960" y="23774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 EORI de l'opérateur</a:t>
            </a:r>
            <a:endParaRPr lang="en-US" sz="1200" dirty="0"/>
          </a:p>
        </p:txBody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1040" y="2423160"/>
            <a:ext cx="256032" cy="256032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8686800" y="23774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du système harmonisé (SH)</a:t>
            </a:r>
            <a:endParaRPr lang="en-US" sz="1200" dirty="0"/>
          </a:p>
        </p:txBody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0" y="2990088"/>
            <a:ext cx="256032" cy="256032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5394960" y="294436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 libre (nom commercial ou scientifique)</a:t>
            </a:r>
            <a:endParaRPr lang="en-US" sz="1200" dirty="0"/>
          </a:p>
        </p:txBody>
      </p:sp>
      <p:pic>
        <p:nvPicPr>
          <p:cNvPr id="2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21040" y="2990088"/>
            <a:ext cx="256032" cy="256032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8686800" y="294436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Quantité (mise sur le marché / export)</a:t>
            </a:r>
            <a:endParaRPr lang="en-US" sz="1200" dirty="0"/>
          </a:p>
        </p:txBody>
      </p:sp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29200" y="3557016"/>
            <a:ext cx="256032" cy="256032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5394960" y="3511296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Pays de production</a:t>
            </a:r>
            <a:endParaRPr lang="en-US" sz="1200" dirty="0"/>
          </a:p>
        </p:txBody>
      </p:sp>
      <p:pic>
        <p:nvPicPr>
          <p:cNvPr id="26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21040" y="3557016"/>
            <a:ext cx="256032" cy="256032"/>
          </a:xfrm>
          <a:prstGeom prst="rect">
            <a:avLst/>
          </a:prstGeom>
        </p:spPr>
      </p:pic>
      <p:sp>
        <p:nvSpPr>
          <p:cNvPr id="27" name="Text 17"/>
          <p:cNvSpPr txBox="1"/>
          <p:nvPr/>
        </p:nvSpPr>
        <p:spPr>
          <a:xfrm>
            <a:off x="8686800" y="3511296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Géolocalisation de toutes les parcelles</a:t>
            </a:r>
            <a:endParaRPr lang="en-US" sz="1200" dirty="0"/>
          </a:p>
        </p:txBody>
      </p:sp>
      <p:pic>
        <p:nvPicPr>
          <p:cNvPr id="2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29200" y="4123944"/>
            <a:ext cx="256032" cy="256032"/>
          </a:xfrm>
          <a:prstGeom prst="rect">
            <a:avLst/>
          </a:prstGeom>
        </p:spPr>
      </p:pic>
      <p:sp>
        <p:nvSpPr>
          <p:cNvPr id="29" name="Text 18"/>
          <p:cNvSpPr txBox="1"/>
          <p:nvPr/>
        </p:nvSpPr>
        <p:spPr>
          <a:xfrm>
            <a:off x="5394960" y="4078224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Attestation de risque nul ou négligeable</a:t>
            </a:r>
            <a:endParaRPr lang="en-US" sz="1200" dirty="0"/>
          </a:p>
        </p:txBody>
      </p:sp>
      <p:pic>
        <p:nvPicPr>
          <p:cNvPr id="30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321040" y="4123944"/>
            <a:ext cx="256032" cy="256032"/>
          </a:xfrm>
          <a:prstGeom prst="rect">
            <a:avLst/>
          </a:prstGeom>
        </p:spPr>
      </p:pic>
      <p:sp>
        <p:nvSpPr>
          <p:cNvPr id="31" name="Text 19"/>
          <p:cNvSpPr txBox="1"/>
          <p:nvPr/>
        </p:nvSpPr>
        <p:spPr>
          <a:xfrm>
            <a:off x="8686800" y="4078224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Signature de la personne habilitée</a:t>
            </a:r>
            <a:endParaRPr lang="en-US" sz="1200" dirty="0"/>
          </a:p>
        </p:txBody>
      </p:sp>
      <p:sp>
        <p:nvSpPr>
          <p:cNvPr id="32" name="Shape 20"/>
          <p:cNvSpPr/>
          <p:nvPr/>
        </p:nvSpPr>
        <p:spPr>
          <a:xfrm>
            <a:off x="5029200" y="4800600"/>
            <a:ext cx="6309360" cy="868680"/>
          </a:xfrm>
          <a:prstGeom prst="roundRect">
            <a:avLst>
              <a:gd name="adj" fmla="val 8421"/>
            </a:avLst>
          </a:prstGeom>
          <a:solidFill>
            <a:srgbClr val="1E8E5A"/>
          </a:solidFill>
          <a:ln w="12700">
            <a:solidFill>
              <a:srgbClr val="1E8E5A"/>
            </a:solidFill>
            <a:prstDash val="solid"/>
          </a:ln>
        </p:spPr>
      </p:sp>
      <p:sp>
        <p:nvSpPr>
          <p:cNvPr id="33" name="Text 21"/>
          <p:cNvSpPr txBox="1"/>
          <p:nvPr/>
        </p:nvSpPr>
        <p:spPr>
          <a:xfrm>
            <a:off x="5212080" y="4800600"/>
            <a:ext cx="5943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Génération du numéro de référence DDR et du code de vérification. </a:t>
            </a:r>
            <a:pPr indent="0" marL="0">
              <a:buNone/>
            </a:pPr>
            <a:r>
              <a:rPr lang="en-US" sz="1250" dirty="0">
                <a:solidFill>
                  <a:srgbClr val="E6F5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DDR citée en douane ne peut plus être modifiée ni retirée.</a:t>
            </a:r>
            <a:endParaRPr lang="en-US" sz="1250" dirty="0"/>
          </a:p>
        </p:txBody>
      </p:sp>
      <p:sp>
        <p:nvSpPr>
          <p:cNvPr id="34" name="Text 22"/>
          <p:cNvSpPr txBox="1"/>
          <p:nvPr/>
        </p:nvSpPr>
        <p:spPr>
          <a:xfrm>
            <a:off x="548640" y="61264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Nouveautés du règlement d'exécution (UE) 2026/1565 : déclaration simplifiée pour les micro/petits producteurs, groupage de déclarations, API pour les dépôts en volume.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38360" y="347472"/>
            <a:ext cx="1965960" cy="43891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RDUE / EUDR  ·  Webinaire CCI Lyon Métropole  ·  24 septembre 2026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698480" y="641908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/ 34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Déclarer en douane (Delta)</a:t>
            </a:r>
            <a:endParaRPr lang="en-US" sz="2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0058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numéro de DDR se reporte dans la déclaration douanière, avant mainlevée.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548640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9E1EC"/>
            </a:solidFill>
            <a:prstDash val="solid"/>
          </a:ln>
          <a:effectLst>
            <a:outerShdw sx="100000" sy="100000" kx="0" ky="0" algn="bl" rotWithShape="0" blurRad="50800" dist="12700" dir="5400000">
              <a:srgbClr val="8AA0B4">
                <a:alpha val="22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77240" y="18288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 n° 1 — produit concerné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777240" y="2286000"/>
            <a:ext cx="1005840" cy="384048"/>
          </a:xfrm>
          <a:prstGeom prst="roundRect">
            <a:avLst>
              <a:gd name="adj" fmla="val 119048"/>
            </a:avLst>
          </a:prstGeom>
          <a:solidFill>
            <a:srgbClr val="0A2A5E"/>
          </a:solidFill>
          <a:ln w="12700">
            <a:solidFill>
              <a:srgbClr val="0A2A5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28600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C716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1920240" y="2286000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Opérateur : code C716 + son numéro de DDR.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777240" y="2834640"/>
            <a:ext cx="1005840" cy="384048"/>
          </a:xfrm>
          <a:prstGeom prst="roundRect">
            <a:avLst>
              <a:gd name="adj" fmla="val 119048"/>
            </a:avLst>
          </a:prstGeom>
          <a:solidFill>
            <a:srgbClr val="00439A"/>
          </a:solidFill>
          <a:ln w="12700">
            <a:solidFill>
              <a:srgbClr val="00439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77240" y="283464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C717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1920240" y="2788920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PME aval (DDR amont existante) : C717 + n° de DDR du fournisseur — à confirmer sur la fiche douane 2026.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6217920" y="1691640"/>
            <a:ext cx="539496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9E1EC"/>
            </a:solidFill>
            <a:prstDash val="solid"/>
          </a:ln>
          <a:effectLst>
            <a:outerShdw sx="100000" sy="100000" kx="0" ky="0" algn="bl" rotWithShape="0" blurRad="50800" dist="12700" dir="5400000">
              <a:srgbClr val="8AA0B4">
                <a:alpha val="22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446520" y="18288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 n° 2 — exemptions (codes Y)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6446520" y="2286000"/>
            <a:ext cx="731520" cy="329184"/>
          </a:xfrm>
          <a:prstGeom prst="roundRect">
            <a:avLst>
              <a:gd name="adj" fmla="val 138889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446520" y="2286000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A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Y129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7269480" y="228600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hors champ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9052560" y="2286000"/>
            <a:ext cx="731520" cy="329184"/>
          </a:xfrm>
          <a:prstGeom prst="roundRect">
            <a:avLst>
              <a:gd name="adj" fmla="val 138889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052560" y="2286000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A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Y132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9875520" y="228600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fabriqué avant le 29/06/2023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6446520" y="2834640"/>
            <a:ext cx="731520" cy="329184"/>
          </a:xfrm>
          <a:prstGeom prst="roundRect">
            <a:avLst>
              <a:gd name="adj" fmla="val 138889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446520" y="2834640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A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Y133</a:t>
            </a:r>
            <a:endParaRPr lang="en-US" sz="1050" dirty="0"/>
          </a:p>
        </p:txBody>
      </p:sp>
      <p:sp>
        <p:nvSpPr>
          <p:cNvPr id="25" name="Text 22"/>
          <p:cNvSpPr txBox="1"/>
          <p:nvPr/>
        </p:nvSpPr>
        <p:spPr>
          <a:xfrm>
            <a:off x="7269480" y="283464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déchets / recyclé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9052560" y="2834640"/>
            <a:ext cx="731520" cy="329184"/>
          </a:xfrm>
          <a:prstGeom prst="roundRect">
            <a:avLst>
              <a:gd name="adj" fmla="val 138889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052560" y="2834640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A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Y141</a:t>
            </a:r>
            <a:endParaRPr lang="en-US" sz="1050" dirty="0"/>
          </a:p>
        </p:txBody>
      </p:sp>
      <p:sp>
        <p:nvSpPr>
          <p:cNvPr id="28" name="Text 25"/>
          <p:cNvSpPr txBox="1"/>
          <p:nvPr/>
        </p:nvSpPr>
        <p:spPr>
          <a:xfrm>
            <a:off x="9875520" y="283464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 &amp; petite ent. (report)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6446520" y="3383280"/>
            <a:ext cx="731520" cy="329184"/>
          </a:xfrm>
          <a:prstGeom prst="roundRect">
            <a:avLst>
              <a:gd name="adj" fmla="val 138889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446520" y="3383280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A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Y142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7269480" y="338328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activité non commerciale</a:t>
            </a:r>
            <a:endParaRPr lang="en-US" sz="1050" dirty="0"/>
          </a:p>
        </p:txBody>
      </p:sp>
      <p:sp>
        <p:nvSpPr>
          <p:cNvPr id="32" name="Shape 29"/>
          <p:cNvSpPr/>
          <p:nvPr/>
        </p:nvSpPr>
        <p:spPr>
          <a:xfrm>
            <a:off x="548640" y="4206240"/>
            <a:ext cx="11064240" cy="1005840"/>
          </a:xfrm>
          <a:prstGeom prst="roundRect">
            <a:avLst>
              <a:gd name="adj" fmla="val 7273"/>
            </a:avLst>
          </a:prstGeom>
          <a:solidFill>
            <a:srgbClr val="0A2A5E"/>
          </a:solidFill>
          <a:ln w="12700">
            <a:solidFill>
              <a:srgbClr val="0A2A5E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77240" y="4370832"/>
            <a:ext cx="685800" cy="685800"/>
          </a:xfrm>
          <a:prstGeom prst="ellipse">
            <a:avLst/>
          </a:prstGeom>
          <a:solidFill>
            <a:srgbClr val="E6005F"/>
          </a:solidFill>
          <a:ln w="12700">
            <a:solidFill>
              <a:srgbClr val="E6005F"/>
            </a:solidFill>
            <a:prstDash val="solid"/>
          </a:ln>
        </p:spPr>
      </p:sp>
      <p:pic>
        <p:nvPicPr>
          <p:cNvPr id="3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690" y="4542282"/>
            <a:ext cx="342900" cy="342900"/>
          </a:xfrm>
          <a:prstGeom prst="rect">
            <a:avLst/>
          </a:prstGeom>
        </p:spPr>
      </p:pic>
      <p:sp>
        <p:nvSpPr>
          <p:cNvPr id="35" name="Text 31"/>
          <p:cNvSpPr txBox="1"/>
          <p:nvPr/>
        </p:nvSpPr>
        <p:spPr>
          <a:xfrm>
            <a:off x="1645920" y="4206240"/>
            <a:ext cx="9784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Transmission amont / aval. </a:t>
            </a:r>
            <a:pPr indent="0" marL="0">
              <a:buNone/>
            </a:pPr>
            <a:r>
              <a:rPr lang="en-US" sz="13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L'opérateur transmet le n° de DDR et le code de vérification à son seul client aval immédiat ; les maillons suivants ne conservent que les informations fournisseur.</a:t>
            </a:r>
            <a:endParaRPr lang="en-US" sz="1300" dirty="0"/>
          </a:p>
        </p:txBody>
      </p:sp>
      <p:sp>
        <p:nvSpPr>
          <p:cNvPr id="36" name="Text 32"/>
          <p:cNvSpPr txBox="1"/>
          <p:nvPr/>
        </p:nvSpPr>
        <p:spPr>
          <a:xfrm>
            <a:off x="548640" y="53949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Autres cas : n° conventionnel 99EU9999999999 pour l'export ou la réimportation de produits fabriqués entre le 29/06/2023 et la date d'application. Delta = téléservice de dédouanement de la DGDDI.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38360" y="347472"/>
            <a:ext cx="1965960" cy="43891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RDUE / EUDR  ·  Webinaire CCI Lyon Métropole  ·  24 septembre 2026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698480" y="641908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/ 34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 pratique : l'huile de palme</a:t>
            </a:r>
            <a:endParaRPr lang="en-US" sz="2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0058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même produit peut être soumis… ou hors champ, selon l'usage final déclaré.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5440680" cy="4114800"/>
          </a:xfrm>
          <a:prstGeom prst="roundRect">
            <a:avLst>
              <a:gd name="adj" fmla="val 1778"/>
            </a:avLst>
          </a:prstGeom>
          <a:solidFill>
            <a:srgbClr val="FFFFFF"/>
          </a:solidFill>
          <a:ln w="9525">
            <a:solidFill>
              <a:srgbClr val="D9E1EC"/>
            </a:solidFill>
            <a:prstDash val="solid"/>
          </a:ln>
          <a:effectLst>
            <a:outerShdw sx="100000" sy="100000" kx="0" ky="0" algn="bl" rotWithShape="0" blurRad="50800" dist="12700" dir="5400000">
              <a:srgbClr val="8AA0B4">
                <a:alpha val="2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1691640"/>
            <a:ext cx="5440680" cy="777240"/>
          </a:xfrm>
          <a:prstGeom prst="roundRect">
            <a:avLst>
              <a:gd name="adj" fmla="val 9412"/>
            </a:avLst>
          </a:prstGeom>
          <a:solidFill>
            <a:srgbClr val="1E8E5A"/>
          </a:solidFill>
          <a:ln w="12700">
            <a:solidFill>
              <a:srgbClr val="1E8E5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48640" y="2194560"/>
            <a:ext cx="5440680" cy="274320"/>
          </a:xfrm>
          <a:prstGeom prst="rect">
            <a:avLst/>
          </a:prstGeom>
          <a:solidFill>
            <a:srgbClr val="1E8E5A"/>
          </a:solidFill>
          <a:ln w="12700">
            <a:solidFill>
              <a:srgbClr val="1E8E5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22960" y="1691640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· Scénario standard — soumis au RDUE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2697480"/>
            <a:ext cx="49377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A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flux
</a:t>
            </a:r>
            <a:pPr indent="0" marL="0">
              <a:buNone/>
            </a:pPr>
            <a:r>
              <a:rPr lang="en-US" sz="12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Importation d'huile de palme brute ou de dérivés pour la fabrication de savons ou d'additifs alimentaires.
</a:t>
            </a:r>
            <a:pPr indent="0" marL="0">
              <a:buNone/>
            </a:pPr>
            <a:r>
              <a:rPr lang="en-US" sz="1250" b="1" dirty="0">
                <a:solidFill>
                  <a:srgbClr val="0A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conséquence
</a:t>
            </a:r>
            <a:pPr indent="0" marL="0">
              <a:buNone/>
            </a:pPr>
            <a:r>
              <a:rPr lang="en-US" sz="12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Diligence raisonnée complète, dépôt de la DDR dans le système d'information, puis code C716 + n° de DDR en douane.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6172200" y="1691640"/>
            <a:ext cx="5440680" cy="4114800"/>
          </a:xfrm>
          <a:prstGeom prst="roundRect">
            <a:avLst>
              <a:gd name="adj" fmla="val 1778"/>
            </a:avLst>
          </a:prstGeom>
          <a:solidFill>
            <a:srgbClr val="FFFFFF"/>
          </a:solidFill>
          <a:ln w="9525">
            <a:solidFill>
              <a:srgbClr val="D9E1EC"/>
            </a:solidFill>
            <a:prstDash val="solid"/>
          </a:ln>
          <a:effectLst>
            <a:outerShdw sx="100000" sy="100000" kx="0" ky="0" algn="bl" rotWithShape="0" blurRad="50800" dist="12700" dir="5400000">
              <a:srgbClr val="8AA0B4">
                <a:alpha val="2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172200" y="1691640"/>
            <a:ext cx="5440680" cy="777240"/>
          </a:xfrm>
          <a:prstGeom prst="roundRect">
            <a:avLst>
              <a:gd name="adj" fmla="val 9412"/>
            </a:avLst>
          </a:prstGeom>
          <a:solidFill>
            <a:srgbClr val="5B6B7F"/>
          </a:solidFill>
          <a:ln w="12700">
            <a:solidFill>
              <a:srgbClr val="5B6B7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172200" y="2194560"/>
            <a:ext cx="5440680" cy="274320"/>
          </a:xfrm>
          <a:prstGeom prst="rect">
            <a:avLst/>
          </a:prstGeom>
          <a:solidFill>
            <a:srgbClr val="5B6B7F"/>
          </a:solidFill>
          <a:ln w="12700">
            <a:solidFill>
              <a:srgbClr val="5B6B7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46520" y="1691640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· Exclusions — hors champ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6446520" y="2697480"/>
            <a:ext cx="49377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A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 1 · pharmaceutique
</a:t>
            </a:r>
            <a:pPr indent="0" marL="0">
              <a:buNone/>
            </a:pPr>
            <a:r>
              <a:rPr lang="en-US" sz="12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Dérivés oléochimiques utilisés exclusivement pour la fabrication de médicaments → code Y129.
</a:t>
            </a:r>
            <a:pPr indent="0" marL="0">
              <a:buNone/>
            </a:pPr>
            <a:r>
              <a:rPr lang="en-US" sz="1250" b="1" dirty="0">
                <a:solidFill>
                  <a:srgbClr val="0A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 2 · biocarburants
</a:t>
            </a:r>
            <a:pPr indent="0" marL="0">
              <a:buNone/>
            </a:pPr>
            <a:r>
              <a:rPr lang="en-US" sz="12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Huiles usagées et déchets récupérés (matière en fin de vie) → code Y133.
</a:t>
            </a:r>
            <a:pPr indent="0" marL="0">
              <a:buNone/>
            </a:pPr>
            <a:r>
              <a:rPr lang="en-US" sz="1250" b="1" dirty="0">
                <a:solidFill>
                  <a:srgbClr val="D03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Aucune DDR requise.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59893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E600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Deux flux physiquement identiques peuvent recevoir un traitement opposé : l'usage réel et le code déterminent le champ.</a:t>
            </a:r>
            <a:endParaRPr lang="en-US" sz="12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A2A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46920" y="292608"/>
            <a:ext cx="2148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38360" y="347472"/>
            <a:ext cx="1965960" cy="43891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RDUE / EUDR  ·  Webinaire CCI Lyon Métropole  ·  24 septembre 2026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698480" y="641908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/ 34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-2011680" y="3566160"/>
            <a:ext cx="6858000" cy="6858000"/>
          </a:xfrm>
          <a:prstGeom prst="ellipse">
            <a:avLst/>
          </a:prstGeom>
          <a:solidFill>
            <a:srgbClr val="00439A">
              <a:alpha val="22000"/>
            </a:srgbClr>
          </a:solidFill>
          <a:ln w="12700">
            <a:solidFill>
              <a:srgbClr val="00439A">
                <a:alpha val="2200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371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600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IV   ·   10 min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1783080"/>
            <a:ext cx="6583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Bonnes pratiques &amp; conseils</a:t>
            </a:r>
            <a:endParaRPr lang="en-US" sz="34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3063240"/>
            <a:ext cx="6217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Cartographier les risques et connaître les sanctions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leviers pour réduire la charge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feuille de route en quatre marches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et synthèse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7863840" y="1417320"/>
            <a:ext cx="3749040" cy="658368"/>
          </a:xfrm>
          <a:prstGeom prst="roundRect">
            <a:avLst>
              <a:gd name="adj" fmla="val 11111"/>
            </a:avLst>
          </a:prstGeom>
          <a:solidFill>
            <a:srgbClr val="123A78"/>
          </a:solidFill>
          <a:ln w="12700">
            <a:solidFill>
              <a:srgbClr val="123A7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001000" y="1417320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8595360" y="1417320"/>
            <a:ext cx="2926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 &amp; enjeux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7863840" y="2286000"/>
            <a:ext cx="3749040" cy="658368"/>
          </a:xfrm>
          <a:prstGeom prst="roundRect">
            <a:avLst>
              <a:gd name="adj" fmla="val 11111"/>
            </a:avLst>
          </a:prstGeom>
          <a:solidFill>
            <a:srgbClr val="123A78"/>
          </a:solidFill>
          <a:ln w="12700">
            <a:solidFill>
              <a:srgbClr val="123A7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001000" y="2286000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8595360" y="2286000"/>
            <a:ext cx="2926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Êtes-vous concernés ?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63840" y="3154680"/>
            <a:ext cx="3749040" cy="658368"/>
          </a:xfrm>
          <a:prstGeom prst="roundRect">
            <a:avLst>
              <a:gd name="adj" fmla="val 11111"/>
            </a:avLst>
          </a:prstGeom>
          <a:solidFill>
            <a:srgbClr val="123A78"/>
          </a:solidFill>
          <a:ln w="12700">
            <a:solidFill>
              <a:srgbClr val="123A78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001000" y="3154680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8595360" y="3154680"/>
            <a:ext cx="2926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diligence raisonnée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7863840" y="4023360"/>
            <a:ext cx="3749040" cy="658368"/>
          </a:xfrm>
          <a:prstGeom prst="roundRect">
            <a:avLst>
              <a:gd name="adj" fmla="val 11111"/>
            </a:avLst>
          </a:prstGeom>
          <a:solidFill>
            <a:srgbClr val="123A78"/>
          </a:solidFill>
          <a:ln w="12700">
            <a:solidFill>
              <a:srgbClr val="123A78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001000" y="4023360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595360" y="4023360"/>
            <a:ext cx="2926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Mise en œuvre &amp; formalités douanières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7863840" y="4892040"/>
            <a:ext cx="3749040" cy="658368"/>
          </a:xfrm>
          <a:prstGeom prst="roundRect">
            <a:avLst>
              <a:gd name="adj" fmla="val 11111"/>
            </a:avLst>
          </a:prstGeom>
          <a:solidFill>
            <a:srgbClr val="E6005F"/>
          </a:solidFill>
          <a:ln w="12700">
            <a:solidFill>
              <a:srgbClr val="E6005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001000" y="4892040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8595360" y="4892040"/>
            <a:ext cx="2926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Bonnes pratiques &amp; conseils</a:t>
            </a:r>
            <a:endParaRPr lang="en-US" sz="12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38360" y="347472"/>
            <a:ext cx="1965960" cy="43891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RDUE / EUDR  ·  Webinaire CCI Lyon Métropole  ·  24 septembre 2026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698480" y="641908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/ 34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Cartographier les risques</a:t>
            </a:r>
            <a:endParaRPr lang="en-US" sz="2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0058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RDUE est pluriel : ce n'est pas qu'un sujet d'image.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356616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9E1EC"/>
            </a:solidFill>
            <a:prstDash val="solid"/>
          </a:ln>
          <a:effectLst>
            <a:outerShdw sx="100000" sy="100000" kx="0" ky="0" algn="bl" rotWithShape="0" blurRad="50800" dist="12700" dir="5400000">
              <a:srgbClr val="8AA0B4">
                <a:alpha val="2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822960" y="1965960"/>
            <a:ext cx="640080" cy="640080"/>
          </a:xfrm>
          <a:prstGeom prst="ellipse">
            <a:avLst/>
          </a:prstGeom>
          <a:solidFill>
            <a:srgbClr val="00439A"/>
          </a:solidFill>
          <a:ln w="12700">
            <a:solidFill>
              <a:srgbClr val="00439A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980" y="2125980"/>
            <a:ext cx="320040" cy="32004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645920" y="20116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Juridique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822960" y="265176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Diligence insuffisante, rôle mal qualifié, DDR incomplète.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4297680" y="1691640"/>
            <a:ext cx="356616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9E1EC"/>
            </a:solidFill>
            <a:prstDash val="solid"/>
          </a:ln>
          <a:effectLst>
            <a:outerShdw sx="100000" sy="100000" kx="0" ky="0" algn="bl" rotWithShape="0" blurRad="50800" dist="12700" dir="5400000">
              <a:srgbClr val="8AA0B4">
                <a:alpha val="22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4572000" y="1965960"/>
            <a:ext cx="640080" cy="640080"/>
          </a:xfrm>
          <a:prstGeom prst="ellipse">
            <a:avLst/>
          </a:prstGeom>
          <a:solidFill>
            <a:srgbClr val="00439A"/>
          </a:solidFill>
          <a:ln w="12700">
            <a:solidFill>
              <a:srgbClr val="00439A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2020" y="2125980"/>
            <a:ext cx="320040" cy="32004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394960" y="20116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Douanier</a:t>
            </a:r>
            <a:endParaRPr lang="en-US" sz="1600" dirty="0"/>
          </a:p>
        </p:txBody>
      </p:sp>
      <p:sp>
        <p:nvSpPr>
          <p:cNvPr id="16" name="Text 11"/>
          <p:cNvSpPr txBox="1"/>
          <p:nvPr/>
        </p:nvSpPr>
        <p:spPr>
          <a:xfrm>
            <a:off x="4572000" y="265176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 de mainlevée, mauvais code, lots bloqués à la frontière.</a:t>
            </a:r>
            <a:endParaRPr lang="en-US" sz="1250" dirty="0"/>
          </a:p>
        </p:txBody>
      </p:sp>
      <p:sp>
        <p:nvSpPr>
          <p:cNvPr id="17" name="Shape 12"/>
          <p:cNvSpPr/>
          <p:nvPr/>
        </p:nvSpPr>
        <p:spPr>
          <a:xfrm>
            <a:off x="8046720" y="1691640"/>
            <a:ext cx="356616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9E1EC"/>
            </a:solidFill>
            <a:prstDash val="solid"/>
          </a:ln>
          <a:effectLst>
            <a:outerShdw sx="100000" sy="100000" kx="0" ky="0" algn="bl" rotWithShape="0" blurRad="50800" dist="12700" dir="5400000">
              <a:srgbClr val="8AA0B4">
                <a:alpha val="22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8321040" y="1965960"/>
            <a:ext cx="640080" cy="640080"/>
          </a:xfrm>
          <a:prstGeom prst="ellipse">
            <a:avLst/>
          </a:prstGeom>
          <a:solidFill>
            <a:srgbClr val="00439A"/>
          </a:solidFill>
          <a:ln w="12700">
            <a:solidFill>
              <a:srgbClr val="00439A"/>
            </a:solidFill>
            <a:prstDash val="solid"/>
          </a:ln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1060" y="2125980"/>
            <a:ext cx="320040" cy="32004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9144000" y="20116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Financier</a:t>
            </a:r>
            <a:endParaRPr lang="en-US" sz="1600" dirty="0"/>
          </a:p>
        </p:txBody>
      </p:sp>
      <p:sp>
        <p:nvSpPr>
          <p:cNvPr id="21" name="Text 15"/>
          <p:cNvSpPr txBox="1"/>
          <p:nvPr/>
        </p:nvSpPr>
        <p:spPr>
          <a:xfrm>
            <a:off x="8321040" y="265176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Amende (plafond ≥ 4 % du CA UE), confiscation, exclusion des marchés publics.</a:t>
            </a:r>
            <a:endParaRPr lang="en-US" sz="1250" dirty="0"/>
          </a:p>
        </p:txBody>
      </p:sp>
      <p:sp>
        <p:nvSpPr>
          <p:cNvPr id="22" name="Shape 16"/>
          <p:cNvSpPr/>
          <p:nvPr/>
        </p:nvSpPr>
        <p:spPr>
          <a:xfrm>
            <a:off x="548640" y="3794760"/>
            <a:ext cx="356616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9E1EC"/>
            </a:solidFill>
            <a:prstDash val="solid"/>
          </a:ln>
          <a:effectLst>
            <a:outerShdw sx="100000" sy="100000" kx="0" ky="0" algn="bl" rotWithShape="0" blurRad="50800" dist="12700" dir="5400000">
              <a:srgbClr val="8AA0B4">
                <a:alpha val="22000"/>
              </a:srgbClr>
            </a:outerShdw>
          </a:effectLst>
        </p:spPr>
      </p:sp>
      <p:sp>
        <p:nvSpPr>
          <p:cNvPr id="23" name="Shape 17"/>
          <p:cNvSpPr/>
          <p:nvPr/>
        </p:nvSpPr>
        <p:spPr>
          <a:xfrm>
            <a:off x="822960" y="4069080"/>
            <a:ext cx="640080" cy="640080"/>
          </a:xfrm>
          <a:prstGeom prst="ellipse">
            <a:avLst/>
          </a:prstGeom>
          <a:solidFill>
            <a:srgbClr val="00439A"/>
          </a:solidFill>
          <a:ln w="12700">
            <a:solidFill>
              <a:srgbClr val="00439A"/>
            </a:solidFill>
            <a:prstDash val="solid"/>
          </a:ln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2980" y="4229100"/>
            <a:ext cx="320040" cy="32004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1645920" y="411480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Opérationnel</a:t>
            </a:r>
            <a:endParaRPr lang="en-US" sz="1600" dirty="0"/>
          </a:p>
        </p:txBody>
      </p:sp>
      <p:sp>
        <p:nvSpPr>
          <p:cNvPr id="26" name="Text 19"/>
          <p:cNvSpPr txBox="1"/>
          <p:nvPr/>
        </p:nvSpPr>
        <p:spPr>
          <a:xfrm>
            <a:off x="822960" y="475488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Fournisseurs sans données, ruptures d'approvisionnement.</a:t>
            </a:r>
            <a:endParaRPr lang="en-US" sz="1250" dirty="0"/>
          </a:p>
        </p:txBody>
      </p:sp>
      <p:sp>
        <p:nvSpPr>
          <p:cNvPr id="27" name="Shape 20"/>
          <p:cNvSpPr/>
          <p:nvPr/>
        </p:nvSpPr>
        <p:spPr>
          <a:xfrm>
            <a:off x="4297680" y="3794760"/>
            <a:ext cx="356616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9E1EC"/>
            </a:solidFill>
            <a:prstDash val="solid"/>
          </a:ln>
          <a:effectLst>
            <a:outerShdw sx="100000" sy="100000" kx="0" ky="0" algn="bl" rotWithShape="0" blurRad="50800" dist="12700" dir="5400000">
              <a:srgbClr val="8AA0B4">
                <a:alpha val="22000"/>
              </a:srgbClr>
            </a:outerShdw>
          </a:effectLst>
        </p:spPr>
      </p:sp>
      <p:sp>
        <p:nvSpPr>
          <p:cNvPr id="28" name="Shape 21"/>
          <p:cNvSpPr/>
          <p:nvPr/>
        </p:nvSpPr>
        <p:spPr>
          <a:xfrm>
            <a:off x="4572000" y="4069080"/>
            <a:ext cx="640080" cy="640080"/>
          </a:xfrm>
          <a:prstGeom prst="ellipse">
            <a:avLst/>
          </a:prstGeom>
          <a:solidFill>
            <a:srgbClr val="00439A"/>
          </a:solidFill>
          <a:ln w="12700">
            <a:solidFill>
              <a:srgbClr val="00439A"/>
            </a:solidFill>
            <a:prstDash val="solid"/>
          </a:ln>
        </p:spPr>
      </p:sp>
      <p:pic>
        <p:nvPicPr>
          <p:cNvPr id="2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32020" y="4229100"/>
            <a:ext cx="320040" cy="320040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5394960" y="411480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RSE / réputation</a:t>
            </a:r>
            <a:endParaRPr lang="en-US" sz="1600" dirty="0"/>
          </a:p>
        </p:txBody>
      </p:sp>
      <p:sp>
        <p:nvSpPr>
          <p:cNvPr id="31" name="Text 23"/>
          <p:cNvSpPr txBox="1"/>
          <p:nvPr/>
        </p:nvSpPr>
        <p:spPr>
          <a:xfrm>
            <a:off x="4572000" y="475488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Exigences des clients et des financeurs, exposition médiatique.</a:t>
            </a:r>
            <a:endParaRPr lang="en-US" sz="1250" dirty="0"/>
          </a:p>
        </p:txBody>
      </p:sp>
      <p:sp>
        <p:nvSpPr>
          <p:cNvPr id="32" name="Shape 24"/>
          <p:cNvSpPr/>
          <p:nvPr/>
        </p:nvSpPr>
        <p:spPr>
          <a:xfrm>
            <a:off x="8046720" y="3794760"/>
            <a:ext cx="3566160" cy="1874520"/>
          </a:xfrm>
          <a:prstGeom prst="roundRect">
            <a:avLst>
              <a:gd name="adj" fmla="val 3902"/>
            </a:avLst>
          </a:prstGeom>
          <a:solidFill>
            <a:srgbClr val="0A2A5E"/>
          </a:solidFill>
          <a:ln w="12700">
            <a:solidFill>
              <a:srgbClr val="0A2A5E"/>
            </a:solidFill>
            <a:prstDash val="solid"/>
          </a:ln>
        </p:spPr>
      </p:sp>
      <p:sp>
        <p:nvSpPr>
          <p:cNvPr id="33" name="Text 25"/>
          <p:cNvSpPr txBox="1"/>
          <p:nvPr/>
        </p:nvSpPr>
        <p:spPr>
          <a:xfrm>
            <a:off x="8321040" y="3794760"/>
            <a:ext cx="301752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déclaration en douane engage la responsabilité juridique de l'opérateur sur le risque zéro déforestation (art. 25).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38360" y="347472"/>
            <a:ext cx="1965960" cy="43891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RDUE / EUDR  ·  Webinaire CCI Lyon Métropole  ·  24 septembre 2026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698480" y="641908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/ 34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régime des sanctions</a:t>
            </a:r>
            <a:endParaRPr lang="en-US" sz="2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0058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Fixé par chaque État membre dans le cadre de l'article 25 du règlement.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2606040" cy="320040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9525">
            <a:solidFill>
              <a:srgbClr val="D9E1EC"/>
            </a:solidFill>
            <a:prstDash val="solid"/>
          </a:ln>
          <a:effectLst>
            <a:outerShdw sx="100000" sy="100000" kx="0" ky="0" algn="bl" rotWithShape="0" blurRad="50800" dist="12700" dir="5400000">
              <a:srgbClr val="8AA0B4">
                <a:alpha val="2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1417320" y="1965960"/>
            <a:ext cx="868680" cy="868680"/>
          </a:xfrm>
          <a:prstGeom prst="ellipse">
            <a:avLst/>
          </a:prstGeom>
          <a:solidFill>
            <a:srgbClr val="D0313B"/>
          </a:solidFill>
          <a:ln w="12700">
            <a:solidFill>
              <a:srgbClr val="D0313B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4490" y="2183130"/>
            <a:ext cx="434340" cy="43434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48640" y="297180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A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Financière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777240" y="3429000"/>
            <a:ext cx="2148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Plafond d'amende d'au moins 4 % du chiffre d'affaires annuel réalisé dans l'UE.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3337560" y="1691640"/>
            <a:ext cx="2606040" cy="320040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9525">
            <a:solidFill>
              <a:srgbClr val="D9E1EC"/>
            </a:solidFill>
            <a:prstDash val="solid"/>
          </a:ln>
          <a:effectLst>
            <a:outerShdw sx="100000" sy="100000" kx="0" ky="0" algn="bl" rotWithShape="0" blurRad="50800" dist="12700" dir="5400000">
              <a:srgbClr val="8AA0B4">
                <a:alpha val="22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4206240" y="1965960"/>
            <a:ext cx="868680" cy="868680"/>
          </a:xfrm>
          <a:prstGeom prst="ellipse">
            <a:avLst/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3410" y="2183130"/>
            <a:ext cx="434340" cy="43434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3337560" y="297180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A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Logistique</a:t>
            </a:r>
            <a:endParaRPr lang="en-US" sz="1700" dirty="0"/>
          </a:p>
        </p:txBody>
      </p:sp>
      <p:sp>
        <p:nvSpPr>
          <p:cNvPr id="16" name="Text 11"/>
          <p:cNvSpPr txBox="1"/>
          <p:nvPr/>
        </p:nvSpPr>
        <p:spPr>
          <a:xfrm>
            <a:off x="3566160" y="3429000"/>
            <a:ext cx="2148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Immobilisation et confiscation des produits concernés et des revenus tirés de la transaction.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6126480" y="1691640"/>
            <a:ext cx="2606040" cy="320040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9525">
            <a:solidFill>
              <a:srgbClr val="D9E1EC"/>
            </a:solidFill>
            <a:prstDash val="solid"/>
          </a:ln>
          <a:effectLst>
            <a:outerShdw sx="100000" sy="100000" kx="0" ky="0" algn="bl" rotWithShape="0" blurRad="50800" dist="12700" dir="5400000">
              <a:srgbClr val="8AA0B4">
                <a:alpha val="22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6995160" y="1965960"/>
            <a:ext cx="868680" cy="868680"/>
          </a:xfrm>
          <a:prstGeom prst="ellipse">
            <a:avLst/>
          </a:prstGeom>
          <a:solidFill>
            <a:srgbClr val="00439A"/>
          </a:solidFill>
          <a:ln w="12700">
            <a:solidFill>
              <a:srgbClr val="00439A"/>
            </a:solidFill>
            <a:prstDash val="solid"/>
          </a:ln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12330" y="2183130"/>
            <a:ext cx="434340" cy="43434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6126480" y="297180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A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Commerciale</a:t>
            </a:r>
            <a:endParaRPr lang="en-US" sz="1700" dirty="0"/>
          </a:p>
        </p:txBody>
      </p:sp>
      <p:sp>
        <p:nvSpPr>
          <p:cNvPr id="21" name="Text 15"/>
          <p:cNvSpPr txBox="1"/>
          <p:nvPr/>
        </p:nvSpPr>
        <p:spPr>
          <a:xfrm>
            <a:off x="6355080" y="3429000"/>
            <a:ext cx="2148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Exclusion temporaire (12 mois maximum) des marchés publics et des financements publics.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8915400" y="1691640"/>
            <a:ext cx="2606040" cy="320040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9525">
            <a:solidFill>
              <a:srgbClr val="D9E1EC"/>
            </a:solidFill>
            <a:prstDash val="solid"/>
          </a:ln>
          <a:effectLst>
            <a:outerShdw sx="100000" sy="100000" kx="0" ky="0" algn="bl" rotWithShape="0" blurRad="50800" dist="12700" dir="5400000">
              <a:srgbClr val="8AA0B4">
                <a:alpha val="22000"/>
              </a:srgbClr>
            </a:outerShdw>
          </a:effectLst>
        </p:spPr>
      </p:sp>
      <p:sp>
        <p:nvSpPr>
          <p:cNvPr id="23" name="Shape 17"/>
          <p:cNvSpPr/>
          <p:nvPr/>
        </p:nvSpPr>
        <p:spPr>
          <a:xfrm>
            <a:off x="9784080" y="1965960"/>
            <a:ext cx="868680" cy="868680"/>
          </a:xfrm>
          <a:prstGeom prst="ellipse">
            <a:avLst/>
          </a:prstGeom>
          <a:solidFill>
            <a:srgbClr val="0A2A5E"/>
          </a:solidFill>
          <a:ln w="12700">
            <a:solidFill>
              <a:srgbClr val="0A2A5E"/>
            </a:solidFill>
            <a:prstDash val="solid"/>
          </a:ln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01250" y="2183130"/>
            <a:ext cx="434340" cy="43434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8915400" y="297180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A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Pénale</a:t>
            </a:r>
            <a:endParaRPr lang="en-US" sz="1700" dirty="0"/>
          </a:p>
        </p:txBody>
      </p:sp>
      <p:sp>
        <p:nvSpPr>
          <p:cNvPr id="26" name="Text 19"/>
          <p:cNvSpPr txBox="1"/>
          <p:nvPr/>
        </p:nvSpPr>
        <p:spPr>
          <a:xfrm>
            <a:off x="9144000" y="3429000"/>
            <a:ext cx="2148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Poursuites possibles dans le cadre de la directive (UE) 2024/1203 sur la criminalité environnementale.</a:t>
            </a:r>
            <a:endParaRPr lang="en-US" sz="1200" dirty="0"/>
          </a:p>
        </p:txBody>
      </p:sp>
      <p:sp>
        <p:nvSpPr>
          <p:cNvPr id="27" name="Shape 20"/>
          <p:cNvSpPr/>
          <p:nvPr/>
        </p:nvSpPr>
        <p:spPr>
          <a:xfrm>
            <a:off x="548640" y="5120640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0A2A5E"/>
          </a:solidFill>
          <a:ln w="12700">
            <a:solidFill>
              <a:srgbClr val="0A2A5E"/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822960" y="51206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Taux de contrôle minimaux : </a:t>
            </a:r>
            <a:pPr algn="ctr" indent="0" marL="0">
              <a:buNone/>
            </a:pPr>
            <a:r>
              <a:rPr lang="en-US" sz="135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1 % des opérateurs (risque faible)  ·  3 % (risque standard)  ·  9 % des opérateurs et des quantités (risque élevé).</a:t>
            </a:r>
            <a:endParaRPr lang="en-US" sz="13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38360" y="347472"/>
            <a:ext cx="1965960" cy="43891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RDUE / EUDR  ·  Webinaire CCI Lyon Métropole  ·  24 septembre 2026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698480" y="641908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/ 34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leviers pour réduire la charge</a:t>
            </a:r>
            <a:endParaRPr lang="en-US" sz="2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0058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Bien joué, le RDUE se pilote.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356616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9E1EC"/>
            </a:solidFill>
            <a:prstDash val="solid"/>
          </a:ln>
          <a:effectLst>
            <a:outerShdw sx="100000" sy="100000" kx="0" ky="0" algn="bl" rotWithShape="0" blurRad="50800" dist="12700" dir="5400000">
              <a:srgbClr val="8AA0B4">
                <a:alpha val="2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822960" y="1965960"/>
            <a:ext cx="640080" cy="640080"/>
          </a:xfrm>
          <a:prstGeom prst="ellipse">
            <a:avLst/>
          </a:prstGeom>
          <a:solidFill>
            <a:srgbClr val="00439A"/>
          </a:solidFill>
          <a:ln w="12700">
            <a:solidFill>
              <a:srgbClr val="00439A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980" y="2125980"/>
            <a:ext cx="320040" cy="32004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645920" y="196596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Statut d'opérateur en aval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822960" y="26974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S'appuyer sur la DDR de l'amont plutôt que reconstituer la traçabilité.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4297680" y="1691640"/>
            <a:ext cx="356616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9E1EC"/>
            </a:solidFill>
            <a:prstDash val="solid"/>
          </a:ln>
          <a:effectLst>
            <a:outerShdw sx="100000" sy="100000" kx="0" ky="0" algn="bl" rotWithShape="0" blurRad="50800" dist="12700" dir="5400000">
              <a:srgbClr val="8AA0B4">
                <a:alpha val="22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4572000" y="1965960"/>
            <a:ext cx="640080" cy="640080"/>
          </a:xfrm>
          <a:prstGeom prst="ellipse">
            <a:avLst/>
          </a:prstGeom>
          <a:solidFill>
            <a:srgbClr val="00439A"/>
          </a:solidFill>
          <a:ln w="12700">
            <a:solidFill>
              <a:srgbClr val="00439A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2020" y="2125980"/>
            <a:ext cx="320040" cy="32004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394960" y="196596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Sourcing pays à risque faible</a:t>
            </a:r>
            <a:endParaRPr lang="en-US" sz="1400" dirty="0"/>
          </a:p>
        </p:txBody>
      </p:sp>
      <p:sp>
        <p:nvSpPr>
          <p:cNvPr id="16" name="Text 11"/>
          <p:cNvSpPr txBox="1"/>
          <p:nvPr/>
        </p:nvSpPr>
        <p:spPr>
          <a:xfrm>
            <a:off x="4572000" y="26974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Bascule vers la diligence simplifiée (art. 13).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8046720" y="1691640"/>
            <a:ext cx="356616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9E1EC"/>
            </a:solidFill>
            <a:prstDash val="solid"/>
          </a:ln>
          <a:effectLst>
            <a:outerShdw sx="100000" sy="100000" kx="0" ky="0" algn="bl" rotWithShape="0" blurRad="50800" dist="12700" dir="5400000">
              <a:srgbClr val="8AA0B4">
                <a:alpha val="22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8321040" y="1965960"/>
            <a:ext cx="640080" cy="640080"/>
          </a:xfrm>
          <a:prstGeom prst="ellipse">
            <a:avLst/>
          </a:prstGeom>
          <a:solidFill>
            <a:srgbClr val="00439A"/>
          </a:solidFill>
          <a:ln w="12700">
            <a:solidFill>
              <a:srgbClr val="00439A"/>
            </a:solidFill>
            <a:prstDash val="solid"/>
          </a:ln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1060" y="2125980"/>
            <a:ext cx="320040" cy="32004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9144000" y="196596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Mandataire / mutualisation</a:t>
            </a:r>
            <a:endParaRPr lang="en-US" sz="1400" dirty="0"/>
          </a:p>
        </p:txBody>
      </p:sp>
      <p:sp>
        <p:nvSpPr>
          <p:cNvPr id="21" name="Text 15"/>
          <p:cNvSpPr txBox="1"/>
          <p:nvPr/>
        </p:nvSpPr>
        <p:spPr>
          <a:xfrm>
            <a:off x="8321040" y="26974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Déléguer la diligence (art. 6) ou mutualiser en filière.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548640" y="3794760"/>
            <a:ext cx="356616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9E1EC"/>
            </a:solidFill>
            <a:prstDash val="solid"/>
          </a:ln>
          <a:effectLst>
            <a:outerShdw sx="100000" sy="100000" kx="0" ky="0" algn="bl" rotWithShape="0" blurRad="50800" dist="12700" dir="5400000">
              <a:srgbClr val="8AA0B4">
                <a:alpha val="22000"/>
              </a:srgbClr>
            </a:outerShdw>
          </a:effectLst>
        </p:spPr>
      </p:sp>
      <p:sp>
        <p:nvSpPr>
          <p:cNvPr id="23" name="Shape 17"/>
          <p:cNvSpPr/>
          <p:nvPr/>
        </p:nvSpPr>
        <p:spPr>
          <a:xfrm>
            <a:off x="822960" y="4069080"/>
            <a:ext cx="640080" cy="640080"/>
          </a:xfrm>
          <a:prstGeom prst="ellipse">
            <a:avLst/>
          </a:prstGeom>
          <a:solidFill>
            <a:srgbClr val="00439A"/>
          </a:solidFill>
          <a:ln w="12700">
            <a:solidFill>
              <a:srgbClr val="00439A"/>
            </a:solidFill>
            <a:prstDash val="solid"/>
          </a:ln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2980" y="4229100"/>
            <a:ext cx="320040" cy="32004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1645920" y="406908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Exploiter le calendrier</a:t>
            </a:r>
            <a:endParaRPr lang="en-US" sz="1400" dirty="0"/>
          </a:p>
        </p:txBody>
      </p:sp>
      <p:sp>
        <p:nvSpPr>
          <p:cNvPr id="26" name="Text 19"/>
          <p:cNvSpPr txBox="1"/>
          <p:nvPr/>
        </p:nvSpPr>
        <p:spPr>
          <a:xfrm>
            <a:off x="822960" y="48006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Délai micro/petites entreprises (30/06/2027) ; nouveaux produits (30/12/2027).</a:t>
            </a:r>
            <a:endParaRPr lang="en-US" sz="1200" dirty="0"/>
          </a:p>
        </p:txBody>
      </p:sp>
      <p:sp>
        <p:nvSpPr>
          <p:cNvPr id="27" name="Shape 20"/>
          <p:cNvSpPr/>
          <p:nvPr/>
        </p:nvSpPr>
        <p:spPr>
          <a:xfrm>
            <a:off x="4297680" y="3794760"/>
            <a:ext cx="356616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9E1EC"/>
            </a:solidFill>
            <a:prstDash val="solid"/>
          </a:ln>
          <a:effectLst>
            <a:outerShdw sx="100000" sy="100000" kx="0" ky="0" algn="bl" rotWithShape="0" blurRad="50800" dist="12700" dir="5400000">
              <a:srgbClr val="8AA0B4">
                <a:alpha val="22000"/>
              </a:srgbClr>
            </a:outerShdw>
          </a:effectLst>
        </p:spPr>
      </p:sp>
      <p:sp>
        <p:nvSpPr>
          <p:cNvPr id="28" name="Shape 21"/>
          <p:cNvSpPr/>
          <p:nvPr/>
        </p:nvSpPr>
        <p:spPr>
          <a:xfrm>
            <a:off x="4572000" y="4069080"/>
            <a:ext cx="640080" cy="640080"/>
          </a:xfrm>
          <a:prstGeom prst="ellipse">
            <a:avLst/>
          </a:prstGeom>
          <a:solidFill>
            <a:srgbClr val="00439A"/>
          </a:solidFill>
          <a:ln w="12700">
            <a:solidFill>
              <a:srgbClr val="00439A"/>
            </a:solidFill>
            <a:prstDash val="solid"/>
          </a:ln>
        </p:spPr>
      </p:sp>
      <p:pic>
        <p:nvPicPr>
          <p:cNvPr id="2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32020" y="4229100"/>
            <a:ext cx="320040" cy="320040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5394960" y="406908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Déclaration simplifiée</a:t>
            </a:r>
            <a:endParaRPr lang="en-US" sz="1400" dirty="0"/>
          </a:p>
        </p:txBody>
      </p:sp>
      <p:sp>
        <p:nvSpPr>
          <p:cNvPr id="31" name="Text 23"/>
          <p:cNvSpPr txBox="1"/>
          <p:nvPr/>
        </p:nvSpPr>
        <p:spPr>
          <a:xfrm>
            <a:off x="4572000" y="48006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Déclaration unique pour les micro/petits producteurs de pays à risque faible.</a:t>
            </a:r>
            <a:endParaRPr lang="en-US" sz="1200" dirty="0"/>
          </a:p>
        </p:txBody>
      </p:sp>
      <p:sp>
        <p:nvSpPr>
          <p:cNvPr id="32" name="Shape 24"/>
          <p:cNvSpPr/>
          <p:nvPr/>
        </p:nvSpPr>
        <p:spPr>
          <a:xfrm>
            <a:off x="8046720" y="3794760"/>
            <a:ext cx="356616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9E1EC"/>
            </a:solidFill>
            <a:prstDash val="solid"/>
          </a:ln>
          <a:effectLst>
            <a:outerShdw sx="100000" sy="100000" kx="0" ky="0" algn="bl" rotWithShape="0" blurRad="50800" dist="12700" dir="5400000">
              <a:srgbClr val="8AA0B4">
                <a:alpha val="22000"/>
              </a:srgbClr>
            </a:outerShdw>
          </a:effectLst>
        </p:spPr>
      </p:sp>
      <p:sp>
        <p:nvSpPr>
          <p:cNvPr id="33" name="Shape 25"/>
          <p:cNvSpPr/>
          <p:nvPr/>
        </p:nvSpPr>
        <p:spPr>
          <a:xfrm>
            <a:off x="8321040" y="4069080"/>
            <a:ext cx="640080" cy="640080"/>
          </a:xfrm>
          <a:prstGeom prst="ellipse">
            <a:avLst/>
          </a:prstGeom>
          <a:solidFill>
            <a:srgbClr val="00439A"/>
          </a:solidFill>
          <a:ln w="12700">
            <a:solidFill>
              <a:srgbClr val="00439A"/>
            </a:solidFill>
            <a:prstDash val="solid"/>
          </a:ln>
        </p:spPr>
      </p:sp>
      <p:pic>
        <p:nvPicPr>
          <p:cNvPr id="3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81060" y="4229100"/>
            <a:ext cx="320040" cy="320040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9144000" y="406908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Transfert par contrat</a:t>
            </a:r>
            <a:endParaRPr lang="en-US" sz="1400" dirty="0"/>
          </a:p>
        </p:txBody>
      </p:sp>
      <p:sp>
        <p:nvSpPr>
          <p:cNvPr id="36" name="Text 27"/>
          <p:cNvSpPr txBox="1"/>
          <p:nvPr/>
        </p:nvSpPr>
        <p:spPr>
          <a:xfrm>
            <a:off x="8321040" y="48006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Garanties, indemnisation, résiliation portées par les fournisseurs.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38360" y="347472"/>
            <a:ext cx="1965960" cy="43891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RDUE / EUDR  ·  Webinaire CCI Lyon Métropole  ·  24 septembre 2026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698480" y="641908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/ 34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Deux profils, deux stratégies</a:t>
            </a:r>
            <a:endParaRPr lang="en-US" sz="2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0058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exemples d'entreprises ayant structuré leur SDR (profils génériques).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544068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9525">
            <a:solidFill>
              <a:srgbClr val="D9E1EC"/>
            </a:solidFill>
            <a:prstDash val="solid"/>
          </a:ln>
          <a:effectLst>
            <a:outerShdw sx="100000" sy="100000" kx="0" ky="0" algn="bl" rotWithShape="0" blurRad="50800" dist="12700" dir="5400000">
              <a:srgbClr val="8AA0B4">
                <a:alpha val="2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1691640"/>
            <a:ext cx="5440680" cy="914400"/>
          </a:xfrm>
          <a:prstGeom prst="roundRect">
            <a:avLst>
              <a:gd name="adj" fmla="val 8000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48640" y="2331720"/>
            <a:ext cx="5440680" cy="274320"/>
          </a:xfrm>
          <a:prstGeom prst="rect">
            <a:avLst/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920240"/>
            <a:ext cx="457200" cy="4572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463040" y="173736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négociant en invendus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1463040" y="2176272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6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déstockage · catalogue multi-produits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822960" y="278892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fort et compliqué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822960" y="310896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Sourcing opportuniste, traçabilité amont quasi impossible à reconstituer.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822960" y="379476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A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Stratégie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822960" y="4114800"/>
            <a:ext cx="4937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Statut d'aval : s'appuyer sur les DDR existantes, exiger le n° à l'achat.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Mobiliser les exclusions (Y132, Y133, Y129).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Filtrer le sourcing en amont.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6172200" y="1691640"/>
            <a:ext cx="544068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9525">
            <a:solidFill>
              <a:srgbClr val="D9E1EC"/>
            </a:solidFill>
            <a:prstDash val="solid"/>
          </a:ln>
          <a:effectLst>
            <a:outerShdw sx="100000" sy="100000" kx="0" ky="0" algn="bl" rotWithShape="0" blurRad="50800" dist="12700" dir="5400000">
              <a:srgbClr val="8AA0B4">
                <a:alpha val="22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6172200" y="1691640"/>
            <a:ext cx="5440680" cy="914400"/>
          </a:xfrm>
          <a:prstGeom prst="roundRect">
            <a:avLst>
              <a:gd name="adj" fmla="val 8000"/>
            </a:avLst>
          </a:prstGeom>
          <a:solidFill>
            <a:srgbClr val="0A2A5E"/>
          </a:solidFill>
          <a:ln w="12700">
            <a:solidFill>
              <a:srgbClr val="0A2A5E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172200" y="2331720"/>
            <a:ext cx="5440680" cy="274320"/>
          </a:xfrm>
          <a:prstGeom prst="rect">
            <a:avLst/>
          </a:prstGeom>
          <a:solidFill>
            <a:srgbClr val="0A2A5E"/>
          </a:solidFill>
          <a:ln w="12700">
            <a:solidFill>
              <a:srgbClr val="0A2A5E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1920240"/>
            <a:ext cx="457200" cy="45720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7086600" y="173736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L'industriel à diligence mature</a:t>
            </a:r>
            <a:endParaRPr lang="en-US" sz="1700" dirty="0"/>
          </a:p>
        </p:txBody>
      </p:sp>
      <p:sp>
        <p:nvSpPr>
          <p:cNvPr id="22" name="Text 17"/>
          <p:cNvSpPr txBox="1"/>
          <p:nvPr/>
        </p:nvSpPr>
        <p:spPr>
          <a:xfrm>
            <a:off x="7086600" y="2176272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6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filière caoutchouc · chaîne longue</a:t>
            </a:r>
            <a:endParaRPr lang="en-US" sz="1100" dirty="0"/>
          </a:p>
        </p:txBody>
      </p:sp>
      <p:sp>
        <p:nvSpPr>
          <p:cNvPr id="23" name="Text 18"/>
          <p:cNvSpPr txBox="1"/>
          <p:nvPr/>
        </p:nvSpPr>
        <p:spPr>
          <a:xfrm>
            <a:off x="6446520" y="278892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A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maîtrisable — enjeu d'échelle</a:t>
            </a:r>
            <a:endParaRPr lang="en-US" sz="1300" dirty="0"/>
          </a:p>
        </p:txBody>
      </p:sp>
      <p:sp>
        <p:nvSpPr>
          <p:cNvPr id="24" name="Text 19"/>
          <p:cNvSpPr txBox="1"/>
          <p:nvPr/>
        </p:nvSpPr>
        <p:spPr>
          <a:xfrm>
            <a:off x="6446520" y="310896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Diligence déjà structurée. Point dur : les petits planteurs (géolocalisation à grande échelle).</a:t>
            </a:r>
            <a:endParaRPr lang="en-US" sz="1200" dirty="0"/>
          </a:p>
        </p:txBody>
      </p:sp>
      <p:sp>
        <p:nvSpPr>
          <p:cNvPr id="25" name="Text 20"/>
          <p:cNvSpPr txBox="1"/>
          <p:nvPr/>
        </p:nvSpPr>
        <p:spPr>
          <a:xfrm>
            <a:off x="6446520" y="379476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A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Stratégie</a:t>
            </a:r>
            <a:endParaRPr lang="en-US" sz="1300" dirty="0"/>
          </a:p>
        </p:txBody>
      </p:sp>
      <p:sp>
        <p:nvSpPr>
          <p:cNvPr id="26" name="Text 21"/>
          <p:cNvSpPr txBox="1"/>
          <p:nvPr/>
        </p:nvSpPr>
        <p:spPr>
          <a:xfrm>
            <a:off x="6446520" y="4114800"/>
            <a:ext cx="4937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Dossier de preuve opposable.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Sécuriser la donnée des petits producteurs.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Valoriser (ESG / CSRD) et cascader par contrat.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38360" y="347472"/>
            <a:ext cx="1965960" cy="43891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RDUE / EUDR  ·  Webinaire CCI Lyon Métropole  ·  24 septembre 2026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698480" y="641908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/ 34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L'escalier de conformité</a:t>
            </a:r>
            <a:endParaRPr lang="en-US" sz="2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0058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Quatre marches, dans cet ordre : on ne connecte pas les outils avant d'avoir cartographié les flux.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48640" y="5532120"/>
            <a:ext cx="2606040" cy="457200"/>
          </a:xfrm>
          <a:prstGeom prst="roundRect">
            <a:avLst>
              <a:gd name="adj" fmla="val 10000"/>
            </a:avLst>
          </a:prstGeom>
          <a:solidFill>
            <a:srgbClr val="00439A"/>
          </a:solidFill>
          <a:ln w="12700">
            <a:solidFill>
              <a:srgbClr val="00439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286000" y="544068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691640"/>
            <a:ext cx="2606040" cy="3730752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9525">
            <a:solidFill>
              <a:srgbClr val="D9E1EC"/>
            </a:solidFill>
            <a:prstDash val="solid"/>
          </a:ln>
          <a:effectLst>
            <a:outerShdw sx="100000" sy="100000" kx="0" ky="0" algn="bl" rotWithShape="0" blurRad="50800" dist="12700" dir="5400000">
              <a:srgbClr val="8AA0B4">
                <a:alpha val="2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77240" y="1920240"/>
            <a:ext cx="640080" cy="640080"/>
          </a:xfrm>
          <a:prstGeom prst="ellipse">
            <a:avLst/>
          </a:prstGeom>
          <a:solidFill>
            <a:srgbClr val="00439A"/>
          </a:solidFill>
          <a:ln w="12700">
            <a:solidFill>
              <a:srgbClr val="00439A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" y="2080260"/>
            <a:ext cx="320040" cy="32004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77240" y="26974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A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Cartographier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777240" y="3108960"/>
            <a:ext cx="2194560" cy="2221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flash de vos flux : quels produits (codes SH), quels pays, quel statut (amont, aval, commerçant) ?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3337560" y="5074920"/>
            <a:ext cx="2606040" cy="914400"/>
          </a:xfrm>
          <a:prstGeom prst="roundRect">
            <a:avLst>
              <a:gd name="adj" fmla="val 5000"/>
            </a:avLst>
          </a:prstGeom>
          <a:solidFill>
            <a:srgbClr val="00439A"/>
          </a:solidFill>
          <a:ln w="12700">
            <a:solidFill>
              <a:srgbClr val="00439A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074920" y="544068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600" dirty="0"/>
          </a:p>
        </p:txBody>
      </p:sp>
      <p:sp>
        <p:nvSpPr>
          <p:cNvPr id="16" name="Shape 12"/>
          <p:cNvSpPr/>
          <p:nvPr/>
        </p:nvSpPr>
        <p:spPr>
          <a:xfrm>
            <a:off x="3337560" y="1691640"/>
            <a:ext cx="2606040" cy="3273552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9525">
            <a:solidFill>
              <a:srgbClr val="D9E1EC"/>
            </a:solidFill>
            <a:prstDash val="solid"/>
          </a:ln>
          <a:effectLst>
            <a:outerShdw sx="100000" sy="100000" kx="0" ky="0" algn="bl" rotWithShape="0" blurRad="50800" dist="12700" dir="5400000">
              <a:srgbClr val="8AA0B4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3566160" y="1920240"/>
            <a:ext cx="640080" cy="640080"/>
          </a:xfrm>
          <a:prstGeom prst="ellipse">
            <a:avLst/>
          </a:prstGeom>
          <a:solidFill>
            <a:srgbClr val="00439A"/>
          </a:solidFill>
          <a:ln w="12700">
            <a:solidFill>
              <a:srgbClr val="00439A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26180" y="2080260"/>
            <a:ext cx="320040" cy="32004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3566160" y="26974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A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Structurer</a:t>
            </a:r>
            <a:endParaRPr lang="en-US" sz="1700" dirty="0"/>
          </a:p>
        </p:txBody>
      </p:sp>
      <p:sp>
        <p:nvSpPr>
          <p:cNvPr id="20" name="Text 15"/>
          <p:cNvSpPr txBox="1"/>
          <p:nvPr/>
        </p:nvSpPr>
        <p:spPr>
          <a:xfrm>
            <a:off x="3566160" y="3108960"/>
            <a:ext cx="2194560" cy="1764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Bâtir le SDR : procédures, référent, gouvernance, clauses fournisseurs, réexamen annuel.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6126480" y="4617720"/>
            <a:ext cx="2606040" cy="1371600"/>
          </a:xfrm>
          <a:prstGeom prst="roundRect">
            <a:avLst>
              <a:gd name="adj" fmla="val 3333"/>
            </a:avLst>
          </a:prstGeom>
          <a:solidFill>
            <a:srgbClr val="00439A"/>
          </a:solidFill>
          <a:ln w="12700">
            <a:solidFill>
              <a:srgbClr val="00439A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7863840" y="544068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600" dirty="0"/>
          </a:p>
        </p:txBody>
      </p:sp>
      <p:sp>
        <p:nvSpPr>
          <p:cNvPr id="23" name="Shape 18"/>
          <p:cNvSpPr/>
          <p:nvPr/>
        </p:nvSpPr>
        <p:spPr>
          <a:xfrm>
            <a:off x="6126480" y="1691640"/>
            <a:ext cx="2606040" cy="2816352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9525">
            <a:solidFill>
              <a:srgbClr val="D9E1EC"/>
            </a:solidFill>
            <a:prstDash val="solid"/>
          </a:ln>
          <a:effectLst>
            <a:outerShdw sx="100000" sy="100000" kx="0" ky="0" algn="bl" rotWithShape="0" blurRad="50800" dist="12700" dir="5400000">
              <a:srgbClr val="8AA0B4">
                <a:alpha val="22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355080" y="1920240"/>
            <a:ext cx="640080" cy="640080"/>
          </a:xfrm>
          <a:prstGeom prst="ellipse">
            <a:avLst/>
          </a:prstGeom>
          <a:solidFill>
            <a:srgbClr val="00439A"/>
          </a:solidFill>
          <a:ln w="12700">
            <a:solidFill>
              <a:srgbClr val="00439A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15100" y="2080260"/>
            <a:ext cx="320040" cy="320040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6355080" y="26974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A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Documenter</a:t>
            </a:r>
            <a:endParaRPr lang="en-US" sz="1700" dirty="0"/>
          </a:p>
        </p:txBody>
      </p:sp>
      <p:sp>
        <p:nvSpPr>
          <p:cNvPr id="27" name="Text 21"/>
          <p:cNvSpPr txBox="1"/>
          <p:nvPr/>
        </p:nvSpPr>
        <p:spPr>
          <a:xfrm>
            <a:off x="6355080" y="3108960"/>
            <a:ext cx="219456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traçabilité : géolocalisation, preuves, archivage 5 ans des évaluations et mesures d'atténuation.</a:t>
            </a:r>
            <a:endParaRPr lang="en-US" sz="1250" dirty="0"/>
          </a:p>
        </p:txBody>
      </p:sp>
      <p:sp>
        <p:nvSpPr>
          <p:cNvPr id="28" name="Shape 22"/>
          <p:cNvSpPr/>
          <p:nvPr/>
        </p:nvSpPr>
        <p:spPr>
          <a:xfrm>
            <a:off x="8915400" y="4160520"/>
            <a:ext cx="2606040" cy="1828800"/>
          </a:xfrm>
          <a:prstGeom prst="roundRect">
            <a:avLst>
              <a:gd name="adj" fmla="val 2500"/>
            </a:avLst>
          </a:prstGeom>
          <a:solidFill>
            <a:srgbClr val="00439A"/>
          </a:solidFill>
          <a:ln w="12700">
            <a:solidFill>
              <a:srgbClr val="00439A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10652760" y="544068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600" dirty="0"/>
          </a:p>
        </p:txBody>
      </p:sp>
      <p:sp>
        <p:nvSpPr>
          <p:cNvPr id="30" name="Shape 24"/>
          <p:cNvSpPr/>
          <p:nvPr/>
        </p:nvSpPr>
        <p:spPr>
          <a:xfrm>
            <a:off x="8915400" y="1691640"/>
            <a:ext cx="2606040" cy="2359152"/>
          </a:xfrm>
          <a:prstGeom prst="roundRect">
            <a:avLst>
              <a:gd name="adj" fmla="val 3101"/>
            </a:avLst>
          </a:prstGeom>
          <a:solidFill>
            <a:srgbClr val="FFFFFF"/>
          </a:solidFill>
          <a:ln w="9525">
            <a:solidFill>
              <a:srgbClr val="D9E1EC"/>
            </a:solidFill>
            <a:prstDash val="solid"/>
          </a:ln>
          <a:effectLst>
            <a:outerShdw sx="100000" sy="100000" kx="0" ky="0" algn="bl" rotWithShape="0" blurRad="50800" dist="12700" dir="5400000">
              <a:srgbClr val="8AA0B4">
                <a:alpha val="22000"/>
              </a:srgbClr>
            </a:outerShdw>
          </a:effectLst>
        </p:spPr>
      </p:sp>
      <p:sp>
        <p:nvSpPr>
          <p:cNvPr id="31" name="Shape 25"/>
          <p:cNvSpPr/>
          <p:nvPr/>
        </p:nvSpPr>
        <p:spPr>
          <a:xfrm>
            <a:off x="9144000" y="1920240"/>
            <a:ext cx="640080" cy="640080"/>
          </a:xfrm>
          <a:prstGeom prst="ellipse">
            <a:avLst/>
          </a:prstGeom>
          <a:solidFill>
            <a:srgbClr val="00439A"/>
          </a:solidFill>
          <a:ln w="12700">
            <a:solidFill>
              <a:srgbClr val="00439A"/>
            </a:solidFill>
            <a:prstDash val="solid"/>
          </a:ln>
        </p:spPr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04020" y="2080260"/>
            <a:ext cx="320040" cy="320040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9144000" y="26974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A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Connecter</a:t>
            </a:r>
            <a:endParaRPr lang="en-US" sz="1700" dirty="0"/>
          </a:p>
        </p:txBody>
      </p:sp>
      <p:sp>
        <p:nvSpPr>
          <p:cNvPr id="34" name="Text 27"/>
          <p:cNvSpPr txBox="1"/>
          <p:nvPr/>
        </p:nvSpPr>
        <p:spPr>
          <a:xfrm>
            <a:off x="9144000" y="3108960"/>
            <a:ext cx="219456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accès : EORI, comptes EU Login, enregistrement dans le système d'information, codes douaniers.</a:t>
            </a:r>
            <a:endParaRPr lang="en-US" sz="12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38360" y="347472"/>
            <a:ext cx="1965960" cy="43891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RDUE / EUDR  ·  Webinaire CCI Lyon Métropole  ·  24 septembre 2026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698480" y="641908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 / 34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conseils de l'experte</a:t>
            </a:r>
            <a:endParaRPr lang="en-US" sz="2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0058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Anticiper, archiver, se faire accompagner.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356616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9E1EC"/>
            </a:solidFill>
            <a:prstDash val="solid"/>
          </a:ln>
          <a:effectLst>
            <a:outerShdw sx="100000" sy="100000" kx="0" ky="0" algn="bl" rotWithShape="0" blurRad="50800" dist="12700" dir="5400000">
              <a:srgbClr val="8AA0B4">
                <a:alpha val="2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822960" y="1965960"/>
            <a:ext cx="640080" cy="640080"/>
          </a:xfrm>
          <a:prstGeom prst="ellipse">
            <a:avLst/>
          </a:prstGeom>
          <a:solidFill>
            <a:srgbClr val="00439A"/>
          </a:solidFill>
          <a:ln w="12700">
            <a:solidFill>
              <a:srgbClr val="00439A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980" y="2125980"/>
            <a:ext cx="320040" cy="32004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645920" y="196596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Anticiper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822960" y="26974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Tester la déclaration en ligne dès maintenant sur le système d'information ; faire un dépôt à blanc sur une référence simple.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4297680" y="1691640"/>
            <a:ext cx="356616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9E1EC"/>
            </a:solidFill>
            <a:prstDash val="solid"/>
          </a:ln>
          <a:effectLst>
            <a:outerShdw sx="100000" sy="100000" kx="0" ky="0" algn="bl" rotWithShape="0" blurRad="50800" dist="12700" dir="5400000">
              <a:srgbClr val="8AA0B4">
                <a:alpha val="22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4572000" y="1965960"/>
            <a:ext cx="640080" cy="640080"/>
          </a:xfrm>
          <a:prstGeom prst="ellipse">
            <a:avLst/>
          </a:prstGeom>
          <a:solidFill>
            <a:srgbClr val="00439A"/>
          </a:solidFill>
          <a:ln w="12700">
            <a:solidFill>
              <a:srgbClr val="00439A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2020" y="2125980"/>
            <a:ext cx="320040" cy="32004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394960" y="196596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Archiver</a:t>
            </a:r>
            <a:endParaRPr lang="en-US" sz="1400" dirty="0"/>
          </a:p>
        </p:txBody>
      </p:sp>
      <p:sp>
        <p:nvSpPr>
          <p:cNvPr id="16" name="Text 11"/>
          <p:cNvSpPr txBox="1"/>
          <p:nvPr/>
        </p:nvSpPr>
        <p:spPr>
          <a:xfrm>
            <a:off x="4572000" y="26974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Conserver registres, évaluations de risque et preuves de géolocalisation pendant 5 ans.</a:t>
            </a:r>
            <a:endParaRPr lang="en-US" sz="1150" dirty="0"/>
          </a:p>
        </p:txBody>
      </p:sp>
      <p:sp>
        <p:nvSpPr>
          <p:cNvPr id="17" name="Shape 12"/>
          <p:cNvSpPr/>
          <p:nvPr/>
        </p:nvSpPr>
        <p:spPr>
          <a:xfrm>
            <a:off x="8046720" y="1691640"/>
            <a:ext cx="356616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9E1EC"/>
            </a:solidFill>
            <a:prstDash val="solid"/>
          </a:ln>
          <a:effectLst>
            <a:outerShdw sx="100000" sy="100000" kx="0" ky="0" algn="bl" rotWithShape="0" blurRad="50800" dist="12700" dir="5400000">
              <a:srgbClr val="8AA0B4">
                <a:alpha val="22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8321040" y="1965960"/>
            <a:ext cx="640080" cy="640080"/>
          </a:xfrm>
          <a:prstGeom prst="ellipse">
            <a:avLst/>
          </a:prstGeom>
          <a:solidFill>
            <a:srgbClr val="00439A"/>
          </a:solidFill>
          <a:ln w="12700">
            <a:solidFill>
              <a:srgbClr val="00439A"/>
            </a:solidFill>
            <a:prstDash val="solid"/>
          </a:ln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1060" y="2125980"/>
            <a:ext cx="320040" cy="32004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9144000" y="196596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Auditer vos nomenclatures</a:t>
            </a:r>
            <a:endParaRPr lang="en-US" sz="1400" dirty="0"/>
          </a:p>
        </p:txBody>
      </p:sp>
      <p:sp>
        <p:nvSpPr>
          <p:cNvPr id="21" name="Text 15"/>
          <p:cNvSpPr txBox="1"/>
          <p:nvPr/>
        </p:nvSpPr>
        <p:spPr>
          <a:xfrm>
            <a:off x="8321040" y="26974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Extraire vos codes SH importés et exportés sur 12 mois et les confronter à l'annexe I.</a:t>
            </a:r>
            <a:endParaRPr lang="en-US" sz="1150" dirty="0"/>
          </a:p>
        </p:txBody>
      </p:sp>
      <p:sp>
        <p:nvSpPr>
          <p:cNvPr id="22" name="Shape 16"/>
          <p:cNvSpPr/>
          <p:nvPr/>
        </p:nvSpPr>
        <p:spPr>
          <a:xfrm>
            <a:off x="548640" y="3794760"/>
            <a:ext cx="356616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9E1EC"/>
            </a:solidFill>
            <a:prstDash val="solid"/>
          </a:ln>
          <a:effectLst>
            <a:outerShdw sx="100000" sy="100000" kx="0" ky="0" algn="bl" rotWithShape="0" blurRad="50800" dist="12700" dir="5400000">
              <a:srgbClr val="8AA0B4">
                <a:alpha val="22000"/>
              </a:srgbClr>
            </a:outerShdw>
          </a:effectLst>
        </p:spPr>
      </p:sp>
      <p:sp>
        <p:nvSpPr>
          <p:cNvPr id="23" name="Shape 17"/>
          <p:cNvSpPr/>
          <p:nvPr/>
        </p:nvSpPr>
        <p:spPr>
          <a:xfrm>
            <a:off x="822960" y="4069080"/>
            <a:ext cx="640080" cy="640080"/>
          </a:xfrm>
          <a:prstGeom prst="ellipse">
            <a:avLst/>
          </a:prstGeom>
          <a:solidFill>
            <a:srgbClr val="00439A"/>
          </a:solidFill>
          <a:ln w="12700">
            <a:solidFill>
              <a:srgbClr val="00439A"/>
            </a:solidFill>
            <a:prstDash val="solid"/>
          </a:ln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2980" y="4229100"/>
            <a:ext cx="320040" cy="32004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1645920" y="406908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Préparer EU Login</a:t>
            </a:r>
            <a:endParaRPr lang="en-US" sz="1400" dirty="0"/>
          </a:p>
        </p:txBody>
      </p:sp>
      <p:sp>
        <p:nvSpPr>
          <p:cNvPr id="26" name="Text 19"/>
          <p:cNvSpPr txBox="1"/>
          <p:nvPr/>
        </p:nvSpPr>
        <p:spPr>
          <a:xfrm>
            <a:off x="822960" y="48006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Créer vos comptes et enregistrer l'entreprise pour accéder au système d'information.</a:t>
            </a:r>
            <a:endParaRPr lang="en-US" sz="1150" dirty="0"/>
          </a:p>
        </p:txBody>
      </p:sp>
      <p:sp>
        <p:nvSpPr>
          <p:cNvPr id="27" name="Shape 20"/>
          <p:cNvSpPr/>
          <p:nvPr/>
        </p:nvSpPr>
        <p:spPr>
          <a:xfrm>
            <a:off x="4297680" y="3794760"/>
            <a:ext cx="356616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9E1EC"/>
            </a:solidFill>
            <a:prstDash val="solid"/>
          </a:ln>
          <a:effectLst>
            <a:outerShdw sx="100000" sy="100000" kx="0" ky="0" algn="bl" rotWithShape="0" blurRad="50800" dist="12700" dir="5400000">
              <a:srgbClr val="8AA0B4">
                <a:alpha val="22000"/>
              </a:srgbClr>
            </a:outerShdw>
          </a:effectLst>
        </p:spPr>
      </p:sp>
      <p:sp>
        <p:nvSpPr>
          <p:cNvPr id="28" name="Shape 21"/>
          <p:cNvSpPr/>
          <p:nvPr/>
        </p:nvSpPr>
        <p:spPr>
          <a:xfrm>
            <a:off x="4572000" y="4069080"/>
            <a:ext cx="640080" cy="640080"/>
          </a:xfrm>
          <a:prstGeom prst="ellipse">
            <a:avLst/>
          </a:prstGeom>
          <a:solidFill>
            <a:srgbClr val="00439A"/>
          </a:solidFill>
          <a:ln w="12700">
            <a:solidFill>
              <a:srgbClr val="00439A"/>
            </a:solidFill>
            <a:prstDash val="solid"/>
          </a:ln>
        </p:spPr>
      </p:sp>
      <p:pic>
        <p:nvPicPr>
          <p:cNvPr id="2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32020" y="4229100"/>
            <a:ext cx="320040" cy="320040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5394960" y="406908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Sécuriser la géolocalisation</a:t>
            </a:r>
            <a:endParaRPr lang="en-US" sz="1400" dirty="0"/>
          </a:p>
        </p:txBody>
      </p:sp>
      <p:sp>
        <p:nvSpPr>
          <p:cNvPr id="31" name="Text 23"/>
          <p:cNvSpPr txBox="1"/>
          <p:nvPr/>
        </p:nvSpPr>
        <p:spPr>
          <a:xfrm>
            <a:off x="4572000" y="48006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Obtenir les données de vos fournisseurs étrangers — indispensables à la DDR.</a:t>
            </a:r>
            <a:endParaRPr lang="en-US" sz="1150" dirty="0"/>
          </a:p>
        </p:txBody>
      </p:sp>
      <p:sp>
        <p:nvSpPr>
          <p:cNvPr id="32" name="Shape 24"/>
          <p:cNvSpPr/>
          <p:nvPr/>
        </p:nvSpPr>
        <p:spPr>
          <a:xfrm>
            <a:off x="8046720" y="3794760"/>
            <a:ext cx="356616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9E1EC"/>
            </a:solidFill>
            <a:prstDash val="solid"/>
          </a:ln>
          <a:effectLst>
            <a:outerShdw sx="100000" sy="100000" kx="0" ky="0" algn="bl" rotWithShape="0" blurRad="50800" dist="12700" dir="5400000">
              <a:srgbClr val="8AA0B4">
                <a:alpha val="22000"/>
              </a:srgbClr>
            </a:outerShdw>
          </a:effectLst>
        </p:spPr>
      </p:sp>
      <p:sp>
        <p:nvSpPr>
          <p:cNvPr id="33" name="Shape 25"/>
          <p:cNvSpPr/>
          <p:nvPr/>
        </p:nvSpPr>
        <p:spPr>
          <a:xfrm>
            <a:off x="8321040" y="4069080"/>
            <a:ext cx="640080" cy="640080"/>
          </a:xfrm>
          <a:prstGeom prst="ellipse">
            <a:avLst/>
          </a:prstGeom>
          <a:solidFill>
            <a:srgbClr val="00439A"/>
          </a:solidFill>
          <a:ln w="12700">
            <a:solidFill>
              <a:srgbClr val="00439A"/>
            </a:solidFill>
            <a:prstDash val="solid"/>
          </a:ln>
        </p:spPr>
      </p:sp>
      <p:pic>
        <p:nvPicPr>
          <p:cNvPr id="3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81060" y="4229100"/>
            <a:ext cx="320040" cy="320040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9144000" y="406908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faire accompagner</a:t>
            </a:r>
            <a:endParaRPr lang="en-US" sz="1400" dirty="0"/>
          </a:p>
        </p:txBody>
      </p:sp>
      <p:sp>
        <p:nvSpPr>
          <p:cNvPr id="36" name="Text 27"/>
          <p:cNvSpPr txBox="1"/>
          <p:nvPr/>
        </p:nvSpPr>
        <p:spPr>
          <a:xfrm>
            <a:off x="8321040" y="48006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Ministères (fond, analyse de risque) · Pôle d'action économique des douanes (formalités) · CCI.</a:t>
            </a:r>
            <a:endParaRPr lang="en-US" sz="11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38360" y="347472"/>
            <a:ext cx="1965960" cy="43891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RDUE / EUDR  ·  Webinaire CCI Lyon Métropole  ·  24 septembre 2026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698480" y="641908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/ 34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conformité en 3 niveaux</a:t>
            </a:r>
            <a:endParaRPr lang="en-US" sz="2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0058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synthèse : du produit à la déclaration parfaite. Chaque niveau s'appuie sur le précédent.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1981048" y="1737360"/>
            <a:ext cx="8229600" cy="1143000"/>
          </a:xfrm>
          <a:prstGeom prst="roundRect">
            <a:avLst>
              <a:gd name="adj" fmla="val 6400"/>
            </a:avLst>
          </a:prstGeom>
          <a:solidFill>
            <a:srgbClr val="1E8E5A"/>
          </a:solidFill>
          <a:ln w="12700">
            <a:solidFill>
              <a:srgbClr val="1E8E5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255368" y="18745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produit conforme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2346808" y="2240280"/>
            <a:ext cx="7498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0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Risque nul ou négligeable : zéro déforestation après le 31/12/2020 et légalité du pays de production.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2895448" y="3063240"/>
            <a:ext cx="6400800" cy="1143000"/>
          </a:xfrm>
          <a:prstGeom prst="roundRect">
            <a:avLst>
              <a:gd name="adj" fmla="val 6400"/>
            </a:avLst>
          </a:prstGeom>
          <a:solidFill>
            <a:srgbClr val="00439A"/>
          </a:solidFill>
          <a:ln w="12700">
            <a:solidFill>
              <a:srgbClr val="00439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169768" y="320040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système documenté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3261208" y="3566160"/>
            <a:ext cx="5669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0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Preuves géolocalisées, DDR enregistrée dans le système d'information, évaluations et mesures archivées 5 ans.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3809848" y="4389120"/>
            <a:ext cx="4572000" cy="1143000"/>
          </a:xfrm>
          <a:prstGeom prst="roundRect">
            <a:avLst>
              <a:gd name="adj" fmla="val 6400"/>
            </a:avLst>
          </a:prstGeom>
          <a:solidFill>
            <a:srgbClr val="0A2A5E"/>
          </a:solidFill>
          <a:ln w="12700">
            <a:solidFill>
              <a:srgbClr val="0A2A5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084168" y="452628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déclaration parfaite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4175608" y="4892040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0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Liaison sans faille entre le n° de DDR et le code douanier : C716, C717 ou code Y.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57607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E600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Tout ce qui précède ne vaut que par la justesse de cette dernière ligne — la base, c'est la donnée amont.</a:t>
            </a:r>
            <a:endParaRPr lang="en-US" sz="13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38360" y="347472"/>
            <a:ext cx="1965960" cy="43891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RDUE / EUDR  ·  Webinaire CCI Lyon Métropole  ·  24 septembre 2026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698480" y="641908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 / 34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Vérifions ensemble : 3 questions</a:t>
            </a:r>
            <a:endParaRPr lang="en-US" sz="2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0058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Sondage dans le chat, puis correction.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9525">
            <a:solidFill>
              <a:srgbClr val="D9E1EC"/>
            </a:solidFill>
            <a:prstDash val="solid"/>
          </a:ln>
          <a:effectLst>
            <a:outerShdw sx="100000" sy="100000" kx="0" ky="0" algn="bl" rotWithShape="0" blurRad="50800" dist="12700" dir="5400000">
              <a:srgbClr val="8AA0B4">
                <a:alpha val="2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77240" y="2075688"/>
            <a:ext cx="502920" cy="457200"/>
          </a:xfrm>
          <a:prstGeom prst="roundRect">
            <a:avLst>
              <a:gd name="adj" fmla="val 100000"/>
            </a:avLst>
          </a:prstGeom>
          <a:solidFill>
            <a:srgbClr val="0A2A5E"/>
          </a:solidFill>
          <a:ln w="12700">
            <a:solidFill>
              <a:srgbClr val="0A2A5E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2075688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1463040" y="1828800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produit de l'annexe I fabriqué le 12 mars 2023 : quel code portez-vous en douane ?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1463040" y="2331720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C716 + n° de DDR    B. Y132    C. Y129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869680" y="2075688"/>
            <a:ext cx="2514600" cy="457200"/>
          </a:xfrm>
          <a:prstGeom prst="roundRect">
            <a:avLst>
              <a:gd name="adj" fmla="val 100000"/>
            </a:avLst>
          </a:prstGeom>
          <a:solidFill>
            <a:srgbClr val="1E8E5A"/>
          </a:solidFill>
          <a:ln w="12700">
            <a:solidFill>
              <a:srgbClr val="1E8E5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869680" y="2075688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Y132 — fabriqué avant le 29/06/2023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48640" y="310896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9525">
            <a:solidFill>
              <a:srgbClr val="D9E1EC"/>
            </a:solidFill>
            <a:prstDash val="solid"/>
          </a:ln>
          <a:effectLst>
            <a:outerShdw sx="100000" sy="100000" kx="0" ky="0" algn="bl" rotWithShape="0" blurRad="50800" dist="12700" dir="5400000">
              <a:srgbClr val="8AA0B4">
                <a:alpha val="2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777240" y="3493008"/>
            <a:ext cx="502920" cy="457200"/>
          </a:xfrm>
          <a:prstGeom prst="roundRect">
            <a:avLst>
              <a:gd name="adj" fmla="val 100000"/>
            </a:avLst>
          </a:prstGeom>
          <a:solidFill>
            <a:srgbClr val="0A2A5E"/>
          </a:solidFill>
          <a:ln w="12700">
            <a:solidFill>
              <a:srgbClr val="0A2A5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77240" y="3493008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1463040" y="3246120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RDUE s'applique-t-il aux exportations depuis l'Union européenne ?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1463040" y="3749040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Oui, marché ET exportation    B. Non, importation seulement    C. Uniquement pour le bois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8869680" y="3493008"/>
            <a:ext cx="2514600" cy="457200"/>
          </a:xfrm>
          <a:prstGeom prst="roundRect">
            <a:avLst>
              <a:gd name="adj" fmla="val 100000"/>
            </a:avLst>
          </a:prstGeom>
          <a:solidFill>
            <a:srgbClr val="1E8E5A"/>
          </a:solidFill>
          <a:ln w="12700">
            <a:solidFill>
              <a:srgbClr val="1E8E5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869680" y="3493008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Oui — mise sur le marché ET exportation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48640" y="452628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9525">
            <a:solidFill>
              <a:srgbClr val="D9E1EC"/>
            </a:solidFill>
            <a:prstDash val="solid"/>
          </a:ln>
          <a:effectLst>
            <a:outerShdw sx="100000" sy="100000" kx="0" ky="0" algn="bl" rotWithShape="0" blurRad="50800" dist="12700" dir="5400000">
              <a:srgbClr val="8AA0B4">
                <a:alpha val="22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77240" y="4910328"/>
            <a:ext cx="502920" cy="457200"/>
          </a:xfrm>
          <a:prstGeom prst="roundRect">
            <a:avLst>
              <a:gd name="adj" fmla="val 100000"/>
            </a:avLst>
          </a:prstGeom>
          <a:solidFill>
            <a:srgbClr val="0A2A5E"/>
          </a:solidFill>
          <a:ln w="12700">
            <a:solidFill>
              <a:srgbClr val="0A2A5E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77240" y="4910328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1463040" y="4663440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Zéro déforestation » : aucune déforestation de la parcelle après quelle date ?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1463040" y="5166360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31 décembre 2020    B. 29 juin 2023    C. jamais déforestée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8869680" y="4910328"/>
            <a:ext cx="2514600" cy="457200"/>
          </a:xfrm>
          <a:prstGeom prst="roundRect">
            <a:avLst>
              <a:gd name="adj" fmla="val 100000"/>
            </a:avLst>
          </a:prstGeom>
          <a:solidFill>
            <a:srgbClr val="1E8E5A"/>
          </a:solidFill>
          <a:ln w="12700">
            <a:solidFill>
              <a:srgbClr val="1E8E5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869680" y="4910328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31 décembre 2020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548640" y="59893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Réponses à masquer avant le vote.</a:t>
            </a:r>
            <a:endParaRPr lang="en-US" sz="10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A2A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46920" y="292608"/>
            <a:ext cx="2148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38360" y="347472"/>
            <a:ext cx="1965960" cy="43891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RDUE / EUDR  ·  Webinaire CCI Lyon Métropole  ·  24 septembre 2026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698480" y="641908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 / 34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8686800" y="3200400"/>
            <a:ext cx="5943600" cy="5943600"/>
          </a:xfrm>
          <a:prstGeom prst="ellipse">
            <a:avLst/>
          </a:prstGeom>
          <a:solidFill>
            <a:srgbClr val="00439A">
              <a:alpha val="25000"/>
            </a:srgbClr>
          </a:solidFill>
          <a:ln w="12700">
            <a:solidFill>
              <a:srgbClr val="00439A">
                <a:alpha val="2500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18872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Merci — place à vos questions.</a:t>
            </a:r>
            <a:endParaRPr lang="en-US" sz="36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0574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C7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Vos 3 actions immédiates : auditer vos nomenclatures  ·  créer votre compte EU Login  ·  sécuriser vos géolocalisations.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731520" y="2834640"/>
            <a:ext cx="5303520" cy="2834640"/>
          </a:xfrm>
          <a:prstGeom prst="roundRect">
            <a:avLst>
              <a:gd name="adj" fmla="val 2581"/>
            </a:avLst>
          </a:prstGeom>
          <a:solidFill>
            <a:srgbClr val="123A78"/>
          </a:solidFill>
          <a:ln w="12700">
            <a:solidFill>
              <a:srgbClr val="123A7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05840" y="29718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Vos interlocuteurs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005840" y="3383280"/>
            <a:ext cx="48463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Fond, analyse de risque, DDR : ministères Transition écologique &amp; Agriculture — deforestation@developpement-durable.gouv.fr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Formalités : Pôle d'action économique (PAE) des douanes · Infos Douane Service 0 800 94 40 40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Commission européenne : FAQ RDUE (v5) et système d'information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deforestationimportee.ecologie.gouv.fr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309360" y="2834640"/>
            <a:ext cx="5303520" cy="2834640"/>
          </a:xfrm>
          <a:prstGeom prst="roundRect">
            <a:avLst>
              <a:gd name="adj" fmla="val 2581"/>
            </a:avLst>
          </a:prstGeom>
          <a:solidFill>
            <a:srgbClr val="123A78"/>
          </a:solidFill>
          <a:ln w="12700">
            <a:solidFill>
              <a:srgbClr val="123A7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583680" y="29718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Vos intervenantes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583680" y="3474720"/>
            <a:ext cx="82296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3520440"/>
            <a:ext cx="731520" cy="73152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7589520" y="3429000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Céline Fontana
</a:t>
            </a:r>
            <a:pPr indent="0" marL="0">
              <a:buNone/>
            </a:pPr>
            <a:r>
              <a:rPr lang="en-US" sz="11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CF² Douane — Conseil &amp; Formation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86 93 95 72 · celine.fontana@gmail.com</a:t>
            </a:r>
            <a:endParaRPr lang="en-US" sz="1300" dirty="0"/>
          </a:p>
        </p:txBody>
      </p:sp>
      <p:sp>
        <p:nvSpPr>
          <p:cNvPr id="17" name="Text 13"/>
          <p:cNvSpPr txBox="1"/>
          <p:nvPr/>
        </p:nvSpPr>
        <p:spPr>
          <a:xfrm>
            <a:off x="6583680" y="452628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Houda Zebar
</a:t>
            </a:r>
            <a:pPr indent="0" marL="0">
              <a:buNone/>
            </a:pPr>
            <a:r>
              <a:rPr lang="en-US" sz="11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CCI Lyon Métropole Saint-Étienne Roanne — co-animatrice</a:t>
            </a:r>
            <a:endParaRPr lang="en-US" sz="1300" dirty="0"/>
          </a:p>
        </p:txBody>
      </p:sp>
      <p:sp>
        <p:nvSpPr>
          <p:cNvPr id="18" name="Text 14"/>
          <p:cNvSpPr txBox="1"/>
          <p:nvPr/>
        </p:nvSpPr>
        <p:spPr>
          <a:xfrm>
            <a:off x="731520" y="58978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support et l'enregistrement vous seront adressés par courriel.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Maîtriser le RDUE</dc:title>
  <dc:subject>PptxGenJS Presentation</dc:subject>
  <dc:creator>CCI Lyon Métropole · CF² Douane</dc:creator>
  <cp:lastModifiedBy>CCI Lyon Métropole · CF² Douane</cp:lastModifiedBy>
  <cp:revision>1</cp:revision>
  <dcterms:created xsi:type="dcterms:W3CDTF">2026-09-16T09:48:07Z</dcterms:created>
  <dcterms:modified xsi:type="dcterms:W3CDTF">2026-09-16T09:48:07Z</dcterms:modified>
</cp:coreProperties>
</file>