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7315200" cy="7315200"/>
          </a:xfrm>
          <a:prstGeom prst="ellipse">
            <a:avLst/>
          </a:prstGeom>
          <a:solidFill>
            <a:srgbClr val="00439A">
              <a:alpha val="30000"/>
            </a:srgbClr>
          </a:solidFill>
          <a:ln w="12700">
            <a:solidFill>
              <a:srgbClr val="00439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840480"/>
            <a:ext cx="4572000" cy="4572000"/>
          </a:xfrm>
          <a:prstGeom prst="ellipse">
            <a:avLst/>
          </a:prstGeom>
          <a:solidFill>
            <a:srgbClr val="E6005F">
              <a:alpha val="18000"/>
            </a:srgbClr>
          </a:solidFill>
          <a:ln w="12700">
            <a:solidFill>
              <a:srgbClr val="E6005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31520"/>
            <a:ext cx="2743200" cy="612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6400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685800"/>
            <a:ext cx="73152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WEBINAIRE  ·  DOUANE &amp; RSE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3317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 RDUE et sécuriser vos opérations douanières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européen contre la déforestation (UE) 2023/1115, modifié par le règlement (UE) 2025/2650 — de la parcelle au passage en douane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48920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14400" y="4956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Céline Fontana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CF² Douane — Consultante &amp; formatrice en douane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34840" y="48920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617720" y="4956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Houda Zebar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5303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Lyon Métropole — Co-animatrice du webinaire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distanciel  ·  jeudi 24 septembre 2026  ·  1 h 30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déroulé du webinaire : une introduction et quatre parties.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728216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17282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6916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Contexte &amp; enjeux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2039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 écologique · objectifs du règlement · le texte 2023/1115 modifié par 2025/2650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3288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2660904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26609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262432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concernés ?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2971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matières &amp; dérivés (annexe I) · ce qui change en 2026-2027 · calendrier · définitions · acteurs &amp; responsabilités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465576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3232" y="3593592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" y="35935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737360" y="355701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raisonnée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39044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 diligence (SDR) · les 3 étapes · la diligence simplifiée · le réexamen annuel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398264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452628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3232" y="4526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737360" y="448970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&amp; formalités douanières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737360" y="483717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 &amp; EU Login · déclarer en douane (Delta) : C716 / C717 / Y · transmission amont-aval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5330952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13232" y="5458968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3232" y="54589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737360" y="54223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conseils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737360" y="576986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sanctions · leviers · feuille de route · quiz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webinaire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saurez faire en sortant.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situer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 si votre entreprise est concernée, et à quel titre : opérateur, opérateur en aval ou commerçant.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2200" y="1691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2011680"/>
            <a:ext cx="731520" cy="73152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0664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vos produits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retrouver dans l'annexe I et connaître les bons codes douaniers.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37947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976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78308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la diligence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783080" y="4572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 diligence, les trois étapes, les preuves à réunir.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172200" y="37947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46520" y="4114800"/>
            <a:ext cx="731520" cy="73152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768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0664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à l'action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406640" y="4572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d'information, déclaration en douane, échéances, contacts utiles.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Co-animation Céline Fontana &amp; Houda Zebar  ·  cas pratiques et quiz tout au long du webinaire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292608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-2011680" y="3566160"/>
            <a:ext cx="6858000" cy="6858000"/>
          </a:xfrm>
          <a:prstGeom prst="ellipse">
            <a:avLst/>
          </a:prstGeom>
          <a:solidFill>
            <a:srgbClr val="00439A">
              <a:alpha val="22000"/>
            </a:srgbClr>
          </a:solidFill>
          <a:ln w="12700">
            <a:solidFill>
              <a:srgbClr val="00439A">
                <a:alpha val="22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 ·   10 min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L'urgence écologique : le constat en chiffres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objectifs du RDUE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: (UE) 2023/1115 modifié par (UE) 2025/2650, et le report d'un an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0" y="141732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417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63840" y="22860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22860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2286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concernés 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315468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154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154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raisonnée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0" y="402336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4023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&amp; formalités douanières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48920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4892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conseils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l'inaction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règlement ? L'urgence écologique en chiffres.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1259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M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de forêts disparus entre 1990 et 2020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</a:t>
            </a:r>
            <a:endParaRPr lang="en-US" sz="4400" dirty="0"/>
          </a:p>
        </p:txBody>
      </p:sp>
      <p:sp>
        <p:nvSpPr>
          <p:cNvPr id="16" name="Text 11"/>
          <p:cNvSpPr txBox="1"/>
          <p:nvPr/>
        </p:nvSpPr>
        <p:spPr>
          <a:xfrm>
            <a:off x="461772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supplémentaires perdus chaque année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1965960"/>
            <a:ext cx="640080" cy="6400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0" y="21259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6676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4400" dirty="0"/>
          </a:p>
        </p:txBody>
      </p:sp>
      <p:sp>
        <p:nvSpPr>
          <p:cNvPr id="21" name="Text 15"/>
          <p:cNvSpPr txBox="1"/>
          <p:nvPr/>
        </p:nvSpPr>
        <p:spPr>
          <a:xfrm>
            <a:off x="836676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émissions mondiales de gaz à effet de serre liées à la déforestation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RDUE vise à réduire la contribution de la consommation européenne à la déforestation importée et à promouvoir des chaînes d'approvisionnement durables.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brochure DGDDI / Douane — Règlement européen contre la déforestation ; FAO, Global Forest Resources Assessment 2020.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RDUE en bref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texte, une interdiction, une logique d'accès au marché.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9494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19202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267712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(UE) 2023/1115 du 31 mai 2023, modifié par le règlement (UE) 2025/2650 du 19 décembre 2025 (JOUE du 23/12/2025, en vigueur le 26/12/2025). Il abroge le règlement bois RBUE (995/2010) à la date d'application.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918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L'interdiction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639312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Interdire la mise sur le marché de l'UE — et l'exportation depuis l'UE — de produits ayant contribué à la déforestation ou à la dégradation des forêts après le 31/12/2020.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6634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010912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 label « vert » : c'est une condition d'accès au marché européen. Reporté d'un an, le calendrier est désormais confirmé par la Commission (revue du 4 mai 2026).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16916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31/12/2020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BUTOIR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2971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déforestation postérieure n'est admise.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0" y="393192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30/12/2026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4846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&amp; moyennes entreprises. Micro &amp; petites : 30/06/2027.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292608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-2011680" y="3566160"/>
            <a:ext cx="6858000" cy="6858000"/>
          </a:xfrm>
          <a:prstGeom prst="ellipse">
            <a:avLst/>
          </a:prstGeom>
          <a:solidFill>
            <a:srgbClr val="00439A">
              <a:alpha val="22000"/>
            </a:srgbClr>
          </a:solidFill>
          <a:ln w="12700">
            <a:solidFill>
              <a:srgbClr val="00439A">
                <a:alpha val="22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I   ·   20 min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concernés ?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produits visés : 7 matières + dérivés (annexe I) et ce qui change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calendrier consolidé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 clés : zéro déforestation, légalité, DDR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&amp; responsabilités : opérateur, aval, commerçant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0" y="141732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417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0" y="22860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22860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2286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concernés 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863840" y="315468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154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154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raisonnée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0" y="402336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4023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&amp; formalités douanières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48920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4892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conseils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matières premières — annexe I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est concerné s'il figure à l'annexe I ET contient l'une de ces matières.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17320" y="1874520"/>
            <a:ext cx="868680" cy="8686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" y="209169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8163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0901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37560" y="16459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06240" y="1874520"/>
            <a:ext cx="868680" cy="8686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410" y="2091690"/>
            <a:ext cx="434340" cy="4343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37560" y="28163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337560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1801 → 1806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26480" y="16459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95160" y="1874520"/>
            <a:ext cx="868680" cy="8686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30" y="209169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126480" y="28163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126480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4001 → 4017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915400" y="16459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784080" y="1874520"/>
            <a:ext cx="868680" cy="8686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0" y="2091690"/>
            <a:ext cx="434340" cy="4343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915400" y="28163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Soja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915400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1201 · 1507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37033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417320" y="3931920"/>
            <a:ext cx="868680" cy="8686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4490" y="4149090"/>
            <a:ext cx="434340" cy="4343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48640" y="4873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de palme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5184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1511 · 1513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3337560" y="37033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206240" y="3931920"/>
            <a:ext cx="868680" cy="8686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3410" y="4149090"/>
            <a:ext cx="434340" cy="43434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337560" y="4873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Bœuf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3337560" y="5184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0102 · 0201 · 0202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6126480" y="37033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995160" y="3931920"/>
            <a:ext cx="868680" cy="8686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2330" y="4149090"/>
            <a:ext cx="434340" cy="43434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126480" y="4873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 &amp; papier</a:t>
            </a:r>
            <a:endParaRPr lang="en-US" sz="1500" dirty="0"/>
          </a:p>
        </p:txBody>
      </p:sp>
      <p:sp>
        <p:nvSpPr>
          <p:cNvPr id="41" name="Text 31"/>
          <p:cNvSpPr txBox="1"/>
          <p:nvPr/>
        </p:nvSpPr>
        <p:spPr>
          <a:xfrm>
            <a:off x="6126480" y="5184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4401 → 4421 · ch. 47-48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8915400" y="37033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 w="12700">
            <a:solidFill>
              <a:srgbClr val="F0D9A0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9098280" y="37947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aux dérivés : 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papier, charbon de bois, pneus, chocolat, meubles… vous font entrer dans le champ. Le cuir en sort (acte délégué du 13/07/2026).</a:t>
            </a:r>
            <a:endParaRPr lang="en-US" sz="115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NC indicatifs — la liste exhaustive figure à l'annexe I du règlement.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I : ce qui change en 2026-2027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délégué adopté le 13 juillet 2026 — exclusions dès l'entrée en vigueur (publication au JOUE attendue mi-septembre 2026), ajouts au 30/12/2027.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94560"/>
            <a:ext cx="5440680" cy="27432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16916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Désormais soumis (au 30/12/2027)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6974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soluble (SH 2101 11 00)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dérivés d'huile de palme, acides oléiques, savons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de bovins congelées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172200" y="16916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72200" y="1691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2194560"/>
            <a:ext cx="5440680" cy="274320"/>
          </a:xfrm>
          <a:prstGeom prst="rect">
            <a:avLst/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40880" y="16916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Désormais hors champ (dès l'entrée en vigueur)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26974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Cuirs et peaux de bovins (SH 4101, 4104, 4107)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Pneus rechapés, courroies, certains articles en caoutchouc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Soja de semence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Sièges d'avion et de véhicules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imprimés — déjà sortis par le règlement 2025/2650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57607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6E0"/>
          </a:solidFill>
          <a:ln w="12700">
            <a:solidFill>
              <a:srgbClr val="F0D9A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</a:t>
            </a:r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l'audit de vos nomenclatures n'est pas un exercice ponctuel — rejouez-le après publication de l'acte délégué.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calendrier consolidé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Reporté d'un an par le règlement (UE) 2025/2650 — et confirmé par la revue de simplification du 4 mai 2026.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88595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1600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d'un an, pas suppression. </a:t>
            </a:r>
            <a:pPr indent="0" marL="0">
              <a:buNone/>
            </a:pPr>
            <a:r>
              <a:rPr lang="en-US" sz="13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L'échéance 2025 est décalée à 2026/2027 ; la date butoir du 31/12/2020 est inchangée et la Commission ne rouvrira pas le texte.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25400">
            <a:solidFill>
              <a:srgbClr val="D9E1EC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1234440" y="3090672"/>
            <a:ext cx="329184" cy="329184"/>
          </a:xfrm>
          <a:prstGeom prst="ellipse">
            <a:avLst/>
          </a:prstGeom>
          <a:solidFill>
            <a:srgbClr val="8A98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3611880"/>
            <a:ext cx="1719072" cy="22402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48640" y="37490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26/12/2025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420624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Modificatif en vigueur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Règl. 2025/2650 : report + simplifications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090672" y="3090672"/>
            <a:ext cx="329184" cy="329184"/>
          </a:xfrm>
          <a:prstGeom prst="ellipse">
            <a:avLst/>
          </a:prstGeom>
          <a:solidFill>
            <a:srgbClr val="8A98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404872" y="3611880"/>
            <a:ext cx="1719072" cy="22402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2404872" y="37490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juin 2026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2496312" y="420624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 rouvert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2496312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des DDR possible (ex-TRACES)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46904" y="3090672"/>
            <a:ext cx="329184" cy="329184"/>
          </a:xfrm>
          <a:prstGeom prst="ellipse">
            <a:avLst/>
          </a:prstGeom>
          <a:solidFill>
            <a:srgbClr val="8A98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61104" y="3611880"/>
            <a:ext cx="1719072" cy="22402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4261104" y="37490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13/07/2026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352544" y="420624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délégué annexe I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4352544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règl. d'exécution 2026/1565 (SI)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803136" y="3090672"/>
            <a:ext cx="329184" cy="329184"/>
          </a:xfrm>
          <a:prstGeom prst="ellipse">
            <a:avLst/>
          </a:prstGeom>
          <a:solidFill>
            <a:srgbClr val="E600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17336" y="3611880"/>
            <a:ext cx="1719072" cy="22402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E6005F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6117336" y="37490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30/12/2026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208776" y="420624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socle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6208776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&amp; moyennes entreprises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659368" y="3090672"/>
            <a:ext cx="329184" cy="329184"/>
          </a:xfrm>
          <a:prstGeom prst="ellipse">
            <a:avLst/>
          </a:prstGeom>
          <a:solidFill>
            <a:srgbClr val="004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973568" y="3611880"/>
            <a:ext cx="1719072" cy="22402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00439A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4" name="Text 30"/>
          <p:cNvSpPr txBox="1"/>
          <p:nvPr/>
        </p:nvSpPr>
        <p:spPr>
          <a:xfrm>
            <a:off x="7973568" y="37490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30/06/2027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8065008" y="420624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&amp; petites entreprises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8065008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du report TPE/PE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10515600" y="3090672"/>
            <a:ext cx="329184" cy="329184"/>
          </a:xfrm>
          <a:prstGeom prst="ellipse">
            <a:avLst/>
          </a:prstGeom>
          <a:solidFill>
            <a:srgbClr val="004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829800" y="3611880"/>
            <a:ext cx="1719072" cy="22402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00439A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9829800" y="37490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30/12/2027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9921240" y="420624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produits</a:t>
            </a:r>
            <a:endParaRPr lang="en-US" sz="1250" dirty="0"/>
          </a:p>
        </p:txBody>
      </p:sp>
      <p:sp>
        <p:nvSpPr>
          <p:cNvPr id="41" name="Text 37"/>
          <p:cNvSpPr txBox="1"/>
          <p:nvPr/>
        </p:nvSpPr>
        <p:spPr>
          <a:xfrm>
            <a:off x="9921240" y="489204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Ajouts de l'annexe I</a:t>
            </a:r>
            <a:endParaRPr lang="en-US" sz="1150" dirty="0"/>
          </a:p>
        </p:txBody>
      </p:sp>
      <p:sp>
        <p:nvSpPr>
          <p:cNvPr id="42" name="Text 38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passés en gris, échéances à venir en couleur. Acte délégué : publication au JOUE à vérifier la veille du webinaire.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conditions cumulatives (art. 3)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en manque une : le produit ne peut être ni mis sur le marché ni exporté.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20240" y="1965960"/>
            <a:ext cx="822960" cy="82296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980" y="21717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déforestation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sur des terres non déboisées après le 31/12/2020. Pour le bois : pas de dégradation forestière après cette date.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783080" y="4754880"/>
            <a:ext cx="1097280" cy="292608"/>
          </a:xfrm>
          <a:prstGeom prst="roundRect">
            <a:avLst>
              <a:gd name="adj" fmla="val 156250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783080" y="4754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 a)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97680" y="16916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69280" y="1965960"/>
            <a:ext cx="822960" cy="82296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1717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7200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Légalité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à la législation du pays de production : foncier, environnement, travail, droits des peuples autochtones, fiscalité, douane.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532120" y="4754880"/>
            <a:ext cx="1097280" cy="292608"/>
          </a:xfrm>
          <a:prstGeom prst="roundRect">
            <a:avLst>
              <a:gd name="adj" fmla="val 156250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32120" y="4754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 b)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046720" y="16916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418320" y="1965960"/>
            <a:ext cx="822960" cy="82296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0" y="21717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21040" y="2926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(DDR)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36676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 par une déclaration de diligence raisonnée déposée dans le système d'information.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281160" y="4754880"/>
            <a:ext cx="1097280" cy="292608"/>
          </a:xfrm>
          <a:prstGeom prst="roundRect">
            <a:avLst>
              <a:gd name="adj" fmla="val 156250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281160" y="4754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 c)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légal mais issu d'une parcelle déforestée après 2020 reste interdit — et le volet export est le plus souvent oublié.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concerné ? Produit entrant, produit sortant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 produit dans le champ (annexe I + matière) : que se passe-t-il selon le flux 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737360" y="1481328"/>
            <a:ext cx="2743200" cy="347472"/>
          </a:xfrm>
          <a:prstGeom prst="roundRect">
            <a:avLst>
              <a:gd name="adj" fmla="val 131579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37360" y="1481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ENTRANT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1481328"/>
            <a:ext cx="2743200" cy="347472"/>
          </a:xfrm>
          <a:prstGeom prst="roundRect">
            <a:avLst>
              <a:gd name="adj" fmla="val 131579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1481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SORTANT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193852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31520" y="2029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sur le marché de l'UE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395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= opérateur · DDR + n° en douane (C716)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11880" y="2468880"/>
            <a:ext cx="1874520" cy="256032"/>
          </a:xfrm>
          <a:prstGeom prst="roundRect">
            <a:avLst>
              <a:gd name="adj" fmla="val 178571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11880" y="2468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requise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92240" y="193852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675120" y="2029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Exportation depuis le marché de l'UE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2395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= opérateur · DDR avant l'export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55480" y="2468880"/>
            <a:ext cx="1874520" cy="256032"/>
          </a:xfrm>
          <a:prstGeom prst="roundRect">
            <a:avLst>
              <a:gd name="adj" fmla="val 178571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555480" y="2468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requise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06440" y="2240280"/>
            <a:ext cx="365760" cy="310896"/>
          </a:xfrm>
          <a:prstGeom prst="rightArrow">
            <a:avLst/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294436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31520" y="3035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Acheté sur le marché UE et utilisé pour un produit RDUE sortant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en aval · pas de DDR, conserve le n° du fournisseur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11880" y="3474720"/>
            <a:ext cx="1874520" cy="256032"/>
          </a:xfrm>
          <a:prstGeom prst="roundRect">
            <a:avLst>
              <a:gd name="adj" fmla="val 178571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11880" y="34747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DDR à conserver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92240" y="294436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675120" y="3035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Vendu au sein du marché UE (« mise à disposition »)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Commerçant · références fournisseur conservées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555480" y="3474720"/>
            <a:ext cx="1874520" cy="256032"/>
          </a:xfrm>
          <a:prstGeom prst="roundRect">
            <a:avLst>
              <a:gd name="adj" fmla="val 178571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555480" y="34747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transmis par le fournisseur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806440" y="3246120"/>
            <a:ext cx="365760" cy="310896"/>
          </a:xfrm>
          <a:prstGeom prst="rightArrow">
            <a:avLst/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395020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731520" y="4041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Acheté sur le marché UE et PAS utilisé pour un produit RDUE sortant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0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non relevant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611880" y="4480560"/>
            <a:ext cx="1874520" cy="256032"/>
          </a:xfrm>
          <a:prstGeom prst="roundRect">
            <a:avLst>
              <a:gd name="adj" fmla="val 178571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11880" y="44805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DDR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92240" y="395020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6675120" y="4041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Exporté ou vendu sur le marché de l'UE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6675120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0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non relevant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9555480" y="4480560"/>
            <a:ext cx="1874520" cy="256032"/>
          </a:xfrm>
          <a:prstGeom prst="roundRect">
            <a:avLst>
              <a:gd name="adj" fmla="val 178571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555480" y="44805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DDR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806440" y="4251960"/>
            <a:ext cx="365760" cy="310896"/>
          </a:xfrm>
          <a:prstGeom prst="rightArrow">
            <a:avLst/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8640" y="495604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73152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Acheté sur le marché UE — consommation interne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731520" y="5413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0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non relevant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3611880" y="5486400"/>
            <a:ext cx="1874520" cy="256032"/>
          </a:xfrm>
          <a:prstGeom prst="roundRect">
            <a:avLst>
              <a:gd name="adj" fmla="val 178571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611880" y="5486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DDR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492240" y="495604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667512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obligation</a:t>
            </a:r>
            <a:endParaRPr lang="en-US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6675120" y="5413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0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DDR, aucun n° à conserver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9555480" y="5486400"/>
            <a:ext cx="1874520" cy="256032"/>
          </a:xfrm>
          <a:prstGeom prst="roundRect">
            <a:avLst>
              <a:gd name="adj" fmla="val 178571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555480" y="5486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DDR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5806440" y="51846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548640" y="592531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FF6E0"/>
          </a:solidFill>
          <a:ln w="12700">
            <a:solidFill>
              <a:srgbClr val="F0D9A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77240" y="592531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douaniers particuliers : </a:t>
            </a:r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 douanier, perfectionnement actif, admission temporaire… ne sont pas soumis au RDUE (FAQ de la Commission).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&amp; responsabilités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Amont ou aval, le rôle — flux par flux — fixe le niveau d'obligation (définitions art. 2).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286000"/>
            <a:ext cx="3566160" cy="274320"/>
          </a:xfrm>
          <a:prstGeom prst="rect">
            <a:avLst/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19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1691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(amont)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1371600" y="2743200"/>
            <a:ext cx="1920240" cy="274320"/>
          </a:xfrm>
          <a:prstGeom prst="roundRect">
            <a:avLst>
              <a:gd name="adj" fmla="val 166667"/>
            </a:avLst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3716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 · art. 4 à 11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MAXIMALE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35204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sur le marché UE en premier, ou exporte.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raisonnée complète (art. 8 à 11).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 la DDR dans le système d'information.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référence en douane (C716).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97680" y="169164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7680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97680" y="2286000"/>
            <a:ext cx="3566160" cy="274320"/>
          </a:xfrm>
          <a:prstGeom prst="rect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0195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12080" y="1691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en aval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5120640" y="2743200"/>
            <a:ext cx="1920240" cy="274320"/>
          </a:xfrm>
          <a:prstGeom prst="roundRect">
            <a:avLst>
              <a:gd name="adj" fmla="val 166667"/>
            </a:avLst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12064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 · règl. 2025/2650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429768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ALLÉGÉE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0" y="35204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un produit déjà mis sur le marché UE.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diligence, pas de DDR à déposer.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aval : collecte et conserve le n° de DDR amont (5 ans).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Avals suivants : informations fournisseur seulement.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046720" y="169164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46720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046720" y="2286000"/>
            <a:ext cx="3566160" cy="27432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901952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61120" y="16916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Commerçant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8869680" y="2743200"/>
            <a:ext cx="1920240" cy="274320"/>
          </a:xfrm>
          <a:prstGeom prst="roundRect">
            <a:avLst>
              <a:gd name="adj" fmla="val 166667"/>
            </a:avLst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86968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 · art. 5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804672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MINIMALE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8321040" y="35204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à disposition sans transformer.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commerçant aval : conserve le n° de DDR.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Suivants : nom, adresse, site du fournisseur.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au système d'information si non-PME.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mandataire (art. 6), établi dans l'UE, peut déposer la DDR au nom de l'opérateur — qui reste responsable.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pratiques : quel rôle pour qui ?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 — opérateur, opérateur en aval ou commerçant 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93392"/>
            <a:ext cx="640080" cy="6400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5341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2651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737360" y="173736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négociant importe des fèves de cacao du Ghana et les revend à un chocolatier français.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052560" y="2084832"/>
            <a:ext cx="2286000" cy="457200"/>
          </a:xfrm>
          <a:prstGeom prst="roundRect">
            <a:avLst>
              <a:gd name="adj" fmla="val 100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52560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319272"/>
            <a:ext cx="640080" cy="6400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47929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77240" y="3977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306324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fabricant de meubles achète du contreplaqué déjà déclaré (DDR déposée) et fabrique des meubles.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052560" y="3410712"/>
            <a:ext cx="2286000" cy="457200"/>
          </a:xfrm>
          <a:prstGeom prst="roundRect">
            <a:avLst>
              <a:gd name="adj" fmla="val 100000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052560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en aval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3891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645152"/>
            <a:ext cx="640080" cy="640080"/>
          </a:xfrm>
          <a:prstGeom prst="ellipse">
            <a:avLst/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80517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3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737360" y="438912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enseigne achète en France des meubles déjà couverts et les revend en magasin.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052560" y="4736592"/>
            <a:ext cx="2286000" cy="457200"/>
          </a:xfrm>
          <a:prstGeom prst="roundRect">
            <a:avLst>
              <a:gd name="adj" fmla="val 100000"/>
            </a:avLst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052560" y="4736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Commerçant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à révéler après le vote (animation ou masquage).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Précisions clés — FAQ de la Commission (v5, avril 2026)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5ᵉ édition de la FAQ confirme ou clarifie. Numéros de question à contrôler sur la version publiée.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1984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e-commerce est couvert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2423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en ligne B2B et B2C, places de marché : opérateur, aval ou commerçant selon le rôle. L'usage privé entre particuliers est exclu.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645920" y="3246120"/>
            <a:ext cx="1463040" cy="256032"/>
          </a:xfrm>
          <a:prstGeom prst="roundRect">
            <a:avLst>
              <a:gd name="adj" fmla="val 178571"/>
            </a:avLst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4592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3.17 à 3.19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1259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69480" y="1984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dilution possible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2423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lot mélangé avec une part non conforme, non isolable, devient non conforme en entier.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269480" y="3246120"/>
            <a:ext cx="1463040" cy="256032"/>
          </a:xfrm>
          <a:prstGeom prst="roundRect">
            <a:avLst>
              <a:gd name="adj" fmla="val 178571"/>
            </a:avLst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26948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1.4 &amp; 1.5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864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45920" y="41330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composés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645920" y="4572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multi-matières : diligence sur chaque matière de base en cause.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1645920" y="5394960"/>
            <a:ext cx="1463040" cy="256032"/>
          </a:xfrm>
          <a:prstGeom prst="roundRect">
            <a:avLst>
              <a:gd name="adj" fmla="val 178571"/>
            </a:avLst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645920" y="5394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1.3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17220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427482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69480" y="41330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compte, plusieurs rôles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269480" y="4572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système d'information, un même compte porte opérateur, aval, commerçant et mandataire.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7269480" y="5394960"/>
            <a:ext cx="1463040" cy="256032"/>
          </a:xfrm>
          <a:prstGeom prst="roundRect">
            <a:avLst>
              <a:gd name="adj" fmla="val 178571"/>
            </a:avLst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269480" y="5394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7.29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292608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-2011680" y="3566160"/>
            <a:ext cx="6858000" cy="6858000"/>
          </a:xfrm>
          <a:prstGeom prst="ellipse">
            <a:avLst/>
          </a:prstGeom>
          <a:solidFill>
            <a:srgbClr val="00439A">
              <a:alpha val="22000"/>
            </a:srgbClr>
          </a:solidFill>
          <a:ln w="12700">
            <a:solidFill>
              <a:srgbClr val="00439A">
                <a:alpha val="22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II   ·   30 min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raisonnée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 diligence raisonnée (SDR)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démarche en 3 étapes : recueil, évaluation, atténuation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simplifiée (pays à risque faible)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réexamen annuel du SDR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0" y="141732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417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0" y="22860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22860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2286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concernés 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315468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154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154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raisonnée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863840" y="402336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4023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&amp; formalités douanières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48920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4892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conseils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 diligence raisonnée (SDR)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obligation permanente, pas un acte ponctuel (art. 12).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1920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c'est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2860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ensemble de procédures et de mesures internes qui prouvent la légalité et l'absence de déforestation de vos produits, et qui restent auditables.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impose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6118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la démarche et conserver les preuves 5 ans.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Réexaminer le SDR au moins une fois par an.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un rapport annuel pour les entreprises non-PME (art. 12 § 3).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clauses RDUE dans les contrats fournisseurs.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0" y="169164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35440" y="2103120"/>
            <a:ext cx="914400" cy="914400"/>
          </a:xfrm>
          <a:prstGeom prst="ellipse">
            <a:avLst/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31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95528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Réexamen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1 fois par an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→ Évaluation → Atténuation,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revus régulièrement.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9052560" y="5074920"/>
            <a:ext cx="1280160" cy="292608"/>
          </a:xfrm>
          <a:prstGeom prst="roundRect">
            <a:avLst>
              <a:gd name="adj" fmla="val 156250"/>
            </a:avLst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052560" y="5074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raisonnée en 3 étapes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8 à 11 du règlement.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1874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d'informations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Produit, quantité, pays, fournisseurs, géolocalisation des parcelles, dates de production, preuves de légalité.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4297680"/>
            <a:ext cx="822960" cy="274320"/>
          </a:xfrm>
          <a:prstGeom prst="roundRect">
            <a:avLst>
              <a:gd name="adj" fmla="val 166667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9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160520" y="3017520"/>
            <a:ext cx="137160" cy="274320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97680" y="16916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1965960"/>
            <a:ext cx="731520" cy="73152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40880" y="1874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du risque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zone de production, la complexité de la chaîne, la présence de forêts et de peuples autochtones.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0" y="4297680"/>
            <a:ext cx="822960" cy="274320"/>
          </a:xfrm>
          <a:prstGeom prst="roundRect">
            <a:avLst>
              <a:gd name="adj" fmla="val 166667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572000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10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909560" y="3017520"/>
            <a:ext cx="137160" cy="274320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46720" y="16916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321040" y="1965960"/>
            <a:ext cx="731520" cy="73152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488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789920" y="1874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 du risque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8321040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correctives, audits ou enquêtes indépendantes si un risque non négligeable est identifié.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8321040" y="4297680"/>
            <a:ext cx="822960" cy="274320"/>
          </a:xfrm>
          <a:prstGeom prst="roundRect">
            <a:avLst>
              <a:gd name="adj" fmla="val 166667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321040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11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77240" y="5138928"/>
            <a:ext cx="685800" cy="685800"/>
          </a:xfrm>
          <a:prstGeom prst="ellipse">
            <a:avLst/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5310378"/>
            <a:ext cx="342900" cy="3429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645920" y="49834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chantier : la donnée amont. </a:t>
            </a:r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géolocalisation des parcelles et les preuves dépendent d'un fournisseur hors UE qui n'a aucune obligation directe — c'est l'effort le plus lourd, à lancer dès maintenant.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simplifiée : le rôle du pays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 de production module l'intensité de la diligence (benchmarking, art. 29) — liste du 22/05/2025, révision annoncée pour 2026.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00200" y="1691640"/>
            <a:ext cx="182880" cy="118872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80136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4414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FAIBLE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pays, dont toute l'UE, le Royaume-Uni, les États-Unis, la Chine, l'Inde, le Vietnam…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2350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simplifiée : seule la collecte (étape 1) est exigée.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1874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301752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01752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00200" y="3017520"/>
            <a:ext cx="182880" cy="11887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1272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7673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STANDARD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92024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— Brésil, Indonésie, Malaisie, Côte d'Ivoire, Colombie, Pérou…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920240" y="3675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raisonnée complète : les trois étapes.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617720" y="3200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48640" y="434340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43434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00200" y="4343400"/>
            <a:ext cx="182880" cy="1188720"/>
          </a:xfrm>
          <a:prstGeom prst="rect">
            <a:avLst/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445312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0932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ÉLEVÉ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92024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Biélorussie · Corée du Nord · Birmanie · Russie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920240" y="5001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renforcée et contrôles accrus.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4526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0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9 %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532120" y="1691640"/>
            <a:ext cx="60807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83080"/>
            <a:ext cx="5806440" cy="2907792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5806440" y="4937760"/>
            <a:ext cx="201168" cy="20116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080760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faible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7726680" y="493776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001000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standard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9646920" y="4937760"/>
            <a:ext cx="201168" cy="201168"/>
          </a:xfrm>
          <a:prstGeom prst="ellipse">
            <a:avLst/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9921240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élevé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5669280" y="52578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indicative d'après le règlement d'exécution (UE) 2025/1093 (liste du 22/05/2025) — à contrôler sur l'annexe officielle avant diffusion.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contrôle minimaux des autorités (art. 16) : part des opérateurs — et des quantités pour le risque élevé. Le mélange en cours de chaîne avec des produits d'origine inconnue fait retomber dans le régime complet.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de diligence raisonnée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obligatoire, article par article (art. 8 à 13).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627632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informations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424160" y="1664208"/>
            <a:ext cx="1005840" cy="274320"/>
          </a:xfrm>
          <a:prstGeom prst="roundRect">
            <a:avLst>
              <a:gd name="adj" fmla="val 166667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9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0299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nom commercial, type de produit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et pays (zones) de production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et clients (nom, adresse)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20299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 de toutes les parcelles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ou période de production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légalité et de « zéro déforestation »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01000" y="2670048"/>
            <a:ext cx="320040" cy="274320"/>
          </a:xfrm>
          <a:prstGeom prst="downArrow">
            <a:avLst/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2999232"/>
            <a:ext cx="6675120" cy="6858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0" y="299923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de production à risque standard ou élevé ?
</a:t>
            </a:r>
            <a:pPr algn="ctr" indent="0" marL="0">
              <a:buNone/>
            </a:pPr>
            <a:r>
              <a:rPr lang="en-US" sz="1000" dirty="0">
                <a:solidFill>
                  <a:srgbClr val="D7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des pays — benchmarking, art. 29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3044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26280" y="3273552"/>
            <a:ext cx="365760" cy="274320"/>
          </a:xfrm>
          <a:prstGeom prst="leftArrow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2999232"/>
            <a:ext cx="3840480" cy="2148840"/>
          </a:xfrm>
          <a:prstGeom prst="roundRect">
            <a:avLst>
              <a:gd name="adj" fmla="val 3404"/>
            </a:avLst>
          </a:prstGeom>
          <a:solidFill>
            <a:srgbClr val="E8EFFA"/>
          </a:solidFill>
          <a:ln w="12700">
            <a:solidFill>
              <a:srgbClr val="00439A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731520" y="3127248"/>
            <a:ext cx="1737360" cy="256032"/>
          </a:xfrm>
          <a:prstGeom prst="roundRect">
            <a:avLst>
              <a:gd name="adj" fmla="val 17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à risque faible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raisonnée simplifiée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l'étape 1 est exigée. </a:t>
            </a:r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L'opérateur n'est pas tenu à l'évaluation ni à l'atténuation du risque (art. 10 et 11).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200400" y="4754880"/>
            <a:ext cx="1005840" cy="274320"/>
          </a:xfrm>
          <a:prstGeom prst="roundRect">
            <a:avLst>
              <a:gd name="adj" fmla="val 166667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0040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13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4937760" y="37307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001000" y="3730752"/>
            <a:ext cx="320040" cy="274320"/>
          </a:xfrm>
          <a:prstGeom prst="downArrow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0" y="40690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00439A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074920" y="4160520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7492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0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du risque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074920" y="4526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et analyser les informations (critères de l'art. 10)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Réexamen au moins une fois par an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mise sur le marché si le risque n'est pas nul ou négligeable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178040" y="5486400"/>
            <a:ext cx="914400" cy="237744"/>
          </a:xfrm>
          <a:prstGeom prst="roundRect">
            <a:avLst>
              <a:gd name="adj" fmla="val 192308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178040" y="54864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10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8321040" y="40690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458200" y="4160520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45820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869680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 du risque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458200" y="4526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Informations, données ou documents complémentaires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ou enquêtes indépendants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et contrôles proportionnés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561320" y="5486400"/>
            <a:ext cx="914400" cy="237744"/>
          </a:xfrm>
          <a:prstGeom prst="roundRect">
            <a:avLst>
              <a:gd name="adj" fmla="val 192308"/>
            </a:avLst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561320" y="54864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11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937760" y="5943600"/>
            <a:ext cx="3291840" cy="384048"/>
          </a:xfrm>
          <a:prstGeom prst="roundRect">
            <a:avLst>
              <a:gd name="adj" fmla="val 71429"/>
            </a:avLst>
          </a:prstGeom>
          <a:solidFill>
            <a:srgbClr val="E6F5EE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937760" y="5943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nul ou négligeable → DDR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321040" y="5943600"/>
            <a:ext cx="3291840" cy="384048"/>
          </a:xfrm>
          <a:prstGeom prst="roundRect">
            <a:avLst>
              <a:gd name="adj" fmla="val 71429"/>
            </a:avLst>
          </a:prstGeom>
          <a:solidFill>
            <a:srgbClr val="FBE9EA"/>
          </a:solidFill>
          <a:ln w="12700">
            <a:solidFill>
              <a:srgbClr val="D0313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321040" y="5943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non négligeable → STOP (art. 3)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2286000" y="5230368"/>
            <a:ext cx="320040" cy="274320"/>
          </a:xfrm>
          <a:prstGeom prst="downArrow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8640" y="557784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85800" y="55778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de diligence raisonnée
</a:t>
            </a:r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déposée dans le SI avant mise sur le marché ou export → n° de DDR (C716) · art. 4 &amp; 12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292608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-2011680" y="3566160"/>
            <a:ext cx="6858000" cy="6858000"/>
          </a:xfrm>
          <a:prstGeom prst="ellipse">
            <a:avLst/>
          </a:prstGeom>
          <a:solidFill>
            <a:srgbClr val="00439A">
              <a:alpha val="22000"/>
            </a:srgbClr>
          </a:solidFill>
          <a:ln w="12700">
            <a:solidFill>
              <a:srgbClr val="00439A">
                <a:alpha val="22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III   ·   20 min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&amp; formalités douanières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d'information RDUE &amp; le compte EU Login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déclaration de diligence raisonnée (DDR) → n° de référence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en douane (Delta) : codes C716 / C717 / Y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transmission amont / aval du n° de DDR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0" y="141732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417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0" y="22860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22860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2286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concernés 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315468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154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154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raisonnée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0" y="402336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4023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&amp; formalités douanières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863840" y="48920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4892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conseils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d'information RDUE &amp; EU Login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la DDR pour obtenir un numéro de référence — rouvert fin juin 2026, formations de la Commission en septembre.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57400" y="2011680"/>
            <a:ext cx="914400" cy="914400"/>
          </a:xfrm>
          <a:prstGeom prst="ellipse">
            <a:avLst/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40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3520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EU Login par personne.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numéro EORI actif.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L'enregistrement de l'entreprise dans le système d'information (obligatoire pour les opérateurs et les non-PME aval).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737360" y="5532120"/>
            <a:ext cx="1554480" cy="292608"/>
          </a:xfrm>
          <a:prstGeom prst="roundRect">
            <a:avLst>
              <a:gd name="adj" fmla="val 156250"/>
            </a:avLst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737360" y="5532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maintenant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691640"/>
            <a:ext cx="68580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02920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DDR dans le système d'information — à saisir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231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949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EORI de l'opérateur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42316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8680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du système harmonisé (SH)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99008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94960" y="2944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libre (nom commercial ou scientifique)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990088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686800" y="2944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(mise sur le marché / export)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557016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394960" y="3511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de production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3557016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8686800" y="3511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 de toutes les parcelles</a:t>
            </a:r>
            <a:endParaRPr lang="en-US" sz="12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123944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394960" y="40782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de risque nul ou négligeable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123944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686800" y="40782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de la personne habilitée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5029200" y="4800600"/>
            <a:ext cx="6309360" cy="868680"/>
          </a:xfrm>
          <a:prstGeom prst="roundRect">
            <a:avLst>
              <a:gd name="adj" fmla="val 8421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5212080" y="48006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Génération du numéro de référence DDR et du code de vérification. </a:t>
            </a:r>
            <a:pPr indent="0" marL="0">
              <a:buNone/>
            </a:pPr>
            <a:r>
              <a:rPr lang="en-US" sz="1250" dirty="0">
                <a:solidFill>
                  <a:srgbClr val="E6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DDR citée en douane ne peut plus être modifiée ni retirée.</a:t>
            </a:r>
            <a:endParaRPr lang="en-US" sz="125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Nouveautés du règlement d'exécution (UE) 2026/1565 : déclaration simplifiée pour les micro/petits producteurs, groupage de déclarations, API pour les dépôts en volume.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en douane (Delta)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numéro de DDR se reporte dans la déclaration douanière, avant mainlevée.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n° 1 — produit concerné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1005840" cy="384048"/>
          </a:xfrm>
          <a:prstGeom prst="roundRect">
            <a:avLst>
              <a:gd name="adj" fmla="val 119048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C716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2286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: code C716 + son numéro de DDR.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2834640"/>
            <a:ext cx="1005840" cy="384048"/>
          </a:xfrm>
          <a:prstGeom prst="roundRect">
            <a:avLst>
              <a:gd name="adj" fmla="val 119048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834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C717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aval (DDR amont existante) : C717 + n° de DDR du fournisseur — à confirmer sur la fiche douane 2026.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n° 2 — exemptions (codes Y)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46520" y="2286000"/>
            <a:ext cx="731520" cy="329184"/>
          </a:xfrm>
          <a:prstGeom prst="roundRect">
            <a:avLst>
              <a:gd name="adj" fmla="val 13888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46520" y="2286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Y129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22860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champ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52560" y="2286000"/>
            <a:ext cx="731520" cy="329184"/>
          </a:xfrm>
          <a:prstGeom prst="roundRect">
            <a:avLst>
              <a:gd name="adj" fmla="val 13888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52560" y="2286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Y132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875520" y="22860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fabriqué avant le 29/06/2023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46520" y="2834640"/>
            <a:ext cx="731520" cy="329184"/>
          </a:xfrm>
          <a:prstGeom prst="roundRect">
            <a:avLst>
              <a:gd name="adj" fmla="val 13888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46520" y="28346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Y133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269480" y="2834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déchets / recyclé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052560" y="2834640"/>
            <a:ext cx="731520" cy="329184"/>
          </a:xfrm>
          <a:prstGeom prst="roundRect">
            <a:avLst>
              <a:gd name="adj" fmla="val 13888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52560" y="28346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Y141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875520" y="2834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&amp; petite ent. (report)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46520" y="3383280"/>
            <a:ext cx="731520" cy="329184"/>
          </a:xfrm>
          <a:prstGeom prst="roundRect">
            <a:avLst>
              <a:gd name="adj" fmla="val 138889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46520" y="33832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Y142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269480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non commerciale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8640" y="4206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370832"/>
            <a:ext cx="685800" cy="685800"/>
          </a:xfrm>
          <a:prstGeom prst="ellipse">
            <a:avLst/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4542282"/>
            <a:ext cx="342900" cy="34290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645920" y="420624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amont / aval. </a:t>
            </a:r>
            <a:pPr indent="0" marL="0"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L'opérateur transmet le n° de DDR et le code de vérification à son seul client aval immédiat ; les maillons suivants ne conservent que les informations fournisseur.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cas : n° conventionnel 99EU9999999999 pour l'export ou la réimportation de produits fabriqués entre le 29/06/2023 et la date d'application. Delta = téléservice de dédouanement de la DGDDI.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: l'huile de palme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produit peut être soumis… ou hors champ, selon l'usage final déclaré.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94560"/>
            <a:ext cx="5440680" cy="27432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691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Scénario standard — soumis au RDUE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
</a:t>
            </a:r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d'huile de palme brute ou de dérivés pour la fabrication de savons ou d'additifs alimentaires.
</a:t>
            </a:r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conséquence
</a:t>
            </a:r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raisonnée complète, dépôt de la DDR dans le système d'information, puis code C716 + n° de DDR en douane.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9164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1691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0" y="2194560"/>
            <a:ext cx="5440680" cy="274320"/>
          </a:xfrm>
          <a:prstGeom prst="rect">
            <a:avLst/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1691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Exclusions — hors champ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1 · pharmaceutique
</a:t>
            </a:r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Dérivés oléochimiques utilisés exclusivement pour la fabrication de médicaments → code Y129.
</a:t>
            </a:r>
            <a:pPr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2 · biocarburants
</a:t>
            </a:r>
            <a:pPr indent="0" marL="0">
              <a:buNone/>
            </a:pPr>
            <a:r>
              <a:rPr lang="en-US" sz="12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Huiles usagées et déchets récupérés (matière en fin de vie) → code Y133.
</a:t>
            </a:r>
            <a:pPr indent="0" marL="0">
              <a:buNone/>
            </a:pPr>
            <a:r>
              <a:rPr lang="en-US" sz="1250" b="1" dirty="0">
                <a:solidFill>
                  <a:srgbClr val="D0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DDR requise.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flux physiquement identiques peuvent recevoir un traitement opposé : l'usage réel et le code déterminent le champ.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292608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-2011680" y="3566160"/>
            <a:ext cx="6858000" cy="6858000"/>
          </a:xfrm>
          <a:prstGeom prst="ellipse">
            <a:avLst/>
          </a:prstGeom>
          <a:solidFill>
            <a:srgbClr val="00439A">
              <a:alpha val="22000"/>
            </a:srgbClr>
          </a:solidFill>
          <a:ln w="12700">
            <a:solidFill>
              <a:srgbClr val="00439A">
                <a:alpha val="22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IV   ·   10 min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conseils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les risques et connaître les sanctions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leviers pour réduire la charge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feuille de route en quatre marches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et synthèse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0" y="141732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417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0" y="22860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22860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2286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concernés 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315468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154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154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diligence raisonnée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0" y="402336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4023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&amp; formalités douanières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48920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6005F"/>
          </a:solidFill>
          <a:ln w="12700">
            <a:solidFill>
              <a:srgbClr val="E6005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4892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conseils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les risques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RDUE est pluriel : ce n'est pas qu'un sujet d'image.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51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insuffisante, rôle mal qualifié, DDR incomplète.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Douanier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651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 mainlevée, mauvais code, lots bloqués à la frontière.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321040" y="2651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 (plafond ≥ 4 % du CA UE), confiscation, exclusion des marchés publics.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2910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4592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sans données, ruptures d'approvisionnement.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29768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000" y="406908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422910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9496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/ réputation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des clients et des financeurs, exposition médiatique.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804672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321040" y="379476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déclaration en douane engage la responsabilité juridique de l'opérateur sur le risque zéro déforestation (art. 25).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régime des sanctions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Fixé par chaque État membre dans le cadre de l'article 25 du règlement.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17320" y="1965960"/>
            <a:ext cx="868680" cy="868680"/>
          </a:xfrm>
          <a:prstGeom prst="ellipse">
            <a:avLst/>
          </a:prstGeom>
          <a:solidFill>
            <a:srgbClr val="D0313B"/>
          </a:solidFill>
          <a:ln w="12700">
            <a:solidFill>
              <a:srgbClr val="D0313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" y="218313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Financière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d'amende d'au moins 4 % du chiffre d'affaires annuel réalisé dans l'UE.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3756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06240" y="1965960"/>
            <a:ext cx="868680" cy="86868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410" y="2183130"/>
            <a:ext cx="434340" cy="4343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3756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Immobilisation et confiscation des produits concernés et des revenus tirés de la transaction.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95160" y="1965960"/>
            <a:ext cx="868680" cy="8686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30" y="218313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12648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Commerciale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35508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temporaire (12 mois maximum) des marchés publics et des financements publics.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91540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784080" y="1965960"/>
            <a:ext cx="868680" cy="868680"/>
          </a:xfrm>
          <a:prstGeom prst="ellipse">
            <a:avLst/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0" y="2183130"/>
            <a:ext cx="434340" cy="4343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91540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Pénale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914400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Poursuites possibles dans le cadre de la directive (UE) 2024/1203 sur la criminalité environnementale.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contrôle minimaux : </a:t>
            </a:r>
            <a:pPr algn="ctr" indent="0" marL="0">
              <a:buNone/>
            </a:pPr>
            <a:r>
              <a:rPr lang="en-US" sz="13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 des opérateurs (risque faible)  ·  3 % (risque standard)  ·  9 % des opérateurs et des quantités (risque élevé).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leviers pour réduire la charge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joué, le RDUE se pilote.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d'opérateur en aval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S'appuyer sur la DDR de l'amont plutôt que reconstituer la traçabilité.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pays à risque faible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vers la diligence simplifiée (art. 13).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Mandataire / mutualisation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832104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 la diligence (art. 6) ou mutualiser en filière.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2910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4592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 calendrier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micro/petites entreprises (30/06/2027) ; nouveaux produits (30/12/2027).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29768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000" y="406908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422910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9496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simplifiée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unique pour les micro/petits producteurs de pays à risque faible.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04672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21040" y="406908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4229100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14400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par contrat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832104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Garanties, indemnisation, résiliation portées par les fournisseurs.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profils, deux stratégies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exemples d'entreprises ayant structuré leur SDR (profils génériques).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331720"/>
            <a:ext cx="5440680" cy="2743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négociant en invendus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176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déstockage · catalogue multi-produits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fort et compliqué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108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opportuniste, traçabilité amont quasi impossible à reconstituer.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41148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d'aval : s'appuyer sur les DDR existantes, exiger le n° à l'achat.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Mobiliser les exclusions (Y132, Y133, Y129).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 sourcing en amont.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6916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72200" y="2331720"/>
            <a:ext cx="5440680" cy="274320"/>
          </a:xfrm>
          <a:prstGeom prst="rect">
            <a:avLst/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86600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L'industriel à diligence mature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7086600" y="2176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caoutchouc · chaîne longue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4465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maîtrisable — enjeu d'échelle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3108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déjà structurée. Point dur : les petits planteurs (géolocalisation à grande échelle).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44652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446520" y="41148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preuve opposable.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la donnée des petits producteurs.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(ESG / CSRD) et cascader par contrat.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L'escalier de conformité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marches, dans cet ordre : on ne connecte pas les outils avant d'avoir cartographié les flux.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86000" y="5440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2606040" cy="3730752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0802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108960"/>
            <a:ext cx="21945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flash de vos flux : quels produits (codes SH), quels pays, quel statut (amont, aval, commerçant) 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337560" y="507492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074920" y="5440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3337560" y="1691640"/>
            <a:ext cx="2606040" cy="3273552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66160" y="192024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80" y="20802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56616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3566160" y="3108960"/>
            <a:ext cx="21945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Bâtir le SDR : procédures, référent, gouvernance, clauses fournisseurs, réexamen annuel.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26480" y="461772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863840" y="5440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6126480" y="1691640"/>
            <a:ext cx="2606040" cy="2816352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55080" y="192024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0802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3550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6355080" y="3108960"/>
            <a:ext cx="21945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traçabilité : géolocalisation, preuves, archivage 5 ans des évaluations et mesures d'atténuation.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8915400" y="4160520"/>
            <a:ext cx="2606040" cy="1828800"/>
          </a:xfrm>
          <a:prstGeom prst="roundRect">
            <a:avLst>
              <a:gd name="adj" fmla="val 2500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10652760" y="5440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8915400" y="1691640"/>
            <a:ext cx="260604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144000" y="192024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020" y="208026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14400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0" y="3108960"/>
            <a:ext cx="2194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accès : EORI, comptes EU Login, enregistrement dans le système d'information, codes douaniers.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conseils de l'experte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Anticiper, archiver, se faire accompagner.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déclaration en ligne dès maintenant sur le système d'information ; faire un dépôt à blanc sur une référence simple.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Archiver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registres, évaluations de risque et preuves de géolocalisation pendant 5 ans.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Auditer vos nomenclatures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832104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vos codes SH importés et exportés sur 12 mois et les confronter à l'annexe I.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2910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4592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EU Login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vos comptes et enregistrer l'entreprise pour accéder au système d'information.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29768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000" y="406908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422910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9496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la géolocalisation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les données de vos fournisseurs étrangers — indispensables à la DDR.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46720" y="3794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21040" y="4069080"/>
            <a:ext cx="640080" cy="640080"/>
          </a:xfrm>
          <a:prstGeom prst="ellipse">
            <a:avLst/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4229100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14400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faire accompagner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832104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Ministères (fond, analyse de risque) · Pôle d'action économique des douanes (formalités) · CCI.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conformité en 3 niveaux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synthèse : du produit à la déclaration parfaite. Chaque niveau s'appuie sur le précédent.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981048" y="173736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5368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conforme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346808" y="22402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nul ou négligeable : zéro déforestation après le 31/12/2020 et légalité du pays de production.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95448" y="3063240"/>
            <a:ext cx="6400800" cy="1143000"/>
          </a:xfrm>
          <a:prstGeom prst="roundRect">
            <a:avLst>
              <a:gd name="adj" fmla="val 6400"/>
            </a:avLst>
          </a:prstGeom>
          <a:solidFill>
            <a:srgbClr val="00439A"/>
          </a:solidFill>
          <a:ln w="12700">
            <a:solidFill>
              <a:srgbClr val="0043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69768" y="3200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documenté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261208" y="35661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géolocalisées, DDR enregistrée dans le système d'information, évaluations et mesures archivées 5 ans.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809848" y="438912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84168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déclaration parfaite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75608" y="4892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sans faille entre le n° de DDR et le code douanier : C716, C717 ou code Y.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60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précède ne vaut que par la justesse de cette dernière ligne — la base, c'est la donnée amont.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Vérifions ensemble : 3 questions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 dans le chat, puis correction.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75688"/>
            <a:ext cx="502920" cy="457200"/>
          </a:xfrm>
          <a:prstGeom prst="roundRect">
            <a:avLst>
              <a:gd name="adj" fmla="val 100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75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828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de l'annexe I fabriqué le 12 mars 2023 : quel code portez-vous en douane 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331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C716 + n° de DDR    B. Y132    C. Y129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869680" y="2075688"/>
            <a:ext cx="2514600" cy="457200"/>
          </a:xfrm>
          <a:prstGeom prst="roundRect">
            <a:avLst>
              <a:gd name="adj" fmla="val 100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69680" y="20756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Y132 — fabriqué avant le 29/06/2023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493008"/>
            <a:ext cx="502920" cy="457200"/>
          </a:xfrm>
          <a:prstGeom prst="roundRect">
            <a:avLst>
              <a:gd name="adj" fmla="val 100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493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246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RDUE s'applique-t-il aux exportations depuis l'Union européenne ?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749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Oui, marché ET exportation    B. Non, importation seulement    C. Uniquement pour le bois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869680" y="3493008"/>
            <a:ext cx="2514600" cy="457200"/>
          </a:xfrm>
          <a:prstGeom prst="roundRect">
            <a:avLst>
              <a:gd name="adj" fmla="val 100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869680" y="34930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mise sur le marché ET exportation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12700" dir="5400000">
              <a:srgbClr val="8AA0B4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910328"/>
            <a:ext cx="502920" cy="457200"/>
          </a:xfrm>
          <a:prstGeom prst="roundRect">
            <a:avLst>
              <a:gd name="adj" fmla="val 100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910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4663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Zéro déforestation » : aucune déforestation de la parcelle après quelle date ?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5166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31 décembre 2020    B. 29 juin 2023    C. jamais déforestée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869680" y="4910328"/>
            <a:ext cx="2514600" cy="457200"/>
          </a:xfrm>
          <a:prstGeom prst="roundRect">
            <a:avLst>
              <a:gd name="adj" fmla="val 100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869680" y="4910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31 décembre 2020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à masquer avant le vote.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292608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47472"/>
            <a:ext cx="1965960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RDUE / EUDR  ·  Webinaire CCI Lyon Métropole  ·  24 septembre 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69848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686800" y="3200400"/>
            <a:ext cx="5943600" cy="5943600"/>
          </a:xfrm>
          <a:prstGeom prst="ellipse">
            <a:avLst/>
          </a:prstGeom>
          <a:solidFill>
            <a:srgbClr val="00439A">
              <a:alpha val="25000"/>
            </a:srgbClr>
          </a:solidFill>
          <a:ln w="12700">
            <a:solidFill>
              <a:srgbClr val="00439A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place à vos questions.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57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7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3 actions immédiates : auditer vos nomenclatures  ·  créer votre compte EU Login  ·  sécuriser vos géolocalisations.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83464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interlocuteurs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3832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Fond, analyse de risque, DDR : ministères Transition écologique &amp; Agriculture — deforestation@developpement-durable.gouv.fr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Formalités : Pôle d'action économique (PAE) des douanes · Infos Douane Service 0 800 94 40 40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européenne : FAQ RDUE (v5) et système d'information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deforestationimportee.ecologie.gouv.fr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283464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123A78"/>
          </a:solidFill>
          <a:ln w="12700">
            <a:solidFill>
              <a:srgbClr val="123A7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intervenantes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0" y="347472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52044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89520" y="34290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Céline Fontana
</a:t>
            </a:r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CF² Douane — Conseil &amp; Formation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86 93 95 72 · celine.fontana@gmail.com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Houda Zebar
</a:t>
            </a:r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Lyon Métropole Saint-Étienne Roanne — co-animatrice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et l'enregistrement vous seront adressés par courriel.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Maîtriser le RDUE</dc:title>
  <dc:subject>PptxGenJS Presentation</dc:subject>
  <dc:creator>CCI Lyon Métropole · CF² Douane</dc:creator>
  <cp:lastModifiedBy>CCI Lyon Métropole · CF² Douane</cp:lastModifiedBy>
  <cp:revision>1</cp:revision>
  <dcterms:created xsi:type="dcterms:W3CDTF">2026-09-16T09:56:29Z</dcterms:created>
  <dcterms:modified xsi:type="dcterms:W3CDTF">2026-09-16T09:56:29Z</dcterms:modified>
</cp:coreProperties>
</file>