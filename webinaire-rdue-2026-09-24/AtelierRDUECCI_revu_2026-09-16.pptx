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9" r:id="rId19"/>
    <p:sldId id="265" r:id="rId15"/>
    <p:sldId id="266" r:id="rId16"/>
    <p:sldId id="267" r:id="rId17"/>
    <p:sldId id="268" r:id="rId18"/>
    <p:sldId id="280" r:id="rId30"/>
    <p:sldId id="270" r:id="rId20"/>
    <p:sldId id="271" r:id="rId21"/>
    <p:sldId id="272" r:id="rId22"/>
    <p:sldId id="273" r:id="rId23"/>
    <p:sldId id="274" r:id="rId24"/>
    <p:sldId id="277" r:id="rId27"/>
    <p:sldId id="278" r:id="rId28"/>
    <p:sldId id="279" r:id="rId29"/>
    <p:sldId id="276" r:id="rId26"/>
    <p:sldId id="282" r:id="rId32"/>
    <p:sldId id="283" r:id="rId33"/>
    <p:sldId id="284" r:id="rId34"/>
    <p:sldId id="285" r:id="rId35"/>
    <p:sldId id="281" r:id="rId31"/>
    <p:sldId id="275" r:id="rId25"/>
    <p:sldId id="286" r:id="rId36"/>
    <p:sldId id="287" r:id="rId37"/>
    <p:sldId id="289" r:id="rId39"/>
    <p:sldId id="288" r:id="rId3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houda 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31T08:29:34.885">
    <p:pos x="6000" y="0"/>
    <p:text>ajouter un point sur les modifications de l'annexe I</p:text>
  </p:cm>
  <p:cm authorId="0" idx="2" dt="2026-08-31T08:30:43.564">
    <p:pos x="6000" y="100"/>
    <p:text>Ajouter un focus sur le bois et l'huile de palme sur les mises à jour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8-31T08:33:51.966">
    <p:pos x="6000" y="0"/>
    <p:text>verifier si scierie fourniture en FRANCE concerné ou pas?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8-31T08:42:56.700">
    <p:pos x="6000" y="0"/>
    <p:text>voir article 3 quelles sont les risques? quand on dit STOP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8-31T08:52:21.437">
    <p:pos x="6000" y="0"/>
    <p:text>AJOUTER LES SOURCES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Accroche : au 30/12/2026, importer 7 matières premières en Europe change. Ce que ça change pour vous.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Sommaire : présenter le plan complet. On y revient à chaque intercalaire.</a:t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Poser le cap + montrer le plan en 4 parties. Prévoir quizz.</a:t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Intercalaire Introduction.</a:t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Chiffre-choc. 420 M ha. Enchaîner sur l'objectif du texte.</a:t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Actualité : report d'un an (2025/2650).</a:t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Le report vient du règlement 2025/2650. Acte délégué annexe I : fin de la période d'examen le 13/09/2026, publication au JOUE attendue mi-septembre — vérifier la veille du webinaire.</a:t>
            </a:r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Intercalaire Partie I.</a:t>
            </a:r>
            <a:endParaRPr/>
          </a:p>
        </p:txBody>
      </p:sp>
      <p:sp>
        <p:nvSpPr>
          <p:cNvPr id="225" name="Google Shape;2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Chat : qui achète/vend un de ces produits ou un dérivé ?</a:t>
            </a:r>
            <a:endParaRPr/>
          </a:p>
        </p:txBody>
      </p:sp>
      <p:sp>
        <p:nvSpPr>
          <p:cNvPr id="251" name="Google Shape;2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Zéro déforestation = production après 31/12/2020. Légalité = pays d'origine.</a:t>
            </a:r>
            <a:endParaRPr/>
          </a:p>
        </p:txBody>
      </p:sp>
      <p:sp>
        <p:nvSpPr>
          <p:cNvPr id="295" name="Google Shape;2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Produit entrant → produit sortant. Faire répondre la salle.</a:t>
            </a:r>
            <a:endParaRPr/>
          </a:p>
        </p:txBody>
      </p:sp>
      <p:sp>
        <p:nvSpPr>
          <p:cNvPr id="328" name="Google Shape;3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La qualification se joue flux par flux. Depuis 2025/2650 : seul le 1er opérateur/commerçant aval collecte le n° de DDR ; pas de retransmission plus loin.</a:t>
            </a:r>
          </a:p>
        </p:txBody>
      </p:sp>
      <p:sp>
        <p:nvSpPr>
          <p:cNvPr id="338" name="Google Shape;33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Quizz : sondage / chat, puis correction.</a:t>
            </a:r>
            <a:endParaRPr/>
          </a:p>
        </p:txBody>
      </p:sp>
      <p:sp>
        <p:nvSpPr>
          <p:cNvPr id="377" name="Google Shape;37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Acte délégué du 13/07/2026 — détail à confirmer sur la version publiée. Vérifier la version publiée au JOUE ; liste indicative issue de l'acte adopté le 13/07/2026.</a:t>
            </a:r>
          </a:p>
        </p:txBody>
      </p:sp>
      <p:sp>
        <p:nvSpPr>
          <p:cNvPr id="409" name="Google Shape;40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Intercalaire Partie II — le cœur (30 min).</a:t>
            </a:r>
            <a:endParaRPr/>
          </a:p>
        </p:txBody>
      </p:sp>
      <p:sp>
        <p:nvSpPr>
          <p:cNvPr id="432" name="Google Shape;4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 SDR est vivant, à réviser chaque année.</a:t>
            </a:r>
            <a:endParaRPr/>
          </a:p>
        </p:txBody>
      </p:sp>
      <p:sp>
        <p:nvSpPr>
          <p:cNvPr id="458" name="Google Shape;45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Géoloc = chemin critique.</a:t>
            </a:r>
            <a:endParaRPr/>
          </a:p>
        </p:txBody>
      </p:sp>
      <p:sp>
        <p:nvSpPr>
          <p:cNvPr id="478" name="Google Shape;47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Risque faible = diligence simplifiée (art. 13).</a:t>
            </a:r>
            <a:endParaRPr/>
          </a:p>
        </p:txBody>
      </p:sp>
      <p:sp>
        <p:nvSpPr>
          <p:cNvPr id="520" name="Google Shape;52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Logigramme diligence (art. 8-13). Cœur de la conformité.</a:t>
            </a:r>
            <a:endParaRPr/>
          </a:p>
        </p:txBody>
      </p:sp>
      <p:sp>
        <p:nvSpPr>
          <p:cNvPr id="552" name="Google Shape;55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Escalier : de l'audit des flux aux accès numériques.</a:t>
            </a:r>
            <a:endParaRPr/>
          </a:p>
        </p:txBody>
      </p:sp>
      <p:sp>
        <p:nvSpPr>
          <p:cNvPr id="562" name="Google Shape;56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L'usage réel et le code déterminent le champ.</a:t>
            </a:r>
            <a:endParaRPr/>
          </a:p>
        </p:txBody>
      </p:sp>
      <p:sp>
        <p:nvSpPr>
          <p:cNvPr id="620" name="Google Shape;62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Intercalaire Partie III.</a:t>
            </a:r>
            <a:endParaRPr/>
          </a:p>
        </p:txBody>
      </p:sp>
      <p:sp>
        <p:nvSpPr>
          <p:cNvPr id="639" name="Google Shape;63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EU Login d'abord. Le n° de référence = sésame douanier. Règl. d'exécution (UE) 2026/1565 en vigueur le 17/07/2026 : déclaration simplifiée micro/petits producteurs, API, groupage. Formations Commission en septembre 2026.</a:t>
            </a:r>
          </a:p>
        </p:txBody>
      </p:sp>
      <p:sp>
        <p:nvSpPr>
          <p:cNvPr id="665" name="Google Shape;66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C716 opérateur / C717 aval-PME. Transmettre n° DDR + code de vérification. Une DDR citée en douane ne peut plus être modifiée ni retirée : vérifier quantité, SH et géolocalisation avant.</a:t>
            </a:r>
          </a:p>
        </p:txBody>
      </p:sp>
      <p:sp>
        <p:nvSpPr>
          <p:cNvPr id="688" name="Google Shape;68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Points qui surprennent : e-commerce, pas de dilution, produits composés, compte multi-rôles.</a:t>
            </a:r>
            <a:endParaRPr/>
          </a:p>
        </p:txBody>
      </p:sp>
      <p:sp>
        <p:nvSpPr>
          <p:cNvPr id="727" name="Google Shape;72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Profils génériques (inspirés de cas réels type Noz / Michelin).</a:t>
            </a:r>
            <a:endParaRPr/>
          </a:p>
        </p:txBody>
      </p:sp>
      <p:sp>
        <p:nvSpPr>
          <p:cNvPr id="766" name="Google Shape;76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Intercalaire Partie IV.</a:t>
            </a:r>
            <a:endParaRPr/>
          </a:p>
        </p:txBody>
      </p:sp>
      <p:sp>
        <p:nvSpPr>
          <p:cNvPr id="789" name="Google Shape;78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D'abord un risque douanier et financier concret.</a:t>
            </a:r>
            <a:endParaRPr/>
          </a:p>
        </p:txBody>
      </p:sp>
      <p:sp>
        <p:nvSpPr>
          <p:cNvPr id="815" name="Google Shape;81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" name="Google Shape;85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sanctions + taux de contrôle.</a:t>
            </a:r>
            <a:endParaRPr/>
          </a:p>
        </p:txBody>
      </p:sp>
      <p:sp>
        <p:nvSpPr>
          <p:cNvPr id="851" name="Google Shape;85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la contrainte à la stratégie.</a:t>
            </a:r>
            <a:endParaRPr/>
          </a:p>
        </p:txBody>
      </p:sp>
      <p:sp>
        <p:nvSpPr>
          <p:cNvPr id="884" name="Google Shape;88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Anticipation + archivage 5 ans + audit + EU Login + géoloc + accompagnement.</a:t>
            </a:r>
            <a:endParaRPr/>
          </a:p>
        </p:txBody>
      </p:sp>
      <p:sp>
        <p:nvSpPr>
          <p:cNvPr id="925" name="Google Shape;92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Synthèse pyramidale (reprise de Céline) : produit conforme → système documenté → déclaration parfaite.</a:t>
            </a:r>
            <a:endParaRPr/>
          </a:p>
        </p:txBody>
      </p:sp>
      <p:sp>
        <p:nvSpPr>
          <p:cNvPr id="966" name="Google Shape;96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6" name="Google Shape;98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Quiz final : masquer les réponses (animation) ou les révéler après le sondage.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1.xml"/><Relationship Id="rId4" Type="http://schemas.openxmlformats.org/officeDocument/2006/relationships/image" Target="../media/image54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35.png"/><Relationship Id="rId8" Type="http://schemas.openxmlformats.org/officeDocument/2006/relationships/image" Target="../media/image33.png"/><Relationship Id="rId9" Type="http://schemas.openxmlformats.org/officeDocument/2006/relationships/image" Target="../media/image5.png"/><Relationship Id="rId10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53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2.xml"/><Relationship Id="rId4" Type="http://schemas.openxmlformats.org/officeDocument/2006/relationships/image" Target="../media/image5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6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34.png"/><Relationship Id="rId5" Type="http://schemas.openxmlformats.org/officeDocument/2006/relationships/image" Target="../media/image19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3.xml"/><Relationship Id="rId4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6.png"/><Relationship Id="rId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63.png"/><Relationship Id="rId5" Type="http://schemas.openxmlformats.org/officeDocument/2006/relationships/image" Target="../media/image55.png"/><Relationship Id="rId6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64.png"/><Relationship Id="rId5" Type="http://schemas.openxmlformats.org/officeDocument/2006/relationships/image" Target="../media/image41.png"/><Relationship Id="rId6" Type="http://schemas.openxmlformats.org/officeDocument/2006/relationships/image" Target="../media/image60.png"/><Relationship Id="rId7" Type="http://schemas.openxmlformats.org/officeDocument/2006/relationships/image" Target="../media/image4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1.png"/><Relationship Id="rId4" Type="http://schemas.openxmlformats.org/officeDocument/2006/relationships/image" Target="../media/image64.png"/><Relationship Id="rId5" Type="http://schemas.openxmlformats.org/officeDocument/2006/relationships/image" Target="../media/image63.png"/><Relationship Id="rId6" Type="http://schemas.openxmlformats.org/officeDocument/2006/relationships/image" Target="../media/image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5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Relationship Id="rId4" Type="http://schemas.openxmlformats.org/officeDocument/2006/relationships/image" Target="../media/image51.png"/><Relationship Id="rId5" Type="http://schemas.openxmlformats.org/officeDocument/2006/relationships/image" Target="../media/image46.png"/><Relationship Id="rId6" Type="http://schemas.openxmlformats.org/officeDocument/2006/relationships/image" Target="../media/image21.png"/><Relationship Id="rId7" Type="http://schemas.openxmlformats.org/officeDocument/2006/relationships/image" Target="../media/image9.png"/><Relationship Id="rId8" Type="http://schemas.openxmlformats.org/officeDocument/2006/relationships/image" Target="../media/image5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comments" Target="../comments/commen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07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852160" y="-1463040"/>
            <a:ext cx="4754880" cy="4754880"/>
          </a:xfrm>
          <a:prstGeom prst="ellipse">
            <a:avLst/>
          </a:prstGeom>
          <a:solidFill>
            <a:srgbClr val="003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315200" y="4206240"/>
            <a:ext cx="4114800" cy="4114800"/>
          </a:xfrm>
          <a:prstGeom prst="ellipse">
            <a:avLst/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1005840"/>
            <a:ext cx="822960" cy="822960"/>
          </a:xfrm>
          <a:prstGeom prst="ellipse">
            <a:avLst/>
          </a:prstGeom>
          <a:solidFill>
            <a:srgbClr val="DF337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edling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150" y="120335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1508760" y="105156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WEBINAIRE — DOUANE &amp; RSE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Maîtriser le RDUE et sécuriser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 opérations douanières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Règlement européen contre la déforestation (UE 2023/1115) — De la parcelle au passage en douane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4023360"/>
            <a:ext cx="3931920" cy="1051560"/>
          </a:xfrm>
          <a:prstGeom prst="roundRect">
            <a:avLst>
              <a:gd fmla="val 6957" name="adj"/>
            </a:avLst>
          </a:prstGeom>
          <a:solidFill>
            <a:srgbClr val="063A68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77240" y="4114800"/>
            <a:ext cx="3520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Céline Fontana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CF² Douane — Consultante &amp; Formatrice en Douane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663440" y="4023360"/>
            <a:ext cx="3931920" cy="1051560"/>
          </a:xfrm>
          <a:prstGeom prst="roundRect">
            <a:avLst>
              <a:gd fmla="val 6957" name="adj"/>
            </a:avLst>
          </a:prstGeom>
          <a:solidFill>
            <a:srgbClr val="063A68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892040" y="4114800"/>
            <a:ext cx="3520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Houda Zebar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Co-animatrice du webinaire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48640" y="5440680"/>
            <a:ext cx="265176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731520" y="565099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31520" y="59070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FB6CC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297680" y="544068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6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6CC"/>
                </a:solidFill>
                <a:latin typeface="Calibri"/>
                <a:ea typeface="Calibri"/>
                <a:cs typeface="Calibri"/>
                <a:sym typeface="Calibri"/>
              </a:rPr>
              <a:t>En distanciel · 24 septembre 2026 · 1h30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2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Sommaire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Le déroulé du webinaire — 1h30, une introduction et 4 parties.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141732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21792" y="1554480"/>
            <a:ext cx="777240" cy="548640"/>
          </a:xfrm>
          <a:prstGeom prst="roundRect">
            <a:avLst>
              <a:gd fmla="val 13333" name="adj"/>
            </a:avLst>
          </a:prstGeom>
          <a:solidFill>
            <a:srgbClr val="DF3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21792" y="1554480"/>
            <a:ext cx="777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554480" y="152704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Introduction — Contexte &amp; enjeux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086600" y="1563624"/>
            <a:ext cx="1417320" cy="329184"/>
          </a:xfrm>
          <a:prstGeom prst="roundRect">
            <a:avLst>
              <a:gd fmla="val 50000" name="adj"/>
            </a:avLst>
          </a:prstGeom>
          <a:solidFill>
            <a:srgbClr val="F4F7FA"/>
          </a:solidFill>
          <a:ln cap="flat" cmpd="sng" w="12700">
            <a:solidFill>
              <a:srgbClr val="DF3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7086600" y="1563624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54480" y="187452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Urgence écologique · objectifs du RDUE · report d'un an · le texte 2023/1115 mod. 2025/2650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2350008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21792" y="2487168"/>
            <a:ext cx="777240" cy="548640"/>
          </a:xfrm>
          <a:prstGeom prst="roundRect">
            <a:avLst>
              <a:gd fmla="val 13333" name="adj"/>
            </a:avLst>
          </a:prstGeom>
          <a:solidFill>
            <a:srgbClr val="004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21792" y="2487168"/>
            <a:ext cx="777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54480" y="2459736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Êtes-vous concernés 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086600" y="2496312"/>
            <a:ext cx="1417320" cy="329184"/>
          </a:xfrm>
          <a:prstGeom prst="roundRect">
            <a:avLst>
              <a:gd fmla="val 50000" name="adj"/>
            </a:avLst>
          </a:prstGeom>
          <a:solidFill>
            <a:srgbClr val="F4F7FA"/>
          </a:solidFill>
          <a:ln cap="flat" cmpd="sng" w="12700">
            <a:solidFill>
              <a:srgbClr val="0040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7086600" y="2496312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20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554480" y="280720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7 matières &amp; dérivés (annexe I) · définitions clés · acteurs &amp; responsabilités · calendrier &amp; évolution de l'annexe 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57200" y="3282696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21792" y="3419856"/>
            <a:ext cx="777240" cy="548640"/>
          </a:xfrm>
          <a:prstGeom prst="roundRect">
            <a:avLst>
              <a:gd fmla="val 13333" name="adj"/>
            </a:avLst>
          </a:prstGeom>
          <a:solidFill>
            <a:srgbClr val="009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21792" y="3419856"/>
            <a:ext cx="777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554480" y="3392424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La diligence raisonnée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086600" y="3429000"/>
            <a:ext cx="1417320" cy="329184"/>
          </a:xfrm>
          <a:prstGeom prst="roundRect">
            <a:avLst>
              <a:gd fmla="val 50000" name="adj"/>
            </a:avLst>
          </a:prstGeom>
          <a:solidFill>
            <a:srgbClr val="F4F7FA"/>
          </a:solidFill>
          <a:ln cap="flat" cmpd="sng" w="12700">
            <a:solidFill>
              <a:srgbClr val="0092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7086600" y="342900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2D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92D2"/>
                </a:solidFill>
                <a:latin typeface="Calibri"/>
                <a:ea typeface="Calibri"/>
                <a:cs typeface="Calibri"/>
                <a:sym typeface="Calibri"/>
              </a:rPr>
              <a:t>30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554480" y="3739896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le système de diligence (SDR) · les 3 étapes · la diligence simplifiée · le réexamen annuel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57200" y="4215384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21792" y="4352544"/>
            <a:ext cx="777240" cy="548640"/>
          </a:xfrm>
          <a:prstGeom prst="roundRect">
            <a:avLst>
              <a:gd fmla="val 13333" name="adj"/>
            </a:avLst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21792" y="4352544"/>
            <a:ext cx="777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554480" y="4325112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Mise en œuvre &amp; formalités douanières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086600" y="4361688"/>
            <a:ext cx="1417320" cy="329184"/>
          </a:xfrm>
          <a:prstGeom prst="roundRect">
            <a:avLst>
              <a:gd fmla="val 50000" name="adj"/>
            </a:avLst>
          </a:prstGeom>
          <a:solidFill>
            <a:srgbClr val="F4F7FA"/>
          </a:solidFill>
          <a:ln cap="flat" cmpd="sng" w="12700">
            <a:solidFill>
              <a:srgbClr val="00A4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7086600" y="4361688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49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49F"/>
                </a:solidFill>
                <a:latin typeface="Calibri"/>
                <a:ea typeface="Calibri"/>
                <a:cs typeface="Calibri"/>
                <a:sym typeface="Calibri"/>
              </a:rPr>
              <a:t>20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554480" y="467258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TRACES-NT &amp; EU Login · déclarer en douane (Delta) : C716 / C717 / Y · transmission amont-aval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7200" y="5148072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621792" y="5285232"/>
            <a:ext cx="777240" cy="548640"/>
          </a:xfrm>
          <a:prstGeom prst="roundRect">
            <a:avLst>
              <a:gd fmla="val 13333" name="adj"/>
            </a:avLst>
          </a:prstGeom>
          <a:solidFill>
            <a:srgbClr val="F18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621792" y="5285232"/>
            <a:ext cx="777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554480" y="525780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Bonnes pratiques &amp; conseils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086600" y="5294376"/>
            <a:ext cx="1417320" cy="329184"/>
          </a:xfrm>
          <a:prstGeom prst="roundRect">
            <a:avLst>
              <a:gd fmla="val 50000" name="adj"/>
            </a:avLst>
          </a:prstGeom>
          <a:solidFill>
            <a:srgbClr val="F4F7FA"/>
          </a:solidFill>
          <a:ln cap="flat" cmpd="sng" w="12700">
            <a:solidFill>
              <a:srgbClr val="F18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7086600" y="5294376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87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18700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554480" y="560527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anticiper · archiver · se faire accompagner · synthèse des conseils &amp; maîtrise des risques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3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Objectifs du webinaire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Ce que vous saurez faire en sortant.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57200" y="1600200"/>
            <a:ext cx="39776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58368" y="1965960"/>
            <a:ext cx="685800" cy="685800"/>
          </a:xfrm>
          <a:prstGeom prst="ellipse">
            <a:avLst/>
          </a:prstGeom>
          <a:solidFill>
            <a:srgbClr val="004079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arget.png" id="90" name="Google Shape;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1305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1508760" y="18288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Vous situer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508760" y="22402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Déterminer si votre entreprise est concernée, et à quel titre.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617720" y="1600200"/>
            <a:ext cx="39776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4818888" y="1965960"/>
            <a:ext cx="685800" cy="685800"/>
          </a:xfrm>
          <a:prstGeom prst="ellipse">
            <a:avLst/>
          </a:prstGeom>
          <a:solidFill>
            <a:srgbClr val="0092D2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ox.png" id="95" name="Google Shape;9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21305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5669280" y="18288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Identifier vos produits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669280" y="22402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Les retrouver dans l'annexe I et connaître les bons codes douaniers.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57200" y="3200400"/>
            <a:ext cx="39776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58368" y="3566160"/>
            <a:ext cx="685800" cy="685800"/>
          </a:xfrm>
          <a:prstGeom prst="ellipse">
            <a:avLst/>
          </a:prstGeom>
          <a:solidFill>
            <a:srgbClr val="00A49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itemap.png" id="100" name="Google Shape;10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" y="37307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1508760" y="34290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Maîtriser la diligence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508760" y="38404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Le système de diligence, les 3 étapes, les preuves à réunir.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617720" y="3200400"/>
            <a:ext cx="39776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818888" y="3566160"/>
            <a:ext cx="685800" cy="685800"/>
          </a:xfrm>
          <a:prstGeom prst="ellipse">
            <a:avLst/>
          </a:prstGeom>
          <a:solidFill>
            <a:srgbClr val="F18700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ocket.png" id="105" name="Google Shape;10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7307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5669280" y="34290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Passer à l'action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669280" y="38404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TRACES, déclaration en douane, échéances, contacts utiles.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57200" y="51206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Co-animation Céline Fontana &amp; Houda Zebar · questionnaires &amp; quizz tout au long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079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704088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704088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003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40080" y="141732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i="0" lang="en-US" sz="1400" u="none" cap="none" strike="noStrike">
                <a:solidFill>
                  <a:srgbClr val="9FC4E0"/>
                </a:solidFill>
                <a:latin typeface="Calibri"/>
                <a:ea typeface="Calibri"/>
                <a:cs typeface="Calibri"/>
                <a:sym typeface="Calibri"/>
              </a:rPr>
              <a:t>    ·    10 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94360" y="18288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 &amp; enjeux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85800" y="3566160"/>
            <a:ext cx="5486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L'urgence écologique : le constat en chiffres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Les objectifs du RDUE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L'actualité : le report d'un an (règl. 2025/2650)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Le texte : UE 2023/1115 modifié par UE 2025/2650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446520" y="164592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DF3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6583680" y="17739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086600" y="170078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 &amp; enjeux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446520" y="251460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6583680" y="26426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086600" y="256946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Êtes-vous concernés 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446520" y="338328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583680" y="35112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086600" y="343814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La diligence raisonnée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446520" y="425196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583680" y="43799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III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086600" y="430682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Mise en œuvre &amp; formalités douanières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446520" y="512064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6583680" y="52486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7086600" y="517550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Bonnes pratiques &amp; conseils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079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coût de l'inaction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4E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FC4E0"/>
                </a:solidFill>
                <a:latin typeface="Calibri"/>
                <a:ea typeface="Calibri"/>
                <a:cs typeface="Calibri"/>
                <a:sym typeface="Calibri"/>
              </a:rPr>
              <a:t>Pourquoi ce règlement ? L'urgence écologique en chiffres.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48640" y="1828800"/>
            <a:ext cx="2514600" cy="2286000"/>
          </a:xfrm>
          <a:prstGeom prst="roundRect">
            <a:avLst>
              <a:gd fmla="val 3200" name="adj"/>
            </a:avLst>
          </a:prstGeom>
          <a:solidFill>
            <a:srgbClr val="063A68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48640" y="214884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420 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31520" y="306324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F0F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hectares de forêts disparus entre 1990 et 2020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246120" y="1828800"/>
            <a:ext cx="2514600" cy="2286000"/>
          </a:xfrm>
          <a:prstGeom prst="roundRect">
            <a:avLst>
              <a:gd fmla="val 3200" name="adj"/>
            </a:avLst>
          </a:prstGeom>
          <a:solidFill>
            <a:srgbClr val="063A68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3246120" y="214884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2D2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92D2"/>
                </a:solidFill>
                <a:latin typeface="Calibri"/>
                <a:ea typeface="Calibri"/>
                <a:cs typeface="Calibri"/>
                <a:sym typeface="Calibri"/>
              </a:rPr>
              <a:t>10 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429000" y="306324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F0F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hectares supplémentaires perdus chaque année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943600" y="1828800"/>
            <a:ext cx="2514600" cy="2286000"/>
          </a:xfrm>
          <a:prstGeom prst="roundRect">
            <a:avLst>
              <a:gd fmla="val 3200" name="adj"/>
            </a:avLst>
          </a:prstGeom>
          <a:solidFill>
            <a:srgbClr val="063A68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5943600" y="214884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49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A49F"/>
                </a:solidFill>
                <a:latin typeface="Calibri"/>
                <a:ea typeface="Calibri"/>
                <a:cs typeface="Calibri"/>
                <a:sym typeface="Calibri"/>
              </a:rPr>
              <a:t>11 %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126480" y="306324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F0F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des émissions mondiales de gaz à effet de serre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48640" y="44805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Le RDUE vise à réduire la contribution de la consommation européenne à la déforestation importée et à promouvoir des chaînes d'approvisionnement durables.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48640" y="60350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A5C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FA5C4"/>
                </a:solidFill>
                <a:latin typeface="Calibri"/>
                <a:ea typeface="Calibri"/>
                <a:cs typeface="Calibri"/>
                <a:sym typeface="Calibri"/>
              </a:rPr>
              <a:t>Source : brochure DGDDI / Douane — Règlement européen contre la déforestation.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6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Le RDUE en bref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57200" y="1417320"/>
            <a:ext cx="4709160" cy="4572000"/>
          </a:xfrm>
          <a:prstGeom prst="roundRect">
            <a:avLst>
              <a:gd fmla="val 1600" name="adj"/>
            </a:avLst>
          </a:prstGeom>
          <a:solidFill>
            <a:srgbClr val="F4F7FA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85800" y="1645920"/>
            <a:ext cx="4251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Le texte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Règlement (UE) 2023/1115 du 31 mai 2023, modifié par le règlement (UE) 2025/2650 du 19 décembre 2025 (JOUE du 23/12/2025, en vigueur le 26/12/2025). Il abroge le règlement bois RBUE (995/2010) à la date d'application.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0407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L'interdiction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Interdire la mise sur le marché de l'UE — et l'exportation depuis l'UE — de produits ayant contribué à la déforestation ou à la dégradation des forêts après le 31/12/2020.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0407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La logique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Ce n'est pas un label « vert » : c'est une condition d'accès au marché européen.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349240" y="1417320"/>
            <a:ext cx="3337560" cy="2148840"/>
          </a:xfrm>
          <a:prstGeom prst="roundRect">
            <a:avLst>
              <a:gd fmla="val 3404" name="adj"/>
            </a:avLst>
          </a:prstGeom>
          <a:solidFill>
            <a:srgbClr val="004079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349240" y="1737360"/>
            <a:ext cx="3337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31/12/2020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349240" y="237744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C4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FC4E0"/>
                </a:solidFill>
                <a:latin typeface="Calibri"/>
                <a:ea typeface="Calibri"/>
                <a:cs typeface="Calibri"/>
                <a:sym typeface="Calibri"/>
              </a:rPr>
              <a:t>DATE BUTOIR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532120" y="2697480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Aucune déforestation postérieure n'est admise.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349240" y="3840480"/>
            <a:ext cx="3337560" cy="2148840"/>
          </a:xfrm>
          <a:prstGeom prst="roundRect">
            <a:avLst>
              <a:gd fmla="val 3404" name="adj"/>
            </a:avLst>
          </a:prstGeom>
          <a:solidFill>
            <a:srgbClr val="EAF2F8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349240" y="4160520"/>
            <a:ext cx="3337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30/12/2026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349240" y="480060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2D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92D2"/>
                </a:solidFill>
                <a:latin typeface="Calibri"/>
                <a:ea typeface="Calibri"/>
                <a:cs typeface="Calibri"/>
                <a:sym typeface="Calibri"/>
              </a:rPr>
              <a:t>APPLICATION DU SOCLE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532120" y="5120640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Grandes &amp; moyennes entreprises (micro &amp; petites : 30/06/2027).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7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Le point sur le calendrier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Reporté d'un an par le règlement (UE) 2025/2650 — calendrier confirmé par la revue de simplification du 4 mai 2026.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57200" y="146304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004079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658368" y="1572768"/>
            <a:ext cx="548640" cy="548640"/>
          </a:xfrm>
          <a:prstGeom prst="ellipse">
            <a:avLst/>
          </a:prstGeom>
          <a:solidFill>
            <a:srgbClr val="DF337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alendar.png" id="188" name="Google Shape;1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042" y="170444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/>
          <p:nvPr/>
        </p:nvSpPr>
        <p:spPr>
          <a:xfrm>
            <a:off x="1371600" y="1463040"/>
            <a:ext cx="7132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 D'UN AN  </a:t>
            </a:r>
            <a:r>
              <a:rPr b="0" i="0" lang="en-US" sz="12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— l'échéance initiale (2025) est décalée à 2026/2027. Le 4 mai 2026, la Commission a confirmé qu'elle ne rouvrira pas le texte.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9"/>
          <p:cNvCxnSpPr/>
          <p:nvPr/>
        </p:nvCxnSpPr>
        <p:spPr>
          <a:xfrm>
            <a:off x="640080" y="2834640"/>
            <a:ext cx="7863840" cy="0"/>
          </a:xfrm>
          <a:prstGeom prst="straightConnector1">
            <a:avLst/>
          </a:prstGeom>
          <a:noFill/>
          <a:ln cap="flat" cmpd="sng" w="25400">
            <a:solidFill>
              <a:srgbClr val="C4D3E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1" name="Google Shape;191;p9"/>
          <p:cNvSpPr/>
          <p:nvPr/>
        </p:nvSpPr>
        <p:spPr>
          <a:xfrm>
            <a:off x="457200" y="2926080"/>
            <a:ext cx="1298448" cy="16002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987552" y="2724912"/>
            <a:ext cx="256032" cy="256032"/>
          </a:xfrm>
          <a:prstGeom prst="ellipse">
            <a:avLst/>
          </a:prstGeom>
          <a:solidFill>
            <a:srgbClr val="DF337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57200" y="3054096"/>
            <a:ext cx="12984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26/12/2025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12064" y="338328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Modificatif en vigueur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30352" y="3858768"/>
            <a:ext cx="115214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règl. 2025/2650 : report + simplifications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847088" y="2926080"/>
            <a:ext cx="1298448" cy="16002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2377440" y="2724912"/>
            <a:ext cx="256032" cy="256032"/>
          </a:xfrm>
          <a:prstGeom prst="ellipse">
            <a:avLst/>
          </a:prstGeom>
          <a:solidFill>
            <a:srgbClr val="5F6B7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1847088" y="3054096"/>
            <a:ext cx="12984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fin juin 2026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901952" y="338328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Système d'info. rouvert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920240" y="3858768"/>
            <a:ext cx="115214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dépôt des DDR (ex-TRACES)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236976" y="2926080"/>
            <a:ext cx="1298448" cy="16002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3767328" y="2724912"/>
            <a:ext cx="256032" cy="256032"/>
          </a:xfrm>
          <a:prstGeom prst="ellipse">
            <a:avLst/>
          </a:prstGeom>
          <a:solidFill>
            <a:srgbClr val="0092D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3236976" y="3054096"/>
            <a:ext cx="12984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13/07/2026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291840" y="338328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2D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92D2"/>
                </a:solidFill>
                <a:latin typeface="Calibri"/>
                <a:ea typeface="Calibri"/>
                <a:cs typeface="Calibri"/>
                <a:sym typeface="Calibri"/>
              </a:rPr>
              <a:t>Acte délégué annexe 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310128" y="3858768"/>
            <a:ext cx="115214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+ règl. exéc. 2026/1565 (SI)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626864" y="2926080"/>
            <a:ext cx="1298448" cy="16002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5157216" y="2724912"/>
            <a:ext cx="256032" cy="256032"/>
          </a:xfrm>
          <a:prstGeom prst="ellipse">
            <a:avLst/>
          </a:prstGeom>
          <a:solidFill>
            <a:srgbClr val="004079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4626864" y="3054096"/>
            <a:ext cx="12984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30/12/2026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681728" y="338328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Socle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700016" y="3858768"/>
            <a:ext cx="115214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grandes &amp; moyennes ent.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016752" y="2926080"/>
            <a:ext cx="1298448" cy="16002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6547104" y="2724912"/>
            <a:ext cx="256032" cy="256032"/>
          </a:xfrm>
          <a:prstGeom prst="ellipse">
            <a:avLst/>
          </a:prstGeom>
          <a:solidFill>
            <a:srgbClr val="00A49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6016752" y="3054096"/>
            <a:ext cx="12984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30/06/2027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071616" y="338328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49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49F"/>
                </a:solidFill>
                <a:latin typeface="Calibri"/>
                <a:ea typeface="Calibri"/>
                <a:cs typeface="Calibri"/>
                <a:sym typeface="Calibri"/>
              </a:rPr>
              <a:t>Micro &amp; petites 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089904" y="3858768"/>
            <a:ext cx="115214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fin du report TPE/PE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7406640" y="2926080"/>
            <a:ext cx="1298448" cy="1600200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7936992" y="2724912"/>
            <a:ext cx="256032" cy="256032"/>
          </a:xfrm>
          <a:prstGeom prst="ellipse">
            <a:avLst/>
          </a:prstGeom>
          <a:solidFill>
            <a:srgbClr val="F1870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7406640" y="3054096"/>
            <a:ext cx="12984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30/12/2027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7461504" y="338328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87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18700"/>
                </a:solidFill>
                <a:latin typeface="Calibri"/>
                <a:ea typeface="Calibri"/>
                <a:cs typeface="Calibri"/>
                <a:sym typeface="Calibri"/>
              </a:rPr>
              <a:t>Nouveaux produits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7479792" y="3858768"/>
            <a:ext cx="115214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ajouts annexe 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Reporté n'est pas supprimé — la date butoir du 31/12/2020 est inchangée ; la traçabilité jusqu'à la parcelle se prépare dès maintenant.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079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704088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704088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003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640080" y="141732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PARTIE I</a:t>
            </a:r>
            <a:r>
              <a:rPr b="1" i="0" lang="en-US" sz="1400" u="none" cap="none" strike="noStrike">
                <a:solidFill>
                  <a:srgbClr val="9FC4E0"/>
                </a:solidFill>
                <a:latin typeface="Calibri"/>
                <a:ea typeface="Calibri"/>
                <a:cs typeface="Calibri"/>
                <a:sym typeface="Calibri"/>
              </a:rPr>
              <a:t>    ·    20 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94360" y="18288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Êtes-vous concernés 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85800" y="3566160"/>
            <a:ext cx="5486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Les produits visés : 7 matières + dérivés (annexe I)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Définitions clés : zéro déforestation &amp; légalité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Acteurs &amp; responsabilités : opérateur, aval, commerçant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Le calendrier &amp; l'évolution de l'annexe 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446520" y="164592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6583680" y="17739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7086600" y="170078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Contexte &amp; enjeux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446520" y="251460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DF3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583680" y="26426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7086600" y="256946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Êtes-vous concernés 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6446520" y="338328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6583680" y="35112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7086600" y="343814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La diligence raisonnée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446520" y="425196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6583680" y="43799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III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7086600" y="430682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Mise en œuvre &amp; formalités douanières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6446520" y="512064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6583680" y="52486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7086600" y="517550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Bonnes pratiques &amp; conseils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9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Les 7 matières premières — Annexe I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Un produit est concerné s'il figure à l'annexe I ET contient l'une de ces matières.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502920" y="1508760"/>
            <a:ext cx="1920240" cy="21488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roch_cafe.png" id="260" name="Google Shape;26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" y="1691640"/>
            <a:ext cx="91440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1"/>
          <p:cNvSpPr/>
          <p:nvPr/>
        </p:nvSpPr>
        <p:spPr>
          <a:xfrm>
            <a:off x="502920" y="28346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Café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02920" y="32004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NC 0901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2587752" y="1508760"/>
            <a:ext cx="1920240" cy="21488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roch_cacao.png" id="264" name="Google Shape;26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0672" y="1691640"/>
            <a:ext cx="91440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1"/>
          <p:cNvSpPr/>
          <p:nvPr/>
        </p:nvSpPr>
        <p:spPr>
          <a:xfrm>
            <a:off x="2587752" y="28346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Cacao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2587752" y="32004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NC 1801→1806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672584" y="1508760"/>
            <a:ext cx="1920240" cy="21488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roch_caoutchouc.png" id="268" name="Google Shape;26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75504" y="1691640"/>
            <a:ext cx="91440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1"/>
          <p:cNvSpPr/>
          <p:nvPr/>
        </p:nvSpPr>
        <p:spPr>
          <a:xfrm>
            <a:off x="4672584" y="28346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Caoutchouc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4672584" y="32004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NC 4001→4017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6757416" y="1508760"/>
            <a:ext cx="1920240" cy="21488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roch_soja.png" id="272" name="Google Shape;27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60336" y="1691640"/>
            <a:ext cx="91440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1"/>
          <p:cNvSpPr/>
          <p:nvPr/>
        </p:nvSpPr>
        <p:spPr>
          <a:xfrm>
            <a:off x="6757416" y="283464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Soja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6757416" y="32004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NC 1201·1507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02920" y="3886200"/>
            <a:ext cx="260604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667512" y="4069080"/>
            <a:ext cx="502920" cy="502920"/>
          </a:xfrm>
          <a:prstGeom prst="ellipse">
            <a:avLst/>
          </a:prstGeom>
          <a:solidFill>
            <a:srgbClr val="F18700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palm.png" id="277" name="Google Shape;27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8213" y="41897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1"/>
          <p:cNvSpPr/>
          <p:nvPr/>
        </p:nvSpPr>
        <p:spPr>
          <a:xfrm>
            <a:off x="1280160" y="399592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Huile de palme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1280160" y="4343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NC 1511·1513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3291840" y="3886200"/>
            <a:ext cx="260604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3456432" y="4069080"/>
            <a:ext cx="502920" cy="502920"/>
          </a:xfrm>
          <a:prstGeom prst="ellipse">
            <a:avLst/>
          </a:prstGeom>
          <a:solidFill>
            <a:srgbClr val="D8232A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w.png" id="282" name="Google Shape;282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77133" y="41897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1"/>
          <p:cNvSpPr/>
          <p:nvPr/>
        </p:nvSpPr>
        <p:spPr>
          <a:xfrm>
            <a:off x="4069080" y="399592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Bœuf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4069080" y="4343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NC 0102·0201 (cuir : exclu*)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6080760" y="3886200"/>
            <a:ext cx="260604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6245352" y="4069080"/>
            <a:ext cx="502920" cy="502920"/>
          </a:xfrm>
          <a:prstGeom prst="ellipse">
            <a:avLst/>
          </a:prstGeom>
          <a:solidFill>
            <a:srgbClr val="00A49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ood.png" id="287" name="Google Shape;287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66053" y="41897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1"/>
          <p:cNvSpPr/>
          <p:nvPr/>
        </p:nvSpPr>
        <p:spPr>
          <a:xfrm>
            <a:off x="6858000" y="399592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Bois &amp; papier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6858000" y="4343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NC 4401→4421·ch.47-48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57200" y="4983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Dérivés : papier, charbon de bois, pneus, chocolat… vous font entrer dans le champ. *Cuirs et peaux : sortis par l'acte délégué du 13/07/2026.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457200" y="59893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7B2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9AA7B2"/>
                </a:solidFill>
                <a:latin typeface="Calibri"/>
                <a:ea typeface="Calibri"/>
                <a:cs typeface="Calibri"/>
                <a:sym typeface="Calibri"/>
              </a:rPr>
              <a:t>Illustrations : brochure DGDDI / Douane, recolorées.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11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Définitions clés : les 3 conditions cumulatives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Il en manque une, le produit ne peut pas entrer (art. 3).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57200" y="1645920"/>
            <a:ext cx="2606040" cy="338328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1371600" y="1965960"/>
            <a:ext cx="777240" cy="777240"/>
          </a:xfrm>
          <a:prstGeom prst="ellipse">
            <a:avLst/>
          </a:prstGeom>
          <a:solidFill>
            <a:srgbClr val="00A49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eaf.png" id="305" name="Google Shape;3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8138" y="215249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2"/>
          <p:cNvSpPr/>
          <p:nvPr/>
        </p:nvSpPr>
        <p:spPr>
          <a:xfrm>
            <a:off x="594360" y="288036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Zéro déforestation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85800" y="3383280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Production sur des terres non déboisées après le 31/12/2020.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1234440" y="4617720"/>
            <a:ext cx="1051560" cy="256032"/>
          </a:xfrm>
          <a:prstGeom prst="roundRect">
            <a:avLst>
              <a:gd fmla="val 50000" name="adj"/>
            </a:avLst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1234440" y="461772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art. 3 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3246120" y="1645920"/>
            <a:ext cx="2606040" cy="338328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4160520" y="1965960"/>
            <a:ext cx="777240" cy="777240"/>
          </a:xfrm>
          <a:prstGeom prst="ellipse">
            <a:avLst/>
          </a:prstGeom>
          <a:solidFill>
            <a:srgbClr val="0092D2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alance.png" id="312" name="Google Shape;3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7058" y="215249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/>
          <p:nvPr/>
        </p:nvSpPr>
        <p:spPr>
          <a:xfrm>
            <a:off x="3383280" y="288036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Légalité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3474720" y="3383280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Conformité à la législation du pays de production (foncier, environnement, travail…).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4023360" y="4617720"/>
            <a:ext cx="1051560" cy="256032"/>
          </a:xfrm>
          <a:prstGeom prst="roundRect">
            <a:avLst>
              <a:gd fmla="val 50000" name="adj"/>
            </a:avLst>
          </a:prstGeom>
          <a:solidFill>
            <a:srgbClr val="009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4023360" y="461772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art. 3 b)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6035040" y="1645920"/>
            <a:ext cx="2606040" cy="338328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6949440" y="1965960"/>
            <a:ext cx="777240" cy="777240"/>
          </a:xfrm>
          <a:prstGeom prst="ellipse">
            <a:avLst/>
          </a:prstGeom>
          <a:solidFill>
            <a:srgbClr val="004079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lesign.png" id="319" name="Google Shape;31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5978" y="215249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2"/>
          <p:cNvSpPr/>
          <p:nvPr/>
        </p:nvSpPr>
        <p:spPr>
          <a:xfrm>
            <a:off x="6172200" y="288036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Déclaration (DDR)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6263640" y="3383280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Couvert par une déclaration de diligence raisonnée dans TRACES.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6812280" y="4617720"/>
            <a:ext cx="1051560" cy="256032"/>
          </a:xfrm>
          <a:prstGeom prst="roundRect">
            <a:avLst>
              <a:gd fmla="val 50000" name="adj"/>
            </a:avLst>
          </a:prstGeom>
          <a:solidFill>
            <a:srgbClr val="004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6812280" y="461772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art. 3 c)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457200" y="5257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+  cumulatives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12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hema-flux.png" id="334" name="Google Shape;33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640080"/>
            <a:ext cx="8595360" cy="4763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13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Acteurs &amp; responsabilités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Amont ou aval, le rôle — flux par flux — fixe le niveau d'obligation (définitions art. 2).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457200" y="1600200"/>
            <a:ext cx="2606040" cy="402336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457200" y="1600200"/>
            <a:ext cx="2606040" cy="822960"/>
          </a:xfrm>
          <a:prstGeom prst="roundRect">
            <a:avLst>
              <a:gd fmla="val 8889" name="adj"/>
            </a:avLst>
          </a:prstGeom>
          <a:solidFill>
            <a:srgbClr val="004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621792" y="1746504"/>
            <a:ext cx="530352" cy="530352"/>
          </a:xfrm>
          <a:prstGeom prst="ellipse">
            <a:avLst/>
          </a:prstGeom>
          <a:solidFill>
            <a:srgbClr val="063A68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ownload.png" id="349" name="Google Shape;3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076" y="1873788"/>
            <a:ext cx="275783" cy="275783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4"/>
          <p:cNvSpPr/>
          <p:nvPr/>
        </p:nvSpPr>
        <p:spPr>
          <a:xfrm>
            <a:off x="1234440" y="160020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Opérateur (amont)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777240" y="2514600"/>
            <a:ext cx="1965960" cy="256032"/>
          </a:xfrm>
          <a:prstGeom prst="roundRect">
            <a:avLst>
              <a:gd fmla="val 50000" name="adj"/>
            </a:avLst>
          </a:prstGeom>
          <a:solidFill>
            <a:srgbClr val="004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777240" y="2514600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art. 2 §15 · art. 4-11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457200" y="284378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CHARGE MAXIMALE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658368" y="3154680"/>
            <a:ext cx="224028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Met sur le marché UE en premier / exporte.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Diligence complète (art. 8-11).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Dépose la DDR (art. 4 &amp; 33).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N° de référence en douane (C716).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3246120" y="1600200"/>
            <a:ext cx="2606040" cy="402336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3246120" y="1600200"/>
            <a:ext cx="2606040" cy="822960"/>
          </a:xfrm>
          <a:prstGeom prst="roundRect">
            <a:avLst>
              <a:gd fmla="val 8889" name="adj"/>
            </a:avLst>
          </a:prstGeom>
          <a:solidFill>
            <a:srgbClr val="009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3410712" y="1746504"/>
            <a:ext cx="530352" cy="530352"/>
          </a:xfrm>
          <a:prstGeom prst="ellipse">
            <a:avLst/>
          </a:prstGeom>
          <a:solidFill>
            <a:srgbClr val="063A68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ndustry.png" id="358" name="Google Shape;35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7996" y="1873788"/>
            <a:ext cx="275783" cy="275783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4"/>
          <p:cNvSpPr/>
          <p:nvPr/>
        </p:nvSpPr>
        <p:spPr>
          <a:xfrm>
            <a:off x="4023360" y="160020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Opérateur en aval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3566160" y="2514600"/>
            <a:ext cx="1965960" cy="256032"/>
          </a:xfrm>
          <a:prstGeom prst="roundRect">
            <a:avLst>
              <a:gd fmla="val 50000" name="adj"/>
            </a:avLst>
          </a:prstGeom>
          <a:solidFill>
            <a:srgbClr val="009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3566160" y="2514600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art. 2 · règl. 2025/2650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3246120" y="284378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2D2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92D2"/>
                </a:solidFill>
                <a:latin typeface="Calibri"/>
                <a:ea typeface="Calibri"/>
                <a:cs typeface="Calibri"/>
                <a:sym typeface="Calibri"/>
              </a:rPr>
              <a:t>CHARGE ALLÉGÉE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3447288" y="3154680"/>
            <a:ext cx="224028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Transforme un produit déjà mis sur le marché UE.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Pas de diligence, pas de DDR à déposer.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1er aval : collecte et conserve le n° de DDR amont (5 ans).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Avals suivants : infos fournisseur seulement.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6035040" y="1600200"/>
            <a:ext cx="2606040" cy="402336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6035040" y="1600200"/>
            <a:ext cx="2606040" cy="822960"/>
          </a:xfrm>
          <a:prstGeom prst="roundRect">
            <a:avLst>
              <a:gd fmla="val 8889" name="adj"/>
            </a:avLst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6199632" y="1746504"/>
            <a:ext cx="530352" cy="530352"/>
          </a:xfrm>
          <a:prstGeom prst="ellipse">
            <a:avLst/>
          </a:prstGeom>
          <a:solidFill>
            <a:srgbClr val="063A68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ore.png" id="367" name="Google Shape;3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6916" y="1873788"/>
            <a:ext cx="275783" cy="275783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4"/>
          <p:cNvSpPr/>
          <p:nvPr/>
        </p:nvSpPr>
        <p:spPr>
          <a:xfrm>
            <a:off x="6812280" y="160020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Commerçant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6355080" y="2514600"/>
            <a:ext cx="1965960" cy="256032"/>
          </a:xfrm>
          <a:prstGeom prst="roundRect">
            <a:avLst>
              <a:gd fmla="val 50000" name="adj"/>
            </a:avLst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6355080" y="2514600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art. 2 §17 · art.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6035040" y="284378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49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A49F"/>
                </a:solidFill>
                <a:latin typeface="Calibri"/>
                <a:ea typeface="Calibri"/>
                <a:cs typeface="Calibri"/>
                <a:sym typeface="Calibri"/>
              </a:rPr>
              <a:t>CHARGE MINIMALE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6236208" y="3154680"/>
            <a:ext cx="224028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Met à disposition sans transformer.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1er commerçant aval : conserve le n° de DDR.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Suivants : nom, adresse, site du fournisseur.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Enregistrement au SI si non-PME.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457200" y="5715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Le mandataire (art. 6), établi dans l'UE, peut déposer la DDR au nom de l'opérateur — qui reste responsable.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14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Cas pratiques : quel rôle pour chaque acteur 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Opérateur, opérateur en aval ou commerçant 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457200" y="1600200"/>
            <a:ext cx="8229600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685800" y="1920240"/>
            <a:ext cx="640080" cy="640080"/>
          </a:xfrm>
          <a:prstGeom prst="ellipse">
            <a:avLst/>
          </a:prstGeom>
          <a:solidFill>
            <a:srgbClr val="004079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ownload.png" id="387" name="Google Shape;3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19" y="20738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5"/>
          <p:cNvSpPr/>
          <p:nvPr/>
        </p:nvSpPr>
        <p:spPr>
          <a:xfrm>
            <a:off x="658368" y="253288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Cas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1554480" y="178308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Un négociant importe des fèves de cacao du Ghana et les revend à un chocolatier français.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6858000" y="1984248"/>
            <a:ext cx="1691640" cy="512064"/>
          </a:xfrm>
          <a:prstGeom prst="roundRect">
            <a:avLst>
              <a:gd fmla="val 14286" name="adj"/>
            </a:avLst>
          </a:prstGeom>
          <a:solidFill>
            <a:srgbClr val="004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6858000" y="1984248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Opérateur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457200" y="3017520"/>
            <a:ext cx="8229600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685800" y="3337560"/>
            <a:ext cx="640080" cy="640080"/>
          </a:xfrm>
          <a:prstGeom prst="ellipse">
            <a:avLst/>
          </a:prstGeom>
          <a:solidFill>
            <a:srgbClr val="0092D2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ndustry.png" id="394" name="Google Shape;39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9419" y="349117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5"/>
          <p:cNvSpPr/>
          <p:nvPr/>
        </p:nvSpPr>
        <p:spPr>
          <a:xfrm>
            <a:off x="658368" y="395020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Cas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1554480" y="320040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Un fabricant de meubles achète du contreplaqué déjà déclaré (DDR déposée) et fabrique des meubles.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6858000" y="3401568"/>
            <a:ext cx="1691640" cy="512064"/>
          </a:xfrm>
          <a:prstGeom prst="roundRect">
            <a:avLst>
              <a:gd fmla="val 14286" name="adj"/>
            </a:avLst>
          </a:prstGeom>
          <a:solidFill>
            <a:srgbClr val="009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6858000" y="3401568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Opérateur en aval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457200" y="4434840"/>
            <a:ext cx="8229600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685800" y="4754880"/>
            <a:ext cx="640080" cy="640080"/>
          </a:xfrm>
          <a:prstGeom prst="ellipse">
            <a:avLst/>
          </a:prstGeom>
          <a:solidFill>
            <a:srgbClr val="00A49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ore.png" id="401" name="Google Shape;4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419" y="490849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5"/>
          <p:cNvSpPr/>
          <p:nvPr/>
        </p:nvSpPr>
        <p:spPr>
          <a:xfrm>
            <a:off x="658368" y="536752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Cas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1554480" y="461772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Une enseigne achète en France des meubles déjà couverts et les revend en magasin.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6858000" y="4818888"/>
            <a:ext cx="1691640" cy="512064"/>
          </a:xfrm>
          <a:prstGeom prst="roundRect">
            <a:avLst>
              <a:gd fmla="val 14286" name="adj"/>
            </a:avLst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6858000" y="4818888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Commerçant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6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10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L'évolution de l'annexe I — acte délégué du 13 juillet 2026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Exclusions dès l'entrée en vigueur (JOUE attendu mi-sept. 2026) ; ajouts applicables au 30/12/2027.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457200" y="1554480"/>
            <a:ext cx="4023360" cy="402336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457200" y="1554480"/>
            <a:ext cx="4023360" cy="731520"/>
          </a:xfrm>
          <a:prstGeom prst="roundRect">
            <a:avLst>
              <a:gd fmla="val 10000" name="adj"/>
            </a:avLst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621792" y="1673352"/>
            <a:ext cx="502920" cy="502920"/>
          </a:xfrm>
          <a:prstGeom prst="ellipse">
            <a:avLst/>
          </a:prstGeom>
          <a:solidFill>
            <a:srgbClr val="00726E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art.png" id="420" name="Google Shape;4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493" y="1794053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6"/>
          <p:cNvSpPr/>
          <p:nvPr/>
        </p:nvSpPr>
        <p:spPr>
          <a:xfrm>
            <a:off x="1234440" y="1554480"/>
            <a:ext cx="3154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Inclusions (désormais soumis)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685800" y="2468880"/>
            <a:ext cx="3566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Café soluble (SH 2101 11 00)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Dérivés d'huile de palme, acides oléiques, savons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Langues de bovins congelées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4663440" y="1554480"/>
            <a:ext cx="4023360" cy="402336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4663440" y="1554480"/>
            <a:ext cx="4023360" cy="731520"/>
          </a:xfrm>
          <a:prstGeom prst="roundRect">
            <a:avLst>
              <a:gd fmla="val 10000" name="adj"/>
            </a:avLst>
          </a:prstGeom>
          <a:solidFill>
            <a:srgbClr val="D82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4828032" y="1673352"/>
            <a:ext cx="502920" cy="502920"/>
          </a:xfrm>
          <a:prstGeom prst="ellipse">
            <a:avLst/>
          </a:prstGeom>
          <a:solidFill>
            <a:srgbClr val="A01418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an.png" id="426" name="Google Shape;4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8733" y="1794053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6"/>
          <p:cNvSpPr/>
          <p:nvPr/>
        </p:nvSpPr>
        <p:spPr>
          <a:xfrm>
            <a:off x="5440680" y="1554480"/>
            <a:ext cx="3154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Exclusions (désormais hors champ)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4892040" y="2468880"/>
            <a:ext cx="3566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Cuirs et peaux de bovins (SH 4101, 4104, 4107)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Pneus rechapés, courroies, certains articles en caoutchouc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Soja de semence · sièges d'avion et de véhicules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(Produits imprimés : déjà sortis via le règl. 2025/2650)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079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"/>
          <p:cNvSpPr/>
          <p:nvPr/>
        </p:nvSpPr>
        <p:spPr>
          <a:xfrm>
            <a:off x="704088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704088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003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7"/>
          <p:cNvSpPr/>
          <p:nvPr/>
        </p:nvSpPr>
        <p:spPr>
          <a:xfrm>
            <a:off x="640080" y="141732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PARTIE II</a:t>
            </a:r>
            <a:r>
              <a:rPr b="1" i="0" lang="en-US" sz="1400" u="none" cap="none" strike="noStrike">
                <a:solidFill>
                  <a:srgbClr val="9FC4E0"/>
                </a:solidFill>
                <a:latin typeface="Calibri"/>
                <a:ea typeface="Calibri"/>
                <a:cs typeface="Calibri"/>
                <a:sym typeface="Calibri"/>
              </a:rPr>
              <a:t>    ·    30 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594360" y="18288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diligence raisonnée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685800" y="3566160"/>
            <a:ext cx="5486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Le système de diligence raisonnée (SDR)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La démarche en 3 étapes (recueil, évaluation, atténuation)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La diligence simplifiée (pays à risque faible)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Le réexamen annuel du SDR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6446520" y="164592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7"/>
          <p:cNvSpPr/>
          <p:nvPr/>
        </p:nvSpPr>
        <p:spPr>
          <a:xfrm>
            <a:off x="6583680" y="17739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7086600" y="170078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Contexte &amp; enjeux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6446520" y="251460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7"/>
          <p:cNvSpPr/>
          <p:nvPr/>
        </p:nvSpPr>
        <p:spPr>
          <a:xfrm>
            <a:off x="6583680" y="26426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7086600" y="256946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Êtes-vous concernés 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6446520" y="338328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DF3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7"/>
          <p:cNvSpPr/>
          <p:nvPr/>
        </p:nvSpPr>
        <p:spPr>
          <a:xfrm>
            <a:off x="6583680" y="35112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7086600" y="343814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diligence raisonnée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6446520" y="425196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7"/>
          <p:cNvSpPr/>
          <p:nvPr/>
        </p:nvSpPr>
        <p:spPr>
          <a:xfrm>
            <a:off x="6583680" y="43799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III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7086600" y="430682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Mise en œuvre &amp; formalités douanières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6446520" y="512064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7"/>
          <p:cNvSpPr/>
          <p:nvPr/>
        </p:nvSpPr>
        <p:spPr>
          <a:xfrm>
            <a:off x="6583680" y="52486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7086600" y="517550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Bonnes pratiques &amp; conseils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8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17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Le système de diligence raisonnée (SDR)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Une obligation permanente, pas un acte ponctuel (art. 12).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457200" y="1554480"/>
            <a:ext cx="5029200" cy="402336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685800" y="1783080"/>
            <a:ext cx="4572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Ce que c'est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Un ensemble de procédures internes prouvant la légalité et l'absence de déforestation de vos produits.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00407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Ce qu'il impose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Documenter la démarche et conserver les preuves 5 ans.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Réexaminer le SDR au moins une fois par an.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Rapport annuel public pour les entreprises non-PME.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5669280" y="1554480"/>
            <a:ext cx="3017520" cy="4023360"/>
          </a:xfrm>
          <a:prstGeom prst="roundRect">
            <a:avLst>
              <a:gd fmla="val 2424" name="adj"/>
            </a:avLst>
          </a:prstGeom>
          <a:solidFill>
            <a:srgbClr val="004079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8"/>
          <p:cNvSpPr/>
          <p:nvPr/>
        </p:nvSpPr>
        <p:spPr>
          <a:xfrm>
            <a:off x="6812280" y="1828800"/>
            <a:ext cx="731520" cy="731520"/>
          </a:xfrm>
          <a:prstGeom prst="ellipse">
            <a:avLst/>
          </a:prstGeom>
          <a:solidFill>
            <a:srgbClr val="DF337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ecycle.png" id="470" name="Google Shape;4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7845" y="200436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8"/>
          <p:cNvSpPr/>
          <p:nvPr/>
        </p:nvSpPr>
        <p:spPr>
          <a:xfrm>
            <a:off x="5806440" y="269748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Réexamen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 moins 1 fois / 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5852160" y="352044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Recueil → Évaluation → Atténuation, revus régulièrement.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6537960" y="5029200"/>
            <a:ext cx="1280160" cy="256032"/>
          </a:xfrm>
          <a:prstGeom prst="roundRect">
            <a:avLst>
              <a:gd fmla="val 50000" name="adj"/>
            </a:avLst>
          </a:prstGeom>
          <a:solidFill>
            <a:srgbClr val="DF3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6537960" y="502920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ART. 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9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18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La diligence raisonnée en 3 étapes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Art. 8 à 11 du règlement.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457200" y="1554480"/>
            <a:ext cx="2606040" cy="265176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658368" y="1783080"/>
            <a:ext cx="658368" cy="658368"/>
          </a:xfrm>
          <a:prstGeom prst="ellipse">
            <a:avLst/>
          </a:prstGeom>
          <a:solidFill>
            <a:srgbClr val="004079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arch.png" id="488" name="Google Shape;4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376" y="194108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9"/>
          <p:cNvSpPr/>
          <p:nvPr/>
        </p:nvSpPr>
        <p:spPr>
          <a:xfrm>
            <a:off x="237744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E2EC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D8E2E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658368" y="25603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Recueil d'informations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658368" y="301752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Produit, quantité, pays, fournisseurs, géolocalisation des parcelles, dates de production, preuves de légalité.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658368" y="3840480"/>
            <a:ext cx="822960" cy="256032"/>
          </a:xfrm>
          <a:prstGeom prst="roundRect">
            <a:avLst>
              <a:gd fmla="val 50000" name="adj"/>
            </a:avLst>
          </a:prstGeom>
          <a:solidFill>
            <a:srgbClr val="004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658368" y="384048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art. 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3035808" y="2423160"/>
            <a:ext cx="27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3246120" y="1554480"/>
            <a:ext cx="2606040" cy="265176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9"/>
          <p:cNvSpPr/>
          <p:nvPr/>
        </p:nvSpPr>
        <p:spPr>
          <a:xfrm>
            <a:off x="3447288" y="1783080"/>
            <a:ext cx="658368" cy="658368"/>
          </a:xfrm>
          <a:prstGeom prst="ellipse">
            <a:avLst/>
          </a:prstGeom>
          <a:solidFill>
            <a:srgbClr val="0092D2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.png" id="497" name="Google Shape;4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5296" y="194108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9"/>
          <p:cNvSpPr/>
          <p:nvPr/>
        </p:nvSpPr>
        <p:spPr>
          <a:xfrm>
            <a:off x="516636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E2EC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D8E2E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3447288" y="25603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Évaluation du risque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3447288" y="301752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Selon la zone de production, la complexité de la chaîne, la présence de forêts.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3447288" y="3840480"/>
            <a:ext cx="822960" cy="256032"/>
          </a:xfrm>
          <a:prstGeom prst="roundRect">
            <a:avLst>
              <a:gd fmla="val 50000" name="adj"/>
            </a:avLst>
          </a:prstGeom>
          <a:solidFill>
            <a:srgbClr val="009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9"/>
          <p:cNvSpPr/>
          <p:nvPr/>
        </p:nvSpPr>
        <p:spPr>
          <a:xfrm>
            <a:off x="3447288" y="384048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art. 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5824728" y="2423160"/>
            <a:ext cx="27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2D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92D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6035040" y="1554480"/>
            <a:ext cx="2606040" cy="265176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9"/>
          <p:cNvSpPr/>
          <p:nvPr/>
        </p:nvSpPr>
        <p:spPr>
          <a:xfrm>
            <a:off x="6236208" y="1783080"/>
            <a:ext cx="658368" cy="658368"/>
          </a:xfrm>
          <a:prstGeom prst="ellipse">
            <a:avLst/>
          </a:prstGeom>
          <a:solidFill>
            <a:srgbClr val="00A49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.png" id="506" name="Google Shape;50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4216" y="194108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9"/>
          <p:cNvSpPr/>
          <p:nvPr/>
        </p:nvSpPr>
        <p:spPr>
          <a:xfrm>
            <a:off x="795528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E2EC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D8E2E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6236208" y="25603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Atténuation du risque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9"/>
          <p:cNvSpPr/>
          <p:nvPr/>
        </p:nvSpPr>
        <p:spPr>
          <a:xfrm>
            <a:off x="6236208" y="301752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Mesures correctives, audits ou enquêtes si un risque est identifié.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6236208" y="3840480"/>
            <a:ext cx="822960" cy="256032"/>
          </a:xfrm>
          <a:prstGeom prst="roundRect">
            <a:avLst>
              <a:gd fmla="val 50000" name="adj"/>
            </a:avLst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9"/>
          <p:cNvSpPr/>
          <p:nvPr/>
        </p:nvSpPr>
        <p:spPr>
          <a:xfrm>
            <a:off x="6236208" y="384048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art. 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9"/>
          <p:cNvSpPr/>
          <p:nvPr/>
        </p:nvSpPr>
        <p:spPr>
          <a:xfrm>
            <a:off x="457200" y="4526280"/>
            <a:ext cx="8229600" cy="1097280"/>
          </a:xfrm>
          <a:prstGeom prst="roundRect">
            <a:avLst>
              <a:gd fmla="val 6667" name="adj"/>
            </a:avLst>
          </a:prstGeom>
          <a:solidFill>
            <a:srgbClr val="004079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9"/>
          <p:cNvSpPr/>
          <p:nvPr/>
        </p:nvSpPr>
        <p:spPr>
          <a:xfrm>
            <a:off x="731520" y="4754880"/>
            <a:ext cx="640080" cy="640080"/>
          </a:xfrm>
          <a:prstGeom prst="ellipse">
            <a:avLst/>
          </a:prstGeom>
          <a:solidFill>
            <a:srgbClr val="00A49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edling.png" id="514" name="Google Shape;51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5139" y="490849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9"/>
          <p:cNvSpPr/>
          <p:nvPr/>
        </p:nvSpPr>
        <p:spPr>
          <a:xfrm>
            <a:off x="1645920" y="461772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vrai chantier : la donnée amont.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1645920" y="5029200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Géolocalisation des parcelles et preuves : l'effort le plus lourd, à lancer dès maintenant.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0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19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La diligence simplifiée : la classification des pays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Le pays de production module la diligence (benchmarking, art. 29 — liste du 22/05/2025, révision annoncée pour 2026).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457200" y="1600200"/>
            <a:ext cx="82296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0"/>
          <p:cNvSpPr/>
          <p:nvPr/>
        </p:nvSpPr>
        <p:spPr>
          <a:xfrm>
            <a:off x="457200" y="1600200"/>
            <a:ext cx="2011680" cy="1234440"/>
          </a:xfrm>
          <a:prstGeom prst="roundRect">
            <a:avLst>
              <a:gd fmla="val 5926" name="adj"/>
            </a:avLst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457200" y="17373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457200" y="24231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RISQUE FAIBLE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2697480" y="1746504"/>
            <a:ext cx="5806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pays (dont toute l'UE)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2697480" y="2148840"/>
            <a:ext cx="5806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49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A49F"/>
                </a:solidFill>
                <a:latin typeface="Calibri"/>
                <a:ea typeface="Calibri"/>
                <a:cs typeface="Calibri"/>
                <a:sym typeface="Calibri"/>
              </a:rPr>
              <a:t>Diligence : </a:t>
            </a: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Diligence simplifiée — l'avantage stratégique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2697480" y="2468880"/>
            <a:ext cx="5806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49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A49F"/>
                </a:solidFill>
                <a:latin typeface="Calibri"/>
                <a:ea typeface="Calibri"/>
                <a:cs typeface="Calibri"/>
                <a:sym typeface="Calibri"/>
              </a:rPr>
              <a:t>Contrôles : </a:t>
            </a: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1 %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457200" y="2971800"/>
            <a:ext cx="82296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0"/>
          <p:cNvSpPr/>
          <p:nvPr/>
        </p:nvSpPr>
        <p:spPr>
          <a:xfrm>
            <a:off x="457200" y="2971800"/>
            <a:ext cx="2011680" cy="1234440"/>
          </a:xfrm>
          <a:prstGeom prst="roundRect">
            <a:avLst>
              <a:gd fmla="val 5926" name="adj"/>
            </a:avLst>
          </a:prstGeom>
          <a:solidFill>
            <a:srgbClr val="F18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0"/>
          <p:cNvSpPr/>
          <p:nvPr/>
        </p:nvSpPr>
        <p:spPr>
          <a:xfrm>
            <a:off x="457200" y="31089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~50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457200" y="37947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RISQUE STANDARD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2697480" y="3118104"/>
            <a:ext cx="5806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pays (Brésil, Indonésie, Malaisie…)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2697480" y="3520440"/>
            <a:ext cx="5806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70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18700"/>
                </a:solidFill>
                <a:latin typeface="Calibri"/>
                <a:ea typeface="Calibri"/>
                <a:cs typeface="Calibri"/>
                <a:sym typeface="Calibri"/>
              </a:rPr>
              <a:t>Diligence : </a:t>
            </a: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Diligence raisonnée complète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2697480" y="3840480"/>
            <a:ext cx="5806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70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18700"/>
                </a:solidFill>
                <a:latin typeface="Calibri"/>
                <a:ea typeface="Calibri"/>
                <a:cs typeface="Calibri"/>
                <a:sym typeface="Calibri"/>
              </a:rPr>
              <a:t>Contrôles : </a:t>
            </a: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3 %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457200" y="4343400"/>
            <a:ext cx="82296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0"/>
          <p:cNvSpPr/>
          <p:nvPr/>
        </p:nvSpPr>
        <p:spPr>
          <a:xfrm>
            <a:off x="457200" y="4343400"/>
            <a:ext cx="2011680" cy="1234440"/>
          </a:xfrm>
          <a:prstGeom prst="roundRect">
            <a:avLst>
              <a:gd fmla="val 5926" name="adj"/>
            </a:avLst>
          </a:prstGeom>
          <a:solidFill>
            <a:srgbClr val="D82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0"/>
          <p:cNvSpPr/>
          <p:nvPr/>
        </p:nvSpPr>
        <p:spPr>
          <a:xfrm>
            <a:off x="457200" y="44805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457200" y="51663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RISQUE ÉLEVÉ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2697480" y="4489704"/>
            <a:ext cx="5806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Biélorussie · Corée du Nord · Birmanie · Russie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2697480" y="4892040"/>
            <a:ext cx="5806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23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8232A"/>
                </a:solidFill>
                <a:latin typeface="Calibri"/>
                <a:ea typeface="Calibri"/>
                <a:cs typeface="Calibri"/>
                <a:sym typeface="Calibri"/>
              </a:rPr>
              <a:t>Diligence : </a:t>
            </a: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Vigilance renforcée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0"/>
          <p:cNvSpPr/>
          <p:nvPr/>
        </p:nvSpPr>
        <p:spPr>
          <a:xfrm>
            <a:off x="2697480" y="5212080"/>
            <a:ext cx="5806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23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8232A"/>
                </a:solidFill>
                <a:latin typeface="Calibri"/>
                <a:ea typeface="Calibri"/>
                <a:cs typeface="Calibri"/>
                <a:sym typeface="Calibri"/>
              </a:rPr>
              <a:t>Contrôles : </a:t>
            </a: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9 % (+ 9 % des quantités)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1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20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1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hema-logigramme.png" id="558" name="Google Shape;55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640080"/>
            <a:ext cx="8595360" cy="5533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2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30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2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2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2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L'escalier de conformité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2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Quatre marches pour être prêt.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2"/>
          <p:cNvSpPr/>
          <p:nvPr/>
        </p:nvSpPr>
        <p:spPr>
          <a:xfrm>
            <a:off x="457200" y="1691640"/>
            <a:ext cx="1965960" cy="35661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2"/>
          <p:cNvSpPr/>
          <p:nvPr/>
        </p:nvSpPr>
        <p:spPr>
          <a:xfrm>
            <a:off x="777240" y="4937760"/>
            <a:ext cx="256032" cy="137160"/>
          </a:xfrm>
          <a:prstGeom prst="rect">
            <a:avLst/>
          </a:prstGeom>
          <a:solidFill>
            <a:srgbClr val="004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2"/>
          <p:cNvSpPr/>
          <p:nvPr/>
        </p:nvSpPr>
        <p:spPr>
          <a:xfrm>
            <a:off x="1115568" y="4828032"/>
            <a:ext cx="256032" cy="2468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2"/>
          <p:cNvSpPr/>
          <p:nvPr/>
        </p:nvSpPr>
        <p:spPr>
          <a:xfrm>
            <a:off x="1453896" y="4718304"/>
            <a:ext cx="256032" cy="356616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2"/>
          <p:cNvSpPr/>
          <p:nvPr/>
        </p:nvSpPr>
        <p:spPr>
          <a:xfrm>
            <a:off x="1792224" y="4608576"/>
            <a:ext cx="256032" cy="4663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2"/>
          <p:cNvSpPr/>
          <p:nvPr/>
        </p:nvSpPr>
        <p:spPr>
          <a:xfrm>
            <a:off x="1170432" y="1892808"/>
            <a:ext cx="548640" cy="548640"/>
          </a:xfrm>
          <a:prstGeom prst="roundRect">
            <a:avLst>
              <a:gd fmla="val 50000" name="adj"/>
            </a:avLst>
          </a:prstGeom>
          <a:solidFill>
            <a:srgbClr val="004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2"/>
          <p:cNvSpPr/>
          <p:nvPr/>
        </p:nvSpPr>
        <p:spPr>
          <a:xfrm>
            <a:off x="1170432" y="18928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2"/>
          <p:cNvSpPr/>
          <p:nvPr/>
        </p:nvSpPr>
        <p:spPr>
          <a:xfrm>
            <a:off x="1115568" y="2560320"/>
            <a:ext cx="658368" cy="658368"/>
          </a:xfrm>
          <a:prstGeom prst="ellipse">
            <a:avLst/>
          </a:prstGeom>
          <a:solidFill>
            <a:srgbClr val="004079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mpass.png" id="578" name="Google Shape;5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3576" y="271832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22"/>
          <p:cNvSpPr/>
          <p:nvPr/>
        </p:nvSpPr>
        <p:spPr>
          <a:xfrm>
            <a:off x="548640" y="329184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Cartographier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2"/>
          <p:cNvSpPr/>
          <p:nvPr/>
        </p:nvSpPr>
        <p:spPr>
          <a:xfrm>
            <a:off x="594360" y="3703320"/>
            <a:ext cx="1691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Audit de vos flux : quels produits, quels codes, quels pays 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2"/>
          <p:cNvSpPr/>
          <p:nvPr/>
        </p:nvSpPr>
        <p:spPr>
          <a:xfrm>
            <a:off x="2359152" y="2788920"/>
            <a:ext cx="256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2"/>
          <p:cNvSpPr/>
          <p:nvPr/>
        </p:nvSpPr>
        <p:spPr>
          <a:xfrm>
            <a:off x="2578608" y="1691640"/>
            <a:ext cx="1965960" cy="35661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2"/>
          <p:cNvSpPr/>
          <p:nvPr/>
        </p:nvSpPr>
        <p:spPr>
          <a:xfrm>
            <a:off x="2898648" y="4937760"/>
            <a:ext cx="256032" cy="137160"/>
          </a:xfrm>
          <a:prstGeom prst="rect">
            <a:avLst/>
          </a:prstGeom>
          <a:solidFill>
            <a:srgbClr val="009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2"/>
          <p:cNvSpPr/>
          <p:nvPr/>
        </p:nvSpPr>
        <p:spPr>
          <a:xfrm>
            <a:off x="3236976" y="4828032"/>
            <a:ext cx="256032" cy="246888"/>
          </a:xfrm>
          <a:prstGeom prst="rect">
            <a:avLst/>
          </a:prstGeom>
          <a:solidFill>
            <a:srgbClr val="009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2"/>
          <p:cNvSpPr/>
          <p:nvPr/>
        </p:nvSpPr>
        <p:spPr>
          <a:xfrm>
            <a:off x="3575304" y="4718304"/>
            <a:ext cx="256032" cy="356616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2"/>
          <p:cNvSpPr/>
          <p:nvPr/>
        </p:nvSpPr>
        <p:spPr>
          <a:xfrm>
            <a:off x="3913632" y="4608576"/>
            <a:ext cx="256032" cy="4663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2"/>
          <p:cNvSpPr/>
          <p:nvPr/>
        </p:nvSpPr>
        <p:spPr>
          <a:xfrm>
            <a:off x="3291840" y="1892808"/>
            <a:ext cx="548640" cy="548640"/>
          </a:xfrm>
          <a:prstGeom prst="roundRect">
            <a:avLst>
              <a:gd fmla="val 50000" name="adj"/>
            </a:avLst>
          </a:prstGeom>
          <a:solidFill>
            <a:srgbClr val="009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2"/>
          <p:cNvSpPr/>
          <p:nvPr/>
        </p:nvSpPr>
        <p:spPr>
          <a:xfrm>
            <a:off x="3291840" y="18928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2"/>
          <p:cNvSpPr/>
          <p:nvPr/>
        </p:nvSpPr>
        <p:spPr>
          <a:xfrm>
            <a:off x="3236976" y="2560320"/>
            <a:ext cx="658368" cy="658368"/>
          </a:xfrm>
          <a:prstGeom prst="ellipse">
            <a:avLst/>
          </a:prstGeom>
          <a:solidFill>
            <a:srgbClr val="0092D2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itemap.png" id="590" name="Google Shape;59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4984" y="271832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2"/>
          <p:cNvSpPr/>
          <p:nvPr/>
        </p:nvSpPr>
        <p:spPr>
          <a:xfrm>
            <a:off x="2670048" y="329184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Structurer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2715768" y="3703320"/>
            <a:ext cx="1691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Bâtir le système (SDR) : procédures, référent, gouvernance.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2"/>
          <p:cNvSpPr/>
          <p:nvPr/>
        </p:nvSpPr>
        <p:spPr>
          <a:xfrm>
            <a:off x="4480560" y="2788920"/>
            <a:ext cx="256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2"/>
          <p:cNvSpPr/>
          <p:nvPr/>
        </p:nvSpPr>
        <p:spPr>
          <a:xfrm>
            <a:off x="4700016" y="1691640"/>
            <a:ext cx="1965960" cy="35661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2"/>
          <p:cNvSpPr/>
          <p:nvPr/>
        </p:nvSpPr>
        <p:spPr>
          <a:xfrm>
            <a:off x="5020056" y="4937760"/>
            <a:ext cx="256032" cy="137160"/>
          </a:xfrm>
          <a:prstGeom prst="rect">
            <a:avLst/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"/>
          <p:cNvSpPr/>
          <p:nvPr/>
        </p:nvSpPr>
        <p:spPr>
          <a:xfrm>
            <a:off x="5358384" y="4828032"/>
            <a:ext cx="256032" cy="246888"/>
          </a:xfrm>
          <a:prstGeom prst="rect">
            <a:avLst/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2"/>
          <p:cNvSpPr/>
          <p:nvPr/>
        </p:nvSpPr>
        <p:spPr>
          <a:xfrm>
            <a:off x="5696712" y="4718304"/>
            <a:ext cx="256032" cy="356616"/>
          </a:xfrm>
          <a:prstGeom prst="rect">
            <a:avLst/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2"/>
          <p:cNvSpPr/>
          <p:nvPr/>
        </p:nvSpPr>
        <p:spPr>
          <a:xfrm>
            <a:off x="6035040" y="4608576"/>
            <a:ext cx="256032" cy="466344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2"/>
          <p:cNvSpPr/>
          <p:nvPr/>
        </p:nvSpPr>
        <p:spPr>
          <a:xfrm>
            <a:off x="5413248" y="1892808"/>
            <a:ext cx="548640" cy="548640"/>
          </a:xfrm>
          <a:prstGeom prst="roundRect">
            <a:avLst>
              <a:gd fmla="val 50000" name="adj"/>
            </a:avLst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2"/>
          <p:cNvSpPr/>
          <p:nvPr/>
        </p:nvSpPr>
        <p:spPr>
          <a:xfrm>
            <a:off x="5413248" y="18928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2"/>
          <p:cNvSpPr/>
          <p:nvPr/>
        </p:nvSpPr>
        <p:spPr>
          <a:xfrm>
            <a:off x="5358384" y="2560320"/>
            <a:ext cx="658368" cy="658368"/>
          </a:xfrm>
          <a:prstGeom prst="ellipse">
            <a:avLst/>
          </a:prstGeom>
          <a:solidFill>
            <a:srgbClr val="00A49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lipboardcheck.png" id="602" name="Google Shape;60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6392" y="271832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2"/>
          <p:cNvSpPr/>
          <p:nvPr/>
        </p:nvSpPr>
        <p:spPr>
          <a:xfrm>
            <a:off x="4791456" y="329184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Documenter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2"/>
          <p:cNvSpPr/>
          <p:nvPr/>
        </p:nvSpPr>
        <p:spPr>
          <a:xfrm>
            <a:off x="4837176" y="3703320"/>
            <a:ext cx="1691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La traçabilité : géolocalisation, preuves, archivage 5 ans.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2"/>
          <p:cNvSpPr/>
          <p:nvPr/>
        </p:nvSpPr>
        <p:spPr>
          <a:xfrm>
            <a:off x="6601968" y="2788920"/>
            <a:ext cx="256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2"/>
          <p:cNvSpPr/>
          <p:nvPr/>
        </p:nvSpPr>
        <p:spPr>
          <a:xfrm>
            <a:off x="6821424" y="1691640"/>
            <a:ext cx="1965960" cy="35661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2"/>
          <p:cNvSpPr/>
          <p:nvPr/>
        </p:nvSpPr>
        <p:spPr>
          <a:xfrm>
            <a:off x="7141464" y="4937760"/>
            <a:ext cx="256032" cy="137160"/>
          </a:xfrm>
          <a:prstGeom prst="rect">
            <a:avLst/>
          </a:prstGeom>
          <a:solidFill>
            <a:srgbClr val="F18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2"/>
          <p:cNvSpPr/>
          <p:nvPr/>
        </p:nvSpPr>
        <p:spPr>
          <a:xfrm>
            <a:off x="7479792" y="4828032"/>
            <a:ext cx="256032" cy="246888"/>
          </a:xfrm>
          <a:prstGeom prst="rect">
            <a:avLst/>
          </a:prstGeom>
          <a:solidFill>
            <a:srgbClr val="F18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2"/>
          <p:cNvSpPr/>
          <p:nvPr/>
        </p:nvSpPr>
        <p:spPr>
          <a:xfrm>
            <a:off x="7818120" y="4718304"/>
            <a:ext cx="256032" cy="356616"/>
          </a:xfrm>
          <a:prstGeom prst="rect">
            <a:avLst/>
          </a:prstGeom>
          <a:solidFill>
            <a:srgbClr val="F18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2"/>
          <p:cNvSpPr/>
          <p:nvPr/>
        </p:nvSpPr>
        <p:spPr>
          <a:xfrm>
            <a:off x="8156448" y="4608576"/>
            <a:ext cx="256032" cy="466344"/>
          </a:xfrm>
          <a:prstGeom prst="rect">
            <a:avLst/>
          </a:prstGeom>
          <a:solidFill>
            <a:srgbClr val="F18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2"/>
          <p:cNvSpPr/>
          <p:nvPr/>
        </p:nvSpPr>
        <p:spPr>
          <a:xfrm>
            <a:off x="7534656" y="1892808"/>
            <a:ext cx="548640" cy="548640"/>
          </a:xfrm>
          <a:prstGeom prst="roundRect">
            <a:avLst>
              <a:gd fmla="val 50000" name="adj"/>
            </a:avLst>
          </a:prstGeom>
          <a:solidFill>
            <a:srgbClr val="F18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2"/>
          <p:cNvSpPr/>
          <p:nvPr/>
        </p:nvSpPr>
        <p:spPr>
          <a:xfrm>
            <a:off x="7534656" y="18928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2"/>
          <p:cNvSpPr/>
          <p:nvPr/>
        </p:nvSpPr>
        <p:spPr>
          <a:xfrm>
            <a:off x="7479792" y="2560320"/>
            <a:ext cx="658368" cy="658368"/>
          </a:xfrm>
          <a:prstGeom prst="ellipse">
            <a:avLst/>
          </a:prstGeom>
          <a:solidFill>
            <a:srgbClr val="F18700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key.png" id="614" name="Google Shape;61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37800" y="271832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2"/>
          <p:cNvSpPr/>
          <p:nvPr/>
        </p:nvSpPr>
        <p:spPr>
          <a:xfrm>
            <a:off x="6912864" y="329184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Connecter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6958584" y="3703320"/>
            <a:ext cx="1691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Les accès : compte EU Login, TRACES-NT, codes douaniers.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3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3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24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3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3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Cas pratique : l'huile de palme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3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Le même produit peut être soumis… ou hors champ, selon l'usage.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3"/>
          <p:cNvSpPr/>
          <p:nvPr/>
        </p:nvSpPr>
        <p:spPr>
          <a:xfrm>
            <a:off x="457200" y="1554480"/>
            <a:ext cx="4023360" cy="3931920"/>
          </a:xfrm>
          <a:prstGeom prst="roundRect">
            <a:avLst>
              <a:gd fmla="val 1860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3"/>
          <p:cNvSpPr/>
          <p:nvPr/>
        </p:nvSpPr>
        <p:spPr>
          <a:xfrm>
            <a:off x="457200" y="1554480"/>
            <a:ext cx="4023360" cy="731520"/>
          </a:xfrm>
          <a:prstGeom prst="roundRect">
            <a:avLst>
              <a:gd fmla="val 10000" name="adj"/>
            </a:avLst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3"/>
          <p:cNvSpPr/>
          <p:nvPr/>
        </p:nvSpPr>
        <p:spPr>
          <a:xfrm>
            <a:off x="640080" y="155448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· Scénario standard — soumis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3"/>
          <p:cNvSpPr/>
          <p:nvPr/>
        </p:nvSpPr>
        <p:spPr>
          <a:xfrm>
            <a:off x="685800" y="2468880"/>
            <a:ext cx="35661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Importation d'huile de palme brute ou de dérivés pour la fabrication de savons ou d'additifs alimentaires.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0A49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49F"/>
                </a:solidFill>
                <a:latin typeface="Calibri"/>
                <a:ea typeface="Calibri"/>
                <a:cs typeface="Calibri"/>
                <a:sym typeface="Calibri"/>
              </a:rPr>
              <a:t>→ Diligence raisonnée complète requise · dépôt DDR dans TRACES-NT.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3"/>
          <p:cNvSpPr/>
          <p:nvPr/>
        </p:nvSpPr>
        <p:spPr>
          <a:xfrm>
            <a:off x="4663440" y="1554480"/>
            <a:ext cx="4023360" cy="3931920"/>
          </a:xfrm>
          <a:prstGeom prst="roundRect">
            <a:avLst>
              <a:gd fmla="val 1860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3"/>
          <p:cNvSpPr/>
          <p:nvPr/>
        </p:nvSpPr>
        <p:spPr>
          <a:xfrm>
            <a:off x="4663440" y="1554480"/>
            <a:ext cx="4023360" cy="731520"/>
          </a:xfrm>
          <a:prstGeom prst="roundRect">
            <a:avLst>
              <a:gd fmla="val 10000" name="adj"/>
            </a:avLst>
          </a:prstGeom>
          <a:solidFill>
            <a:srgbClr val="5F6B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3"/>
          <p:cNvSpPr/>
          <p:nvPr/>
        </p:nvSpPr>
        <p:spPr>
          <a:xfrm>
            <a:off x="4846320" y="155448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 · Exclusions stratégiques — hors champ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3"/>
          <p:cNvSpPr/>
          <p:nvPr/>
        </p:nvSpPr>
        <p:spPr>
          <a:xfrm>
            <a:off x="4892040" y="2468880"/>
            <a:ext cx="35661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Flux 1 — pharmaceutique : </a:t>
            </a: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dérivés oléochimiques utilisés exclusivement pour la fabrication de médicaments.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Flux 2 — biocarburants :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huiles usagées / déchets récupérés (matière recyclée, code Y133).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→ Exemption des obligations RDUE · pas de DDR requise.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079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4"/>
          <p:cNvSpPr/>
          <p:nvPr/>
        </p:nvSpPr>
        <p:spPr>
          <a:xfrm>
            <a:off x="704088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4"/>
          <p:cNvSpPr/>
          <p:nvPr/>
        </p:nvSpPr>
        <p:spPr>
          <a:xfrm>
            <a:off x="704088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4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003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4"/>
          <p:cNvSpPr/>
          <p:nvPr/>
        </p:nvSpPr>
        <p:spPr>
          <a:xfrm>
            <a:off x="640080" y="141732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PARTIE III</a:t>
            </a:r>
            <a:r>
              <a:rPr b="1" i="0" lang="en-US" sz="1400" u="none" cap="none" strike="noStrike">
                <a:solidFill>
                  <a:srgbClr val="9FC4E0"/>
                </a:solidFill>
                <a:latin typeface="Calibri"/>
                <a:ea typeface="Calibri"/>
                <a:cs typeface="Calibri"/>
                <a:sym typeface="Calibri"/>
              </a:rPr>
              <a:t>    ·    20 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4"/>
          <p:cNvSpPr/>
          <p:nvPr/>
        </p:nvSpPr>
        <p:spPr>
          <a:xfrm>
            <a:off x="594360" y="18288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Mise en œuvre &amp; formalités douanières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4"/>
          <p:cNvSpPr/>
          <p:nvPr/>
        </p:nvSpPr>
        <p:spPr>
          <a:xfrm>
            <a:off x="685800" y="3566160"/>
            <a:ext cx="5486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L'outil TRACES-NT &amp; le compte EU Login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La déclaration de diligence raisonnée (DDR) → n° de référence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Déclarer en douane (Delta) : codes C716 / C717 / 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La transmission amont / aval du n° de DDR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4"/>
          <p:cNvSpPr/>
          <p:nvPr/>
        </p:nvSpPr>
        <p:spPr>
          <a:xfrm>
            <a:off x="6446520" y="164592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4"/>
          <p:cNvSpPr/>
          <p:nvPr/>
        </p:nvSpPr>
        <p:spPr>
          <a:xfrm>
            <a:off x="6583680" y="17739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4"/>
          <p:cNvSpPr/>
          <p:nvPr/>
        </p:nvSpPr>
        <p:spPr>
          <a:xfrm>
            <a:off x="7086600" y="170078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Contexte &amp; enjeux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4"/>
          <p:cNvSpPr/>
          <p:nvPr/>
        </p:nvSpPr>
        <p:spPr>
          <a:xfrm>
            <a:off x="6446520" y="251460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4"/>
          <p:cNvSpPr/>
          <p:nvPr/>
        </p:nvSpPr>
        <p:spPr>
          <a:xfrm>
            <a:off x="6583680" y="26426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4"/>
          <p:cNvSpPr/>
          <p:nvPr/>
        </p:nvSpPr>
        <p:spPr>
          <a:xfrm>
            <a:off x="7086600" y="256946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Êtes-vous concernés 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4"/>
          <p:cNvSpPr/>
          <p:nvPr/>
        </p:nvSpPr>
        <p:spPr>
          <a:xfrm>
            <a:off x="6446520" y="338328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4"/>
          <p:cNvSpPr/>
          <p:nvPr/>
        </p:nvSpPr>
        <p:spPr>
          <a:xfrm>
            <a:off x="6583680" y="35112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4"/>
          <p:cNvSpPr/>
          <p:nvPr/>
        </p:nvSpPr>
        <p:spPr>
          <a:xfrm>
            <a:off x="7086600" y="343814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La diligence raisonnée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4"/>
          <p:cNvSpPr/>
          <p:nvPr/>
        </p:nvSpPr>
        <p:spPr>
          <a:xfrm>
            <a:off x="6446520" y="425196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DF3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4"/>
          <p:cNvSpPr/>
          <p:nvPr/>
        </p:nvSpPr>
        <p:spPr>
          <a:xfrm>
            <a:off x="6583680" y="43799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4"/>
          <p:cNvSpPr/>
          <p:nvPr/>
        </p:nvSpPr>
        <p:spPr>
          <a:xfrm>
            <a:off x="7086600" y="430682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Mise en œuvre &amp; formalités douanières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4"/>
          <p:cNvSpPr/>
          <p:nvPr/>
        </p:nvSpPr>
        <p:spPr>
          <a:xfrm>
            <a:off x="6446520" y="512064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4"/>
          <p:cNvSpPr/>
          <p:nvPr/>
        </p:nvSpPr>
        <p:spPr>
          <a:xfrm>
            <a:off x="6583680" y="52486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4"/>
          <p:cNvSpPr/>
          <p:nvPr/>
        </p:nvSpPr>
        <p:spPr>
          <a:xfrm>
            <a:off x="7086600" y="517550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Bonnes pratiques &amp; conseils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5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5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22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5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5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5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Le système d'information RDUE &amp; EU Login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5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Enregistrer la DDR pour obtenir un numéro de référence.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5"/>
          <p:cNvSpPr/>
          <p:nvPr/>
        </p:nvSpPr>
        <p:spPr>
          <a:xfrm>
            <a:off x="457200" y="1554480"/>
            <a:ext cx="3200400" cy="4023360"/>
          </a:xfrm>
          <a:prstGeom prst="roundRect">
            <a:avLst>
              <a:gd fmla="val 2286" name="adj"/>
            </a:avLst>
          </a:prstGeom>
          <a:solidFill>
            <a:srgbClr val="004079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5"/>
          <p:cNvSpPr/>
          <p:nvPr/>
        </p:nvSpPr>
        <p:spPr>
          <a:xfrm>
            <a:off x="1645920" y="1828800"/>
            <a:ext cx="822960" cy="822960"/>
          </a:xfrm>
          <a:prstGeom prst="ellipse">
            <a:avLst/>
          </a:prstGeom>
          <a:solidFill>
            <a:srgbClr val="DF337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key.png" id="675" name="Google Shape;6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3430" y="202631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25"/>
          <p:cNvSpPr/>
          <p:nvPr/>
        </p:nvSpPr>
        <p:spPr>
          <a:xfrm>
            <a:off x="457200" y="26974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Prérequis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5"/>
          <p:cNvSpPr/>
          <p:nvPr/>
        </p:nvSpPr>
        <p:spPr>
          <a:xfrm>
            <a:off x="640080" y="310896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Créer un compte EU Login, puis s'enregistrer dans le système d'information RDUE (rouvert fin juin 2026).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5"/>
          <p:cNvSpPr/>
          <p:nvPr/>
        </p:nvSpPr>
        <p:spPr>
          <a:xfrm>
            <a:off x="1234440" y="4572000"/>
            <a:ext cx="1645920" cy="256032"/>
          </a:xfrm>
          <a:prstGeom prst="roundRect">
            <a:avLst>
              <a:gd fmla="val 50000" name="adj"/>
            </a:avLst>
          </a:prstGeom>
          <a:solidFill>
            <a:srgbClr val="DF3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5"/>
          <p:cNvSpPr/>
          <p:nvPr/>
        </p:nvSpPr>
        <p:spPr>
          <a:xfrm>
            <a:off x="1234440" y="457200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dès maintenant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5"/>
          <p:cNvSpPr/>
          <p:nvPr/>
        </p:nvSpPr>
        <p:spPr>
          <a:xfrm>
            <a:off x="3931920" y="1554480"/>
            <a:ext cx="4754880" cy="402336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5"/>
          <p:cNvSpPr/>
          <p:nvPr/>
        </p:nvSpPr>
        <p:spPr>
          <a:xfrm>
            <a:off x="4114800" y="16916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La DDR dans le système d'information (TRACES) — à saisir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5"/>
          <p:cNvSpPr/>
          <p:nvPr/>
        </p:nvSpPr>
        <p:spPr>
          <a:xfrm>
            <a:off x="4206240" y="2148840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N° EORI de l'opérateur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Code du système harmonisé (SH)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Description libre (nom commercial)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Quantité (mise sur le marché / export)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Pays de production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Géolocalisation de toutes les parcelles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Attestation de conformité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5"/>
          <p:cNvSpPr/>
          <p:nvPr/>
        </p:nvSpPr>
        <p:spPr>
          <a:xfrm>
            <a:off x="4114800" y="4892040"/>
            <a:ext cx="4389120" cy="566928"/>
          </a:xfrm>
          <a:prstGeom prst="roundRect">
            <a:avLst>
              <a:gd fmla="val 12903" name="adj"/>
            </a:avLst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5"/>
          <p:cNvSpPr/>
          <p:nvPr/>
        </p:nvSpPr>
        <p:spPr>
          <a:xfrm>
            <a:off x="4114800" y="4892040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Génération du NUMÉRO DE RÉFÉRENCE DDR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6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6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23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6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6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6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Déclarer en douane (Delta)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6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Le numéro de DDR se reporte dans la déclaration douanière (Delta), avant mainlevée.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6"/>
          <p:cNvSpPr/>
          <p:nvPr/>
        </p:nvSpPr>
        <p:spPr>
          <a:xfrm>
            <a:off x="457200" y="1508760"/>
            <a:ext cx="4023360" cy="1828800"/>
          </a:xfrm>
          <a:prstGeom prst="roundRect">
            <a:avLst>
              <a:gd fmla="val 4000" name="adj"/>
            </a:avLst>
          </a:prstGeom>
          <a:solidFill>
            <a:srgbClr val="EAF2F8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6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Cas n°1 — produit concerné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6"/>
          <p:cNvSpPr/>
          <p:nvPr/>
        </p:nvSpPr>
        <p:spPr>
          <a:xfrm>
            <a:off x="640080" y="2103120"/>
            <a:ext cx="914400" cy="457200"/>
          </a:xfrm>
          <a:prstGeom prst="roundRect">
            <a:avLst>
              <a:gd fmla="val 12000" name="adj"/>
            </a:avLst>
          </a:prstGeom>
          <a:solidFill>
            <a:srgbClr val="004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6"/>
          <p:cNvSpPr/>
          <p:nvPr/>
        </p:nvSpPr>
        <p:spPr>
          <a:xfrm>
            <a:off x="640080" y="21031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C716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6"/>
          <p:cNvSpPr/>
          <p:nvPr/>
        </p:nvSpPr>
        <p:spPr>
          <a:xfrm>
            <a:off x="1691640" y="21031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Opérateur : code C716 + son numéro de DDR.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6"/>
          <p:cNvSpPr/>
          <p:nvPr/>
        </p:nvSpPr>
        <p:spPr>
          <a:xfrm>
            <a:off x="640080" y="2697480"/>
            <a:ext cx="914400" cy="457200"/>
          </a:xfrm>
          <a:prstGeom prst="roundRect">
            <a:avLst>
              <a:gd fmla="val 12000" name="adj"/>
            </a:avLst>
          </a:prstGeom>
          <a:solidFill>
            <a:srgbClr val="009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6"/>
          <p:cNvSpPr/>
          <p:nvPr/>
        </p:nvSpPr>
        <p:spPr>
          <a:xfrm>
            <a:off x="640080" y="26974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C717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6"/>
          <p:cNvSpPr/>
          <p:nvPr/>
        </p:nvSpPr>
        <p:spPr>
          <a:xfrm>
            <a:off x="1691640" y="265176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PME aval (DDR amont existante) : C717 + n° de DDR du fournisseur — à confirmer sur la fiche douane 2026.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6"/>
          <p:cNvSpPr/>
          <p:nvPr/>
        </p:nvSpPr>
        <p:spPr>
          <a:xfrm>
            <a:off x="4663440" y="1508760"/>
            <a:ext cx="4023360" cy="1828800"/>
          </a:xfrm>
          <a:prstGeom prst="roundRect">
            <a:avLst>
              <a:gd fmla="val 4000" name="adj"/>
            </a:avLst>
          </a:prstGeom>
          <a:solidFill>
            <a:srgbClr val="EAF2F8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6"/>
          <p:cNvSpPr/>
          <p:nvPr/>
        </p:nvSpPr>
        <p:spPr>
          <a:xfrm>
            <a:off x="4846320" y="16459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Cas n°2 — exemptions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6"/>
          <p:cNvSpPr/>
          <p:nvPr/>
        </p:nvSpPr>
        <p:spPr>
          <a:xfrm>
            <a:off x="4846320" y="2084832"/>
            <a:ext cx="777240" cy="384048"/>
          </a:xfrm>
          <a:prstGeom prst="roundRect">
            <a:avLst>
              <a:gd fmla="val 11905" name="adj"/>
            </a:avLst>
          </a:prstGeom>
          <a:solidFill>
            <a:srgbClr val="5F6B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6"/>
          <p:cNvSpPr/>
          <p:nvPr/>
        </p:nvSpPr>
        <p:spPr>
          <a:xfrm>
            <a:off x="4846320" y="208483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Y129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6"/>
          <p:cNvSpPr/>
          <p:nvPr/>
        </p:nvSpPr>
        <p:spPr>
          <a:xfrm>
            <a:off x="5687568" y="2084832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hors champ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6"/>
          <p:cNvSpPr/>
          <p:nvPr/>
        </p:nvSpPr>
        <p:spPr>
          <a:xfrm>
            <a:off x="6812280" y="2084832"/>
            <a:ext cx="777240" cy="384048"/>
          </a:xfrm>
          <a:prstGeom prst="roundRect">
            <a:avLst>
              <a:gd fmla="val 11905" name="adj"/>
            </a:avLst>
          </a:prstGeom>
          <a:solidFill>
            <a:srgbClr val="5F6B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6"/>
          <p:cNvSpPr/>
          <p:nvPr/>
        </p:nvSpPr>
        <p:spPr>
          <a:xfrm>
            <a:off x="6812280" y="2084832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Y132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6"/>
          <p:cNvSpPr/>
          <p:nvPr/>
        </p:nvSpPr>
        <p:spPr>
          <a:xfrm>
            <a:off x="7653528" y="2084832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avant 29/06/2023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6"/>
          <p:cNvSpPr/>
          <p:nvPr/>
        </p:nvSpPr>
        <p:spPr>
          <a:xfrm>
            <a:off x="4846320" y="2651760"/>
            <a:ext cx="777240" cy="384048"/>
          </a:xfrm>
          <a:prstGeom prst="roundRect">
            <a:avLst>
              <a:gd fmla="val 11905" name="adj"/>
            </a:avLst>
          </a:prstGeom>
          <a:solidFill>
            <a:srgbClr val="5F6B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6"/>
          <p:cNvSpPr/>
          <p:nvPr/>
        </p:nvSpPr>
        <p:spPr>
          <a:xfrm>
            <a:off x="4846320" y="2651760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Y133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6"/>
          <p:cNvSpPr/>
          <p:nvPr/>
        </p:nvSpPr>
        <p:spPr>
          <a:xfrm>
            <a:off x="5687568" y="265176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déchets / recyclé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6"/>
          <p:cNvSpPr/>
          <p:nvPr/>
        </p:nvSpPr>
        <p:spPr>
          <a:xfrm>
            <a:off x="6812280" y="2651760"/>
            <a:ext cx="777240" cy="384048"/>
          </a:xfrm>
          <a:prstGeom prst="roundRect">
            <a:avLst>
              <a:gd fmla="val 11905" name="adj"/>
            </a:avLst>
          </a:prstGeom>
          <a:solidFill>
            <a:srgbClr val="5F6B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6"/>
          <p:cNvSpPr/>
          <p:nvPr/>
        </p:nvSpPr>
        <p:spPr>
          <a:xfrm>
            <a:off x="6812280" y="2651760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Y141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6"/>
          <p:cNvSpPr/>
          <p:nvPr/>
        </p:nvSpPr>
        <p:spPr>
          <a:xfrm>
            <a:off x="7653528" y="2651760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PME (report)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6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fmla="val 6957" name="adj"/>
            </a:avLst>
          </a:prstGeom>
          <a:solidFill>
            <a:srgbClr val="004079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731520" y="3794760"/>
            <a:ext cx="594360" cy="594360"/>
          </a:xfrm>
          <a:prstGeom prst="ellipse">
            <a:avLst/>
          </a:prstGeom>
          <a:solidFill>
            <a:srgbClr val="DF337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handshake.png" id="720" name="Google Shape;7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166" y="393740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26"/>
          <p:cNvSpPr/>
          <p:nvPr/>
        </p:nvSpPr>
        <p:spPr>
          <a:xfrm>
            <a:off x="1508760" y="3675888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Transmission amont / aval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6"/>
          <p:cNvSpPr/>
          <p:nvPr/>
        </p:nvSpPr>
        <p:spPr>
          <a:xfrm>
            <a:off x="1508760" y="4041648"/>
            <a:ext cx="6949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L'opérateur transmet le n° de DDR et le code de vérification à son seul client aval immédiat ; les maillons suivants ne conservent que les infos fournisseur.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6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Autres codes : Y142 (activité non commerciale) · 99EU9999999999 = n° conventionnel export/réimport, produits fabriqués entre le 29/06/2023 et l'application.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15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7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7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7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Précisions clés — FAQ de la Commission (2026)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7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Ce que la 5ᵉ édition de la FAQ (avril 2026) confirme ou clarifie — n° de question à contrôler sur la v5.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7"/>
          <p:cNvSpPr/>
          <p:nvPr/>
        </p:nvSpPr>
        <p:spPr>
          <a:xfrm>
            <a:off x="457200" y="1554480"/>
            <a:ext cx="397764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7"/>
          <p:cNvSpPr/>
          <p:nvPr/>
        </p:nvSpPr>
        <p:spPr>
          <a:xfrm>
            <a:off x="658368" y="1810512"/>
            <a:ext cx="640080" cy="640080"/>
          </a:xfrm>
          <a:prstGeom prst="ellipse">
            <a:avLst/>
          </a:prstGeom>
          <a:solidFill>
            <a:srgbClr val="004079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art.png" id="737" name="Google Shape;73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987" y="1964131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27"/>
          <p:cNvSpPr/>
          <p:nvPr/>
        </p:nvSpPr>
        <p:spPr>
          <a:xfrm>
            <a:off x="1463040" y="181051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Le e-commerce est couvert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7"/>
          <p:cNvSpPr/>
          <p:nvPr/>
        </p:nvSpPr>
        <p:spPr>
          <a:xfrm>
            <a:off x="713232" y="2487168"/>
            <a:ext cx="3520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Ventes en ligne (B2B &amp; B2C), places de marché : opérateur/aval/commerçant selon le rôle. Usage privé C2C exclu.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7"/>
          <p:cNvSpPr/>
          <p:nvPr/>
        </p:nvSpPr>
        <p:spPr>
          <a:xfrm>
            <a:off x="713232" y="3154680"/>
            <a:ext cx="1280160" cy="256032"/>
          </a:xfrm>
          <a:prstGeom prst="roundRect">
            <a:avLst>
              <a:gd fmla="val 50000" name="adj"/>
            </a:avLst>
          </a:prstGeom>
          <a:solidFill>
            <a:srgbClr val="004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7"/>
          <p:cNvSpPr/>
          <p:nvPr/>
        </p:nvSpPr>
        <p:spPr>
          <a:xfrm>
            <a:off x="713232" y="315468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FAQ 3.17 à 3.19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7"/>
          <p:cNvSpPr/>
          <p:nvPr/>
        </p:nvSpPr>
        <p:spPr>
          <a:xfrm>
            <a:off x="4617720" y="1554480"/>
            <a:ext cx="397764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7"/>
          <p:cNvSpPr/>
          <p:nvPr/>
        </p:nvSpPr>
        <p:spPr>
          <a:xfrm>
            <a:off x="4818888" y="1810512"/>
            <a:ext cx="640080" cy="640080"/>
          </a:xfrm>
          <a:prstGeom prst="ellipse">
            <a:avLst/>
          </a:prstGeom>
          <a:solidFill>
            <a:srgbClr val="D8232A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an.png" id="744" name="Google Shape;74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2507" y="1964131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27"/>
          <p:cNvSpPr/>
          <p:nvPr/>
        </p:nvSpPr>
        <p:spPr>
          <a:xfrm>
            <a:off x="5623560" y="181051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Pas de dilution possible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7"/>
          <p:cNvSpPr/>
          <p:nvPr/>
        </p:nvSpPr>
        <p:spPr>
          <a:xfrm>
            <a:off x="4873752" y="2487168"/>
            <a:ext cx="3520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Un lot mélangé avec une part non conforme, non isolable, devient non conforme en entier.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7"/>
          <p:cNvSpPr/>
          <p:nvPr/>
        </p:nvSpPr>
        <p:spPr>
          <a:xfrm>
            <a:off x="4873752" y="3154680"/>
            <a:ext cx="1280160" cy="256032"/>
          </a:xfrm>
          <a:prstGeom prst="roundRect">
            <a:avLst>
              <a:gd fmla="val 50000" name="adj"/>
            </a:avLst>
          </a:prstGeom>
          <a:solidFill>
            <a:srgbClr val="D82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7"/>
          <p:cNvSpPr/>
          <p:nvPr/>
        </p:nvSpPr>
        <p:spPr>
          <a:xfrm>
            <a:off x="4873752" y="315468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FAQ 1.4 &amp; 1.5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7"/>
          <p:cNvSpPr/>
          <p:nvPr/>
        </p:nvSpPr>
        <p:spPr>
          <a:xfrm>
            <a:off x="457200" y="3703320"/>
            <a:ext cx="397764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7"/>
          <p:cNvSpPr/>
          <p:nvPr/>
        </p:nvSpPr>
        <p:spPr>
          <a:xfrm>
            <a:off x="658368" y="3959352"/>
            <a:ext cx="640080" cy="640080"/>
          </a:xfrm>
          <a:prstGeom prst="ellipse">
            <a:avLst/>
          </a:prstGeom>
          <a:solidFill>
            <a:srgbClr val="00A49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ubes.png" id="751" name="Google Shape;75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987" y="4112971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27"/>
          <p:cNvSpPr/>
          <p:nvPr/>
        </p:nvSpPr>
        <p:spPr>
          <a:xfrm>
            <a:off x="1463040" y="395935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Produits composés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7"/>
          <p:cNvSpPr/>
          <p:nvPr/>
        </p:nvSpPr>
        <p:spPr>
          <a:xfrm>
            <a:off x="713232" y="4636008"/>
            <a:ext cx="3520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Produit multi-matières : diligence sur chaque matière de base en cause.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7"/>
          <p:cNvSpPr/>
          <p:nvPr/>
        </p:nvSpPr>
        <p:spPr>
          <a:xfrm>
            <a:off x="713232" y="5303520"/>
            <a:ext cx="1280160" cy="256032"/>
          </a:xfrm>
          <a:prstGeom prst="roundRect">
            <a:avLst>
              <a:gd fmla="val 50000" name="adj"/>
            </a:avLst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7"/>
          <p:cNvSpPr/>
          <p:nvPr/>
        </p:nvSpPr>
        <p:spPr>
          <a:xfrm>
            <a:off x="713232" y="530352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FAQ 1.3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7"/>
          <p:cNvSpPr/>
          <p:nvPr/>
        </p:nvSpPr>
        <p:spPr>
          <a:xfrm>
            <a:off x="4617720" y="3703320"/>
            <a:ext cx="397764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7"/>
          <p:cNvSpPr/>
          <p:nvPr/>
        </p:nvSpPr>
        <p:spPr>
          <a:xfrm>
            <a:off x="4818888" y="3959352"/>
            <a:ext cx="640080" cy="640080"/>
          </a:xfrm>
          <a:prstGeom prst="ellipse">
            <a:avLst/>
          </a:prstGeom>
          <a:solidFill>
            <a:srgbClr val="0092D2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ayers.png" id="758" name="Google Shape;75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2507" y="4112971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27"/>
          <p:cNvSpPr/>
          <p:nvPr/>
        </p:nvSpPr>
        <p:spPr>
          <a:xfrm>
            <a:off x="5623560" y="395935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Un compte, plusieurs rôles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7"/>
          <p:cNvSpPr/>
          <p:nvPr/>
        </p:nvSpPr>
        <p:spPr>
          <a:xfrm>
            <a:off x="4873752" y="4636008"/>
            <a:ext cx="3520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Dans le système d'information, un même compte porte opérateur / aval / commerçant / mandataire.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7"/>
          <p:cNvSpPr/>
          <p:nvPr/>
        </p:nvSpPr>
        <p:spPr>
          <a:xfrm>
            <a:off x="4873752" y="5303520"/>
            <a:ext cx="1280160" cy="256032"/>
          </a:xfrm>
          <a:prstGeom prst="roundRect">
            <a:avLst>
              <a:gd fmla="val 50000" name="adj"/>
            </a:avLst>
          </a:prstGeom>
          <a:solidFill>
            <a:srgbClr val="009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7"/>
          <p:cNvSpPr/>
          <p:nvPr/>
        </p:nvSpPr>
        <p:spPr>
          <a:xfrm>
            <a:off x="4873752" y="530352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FAQ 7.29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8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8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29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8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8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8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Deux profils, deux stratégies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8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Des exemples d'entreprises ayant structuré leur SDR (profils génériques).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8"/>
          <p:cNvSpPr/>
          <p:nvPr/>
        </p:nvSpPr>
        <p:spPr>
          <a:xfrm>
            <a:off x="457200" y="1554480"/>
            <a:ext cx="4023360" cy="402336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8"/>
          <p:cNvSpPr/>
          <p:nvPr/>
        </p:nvSpPr>
        <p:spPr>
          <a:xfrm>
            <a:off x="457200" y="1554480"/>
            <a:ext cx="4023360" cy="822960"/>
          </a:xfrm>
          <a:prstGeom prst="roundRect">
            <a:avLst>
              <a:gd fmla="val 8889" name="adj"/>
            </a:avLst>
          </a:prstGeom>
          <a:solidFill>
            <a:srgbClr val="F18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8"/>
          <p:cNvSpPr/>
          <p:nvPr/>
        </p:nvSpPr>
        <p:spPr>
          <a:xfrm>
            <a:off x="621792" y="1691640"/>
            <a:ext cx="548640" cy="548640"/>
          </a:xfrm>
          <a:prstGeom prst="ellipse">
            <a:avLst/>
          </a:prstGeom>
          <a:solidFill>
            <a:srgbClr val="B5670A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ore.png" id="777" name="Google Shape;7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466" y="1823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28"/>
          <p:cNvSpPr/>
          <p:nvPr/>
        </p:nvSpPr>
        <p:spPr>
          <a:xfrm>
            <a:off x="1280160" y="155448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négociant en invendus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E6C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FCE6CF"/>
                </a:solidFill>
                <a:latin typeface="Calibri"/>
                <a:ea typeface="Calibri"/>
                <a:cs typeface="Calibri"/>
                <a:sym typeface="Calibri"/>
              </a:rPr>
              <a:t>déstockage · catalogue multi-produits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8"/>
          <p:cNvSpPr/>
          <p:nvPr/>
        </p:nvSpPr>
        <p:spPr>
          <a:xfrm>
            <a:off x="640080" y="2560320"/>
            <a:ext cx="3657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7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18700"/>
                </a:solidFill>
                <a:latin typeface="Calibri"/>
                <a:ea typeface="Calibri"/>
                <a:cs typeface="Calibri"/>
                <a:sym typeface="Calibri"/>
              </a:rPr>
              <a:t>Impact fort et compliqué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Sourcing opportuniste, traçabilité amont quasi impossible à reconstituer.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040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Stratégie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Statut d'aval (réutiliser les DDR, C717) · exiger le n° à l'achat · exclusions (Y132/Y133/Y129) · filtrer le sourcing.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8"/>
          <p:cNvSpPr/>
          <p:nvPr/>
        </p:nvSpPr>
        <p:spPr>
          <a:xfrm>
            <a:off x="4663440" y="1554480"/>
            <a:ext cx="4023360" cy="402336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8"/>
          <p:cNvSpPr/>
          <p:nvPr/>
        </p:nvSpPr>
        <p:spPr>
          <a:xfrm>
            <a:off x="4663440" y="1554480"/>
            <a:ext cx="4023360" cy="822960"/>
          </a:xfrm>
          <a:prstGeom prst="roundRect">
            <a:avLst>
              <a:gd fmla="val 8889" name="adj"/>
            </a:avLst>
          </a:prstGeom>
          <a:solidFill>
            <a:srgbClr val="004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8"/>
          <p:cNvSpPr/>
          <p:nvPr/>
        </p:nvSpPr>
        <p:spPr>
          <a:xfrm>
            <a:off x="4828032" y="1691640"/>
            <a:ext cx="548640" cy="548640"/>
          </a:xfrm>
          <a:prstGeom prst="ellipse">
            <a:avLst/>
          </a:prstGeom>
          <a:solidFill>
            <a:srgbClr val="063A68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ndustry.png" id="783" name="Google Shape;78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9706" y="1823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28"/>
          <p:cNvSpPr/>
          <p:nvPr/>
        </p:nvSpPr>
        <p:spPr>
          <a:xfrm>
            <a:off x="5486400" y="155448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L'industriel à diligence mature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filière caoutchouc · chaîne longue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8"/>
          <p:cNvSpPr/>
          <p:nvPr/>
        </p:nvSpPr>
        <p:spPr>
          <a:xfrm>
            <a:off x="4846320" y="2560320"/>
            <a:ext cx="3657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2D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92D2"/>
                </a:solidFill>
                <a:latin typeface="Calibri"/>
                <a:ea typeface="Calibri"/>
                <a:cs typeface="Calibri"/>
                <a:sym typeface="Calibri"/>
              </a:rPr>
              <a:t>Impact maîtrisable — enjeu d'échelle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Diligence déjà structurée. Point dur : les petits planteurs (géoloc à grande échelle).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0040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Stratégie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Dossier de preuve opposable · sécuriser la donnée smallholders · valoriser (ESG/CSRD) · cascade contractuelle.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079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9"/>
          <p:cNvSpPr/>
          <p:nvPr/>
        </p:nvSpPr>
        <p:spPr>
          <a:xfrm>
            <a:off x="704088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9"/>
          <p:cNvSpPr/>
          <p:nvPr/>
        </p:nvSpPr>
        <p:spPr>
          <a:xfrm>
            <a:off x="704088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9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003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9"/>
          <p:cNvSpPr/>
          <p:nvPr/>
        </p:nvSpPr>
        <p:spPr>
          <a:xfrm>
            <a:off x="640080" y="141732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PARTIE IV</a:t>
            </a:r>
            <a:r>
              <a:rPr b="1" i="0" lang="en-US" sz="1400" u="none" cap="none" strike="noStrike">
                <a:solidFill>
                  <a:srgbClr val="9FC4E0"/>
                </a:solidFill>
                <a:latin typeface="Calibri"/>
                <a:ea typeface="Calibri"/>
                <a:cs typeface="Calibri"/>
                <a:sym typeface="Calibri"/>
              </a:rPr>
              <a:t>    ·    10 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9"/>
          <p:cNvSpPr/>
          <p:nvPr/>
        </p:nvSpPr>
        <p:spPr>
          <a:xfrm>
            <a:off x="594360" y="18288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Bonnes pratiques &amp; conseils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9"/>
          <p:cNvSpPr/>
          <p:nvPr/>
        </p:nvSpPr>
        <p:spPr>
          <a:xfrm>
            <a:off x="685800" y="3566160"/>
            <a:ext cx="5486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Anticiper : tester TRACES-NT dès l'ouverture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Archiver : conserver les preuves 5 ans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Se faire accompagner : les bons interlocuteurs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E6F0F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E6F0F8"/>
                </a:solidFill>
                <a:latin typeface="Calibri"/>
                <a:ea typeface="Calibri"/>
                <a:cs typeface="Calibri"/>
                <a:sym typeface="Calibri"/>
              </a:rPr>
              <a:t>La synthèse des conseils &amp; la maîtrise des risques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9"/>
          <p:cNvSpPr/>
          <p:nvPr/>
        </p:nvSpPr>
        <p:spPr>
          <a:xfrm>
            <a:off x="6446520" y="164592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9"/>
          <p:cNvSpPr/>
          <p:nvPr/>
        </p:nvSpPr>
        <p:spPr>
          <a:xfrm>
            <a:off x="6583680" y="17739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9"/>
          <p:cNvSpPr/>
          <p:nvPr/>
        </p:nvSpPr>
        <p:spPr>
          <a:xfrm>
            <a:off x="7086600" y="170078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Contexte &amp; enjeux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9"/>
          <p:cNvSpPr/>
          <p:nvPr/>
        </p:nvSpPr>
        <p:spPr>
          <a:xfrm>
            <a:off x="6446520" y="251460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9"/>
          <p:cNvSpPr/>
          <p:nvPr/>
        </p:nvSpPr>
        <p:spPr>
          <a:xfrm>
            <a:off x="6583680" y="26426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9"/>
          <p:cNvSpPr/>
          <p:nvPr/>
        </p:nvSpPr>
        <p:spPr>
          <a:xfrm>
            <a:off x="7086600" y="256946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Êtes-vous concernés 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9"/>
          <p:cNvSpPr/>
          <p:nvPr/>
        </p:nvSpPr>
        <p:spPr>
          <a:xfrm>
            <a:off x="6446520" y="338328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9"/>
          <p:cNvSpPr/>
          <p:nvPr/>
        </p:nvSpPr>
        <p:spPr>
          <a:xfrm>
            <a:off x="6583680" y="35112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9"/>
          <p:cNvSpPr/>
          <p:nvPr/>
        </p:nvSpPr>
        <p:spPr>
          <a:xfrm>
            <a:off x="7086600" y="343814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La diligence raisonnée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9"/>
          <p:cNvSpPr/>
          <p:nvPr/>
        </p:nvSpPr>
        <p:spPr>
          <a:xfrm>
            <a:off x="6446520" y="425196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063A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9"/>
          <p:cNvSpPr/>
          <p:nvPr/>
        </p:nvSpPr>
        <p:spPr>
          <a:xfrm>
            <a:off x="6583680" y="43799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4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B4DB"/>
                </a:solidFill>
                <a:latin typeface="Calibri"/>
                <a:ea typeface="Calibri"/>
                <a:cs typeface="Calibri"/>
                <a:sym typeface="Calibri"/>
              </a:rPr>
              <a:t>III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9"/>
          <p:cNvSpPr/>
          <p:nvPr/>
        </p:nvSpPr>
        <p:spPr>
          <a:xfrm>
            <a:off x="7086600" y="430682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Mise en œuvre &amp; formalités douanières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9"/>
          <p:cNvSpPr/>
          <p:nvPr/>
        </p:nvSpPr>
        <p:spPr>
          <a:xfrm>
            <a:off x="6446520" y="5120640"/>
            <a:ext cx="2240280" cy="731520"/>
          </a:xfrm>
          <a:prstGeom prst="roundRect">
            <a:avLst>
              <a:gd fmla="val 7500" name="adj"/>
            </a:avLst>
          </a:prstGeom>
          <a:solidFill>
            <a:srgbClr val="DF33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9"/>
          <p:cNvSpPr/>
          <p:nvPr/>
        </p:nvSpPr>
        <p:spPr>
          <a:xfrm>
            <a:off x="6583680" y="52486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9"/>
          <p:cNvSpPr/>
          <p:nvPr/>
        </p:nvSpPr>
        <p:spPr>
          <a:xfrm>
            <a:off x="7086600" y="5175504"/>
            <a:ext cx="1508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Bonnes pratiques &amp; conseils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0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0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26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0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0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0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Cartographier les risques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0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Le RDUE est pluriel : ce n'est pas qu'un sujet d'image.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0"/>
          <p:cNvSpPr/>
          <p:nvPr/>
        </p:nvSpPr>
        <p:spPr>
          <a:xfrm>
            <a:off x="457200" y="1691640"/>
            <a:ext cx="260604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0"/>
          <p:cNvSpPr/>
          <p:nvPr/>
        </p:nvSpPr>
        <p:spPr>
          <a:xfrm>
            <a:off x="640080" y="1892808"/>
            <a:ext cx="502920" cy="502920"/>
          </a:xfrm>
          <a:prstGeom prst="ellipse">
            <a:avLst/>
          </a:prstGeom>
          <a:solidFill>
            <a:srgbClr val="004079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avel.png" id="825" name="Google Shape;8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781" y="201350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30"/>
          <p:cNvSpPr/>
          <p:nvPr/>
        </p:nvSpPr>
        <p:spPr>
          <a:xfrm>
            <a:off x="1234440" y="1911096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Juridique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0"/>
          <p:cNvSpPr/>
          <p:nvPr/>
        </p:nvSpPr>
        <p:spPr>
          <a:xfrm>
            <a:off x="640080" y="2496312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Diligence insuffisante, rôle mal qualifié, DDR incomplète.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0"/>
          <p:cNvSpPr/>
          <p:nvPr/>
        </p:nvSpPr>
        <p:spPr>
          <a:xfrm>
            <a:off x="3246120" y="1691640"/>
            <a:ext cx="260604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0"/>
          <p:cNvSpPr/>
          <p:nvPr/>
        </p:nvSpPr>
        <p:spPr>
          <a:xfrm>
            <a:off x="3429000" y="1892808"/>
            <a:ext cx="502920" cy="502920"/>
          </a:xfrm>
          <a:prstGeom prst="ellipse">
            <a:avLst/>
          </a:prstGeom>
          <a:solidFill>
            <a:srgbClr val="0092D2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ruck.png" id="830" name="Google Shape;83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9701" y="201350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30"/>
          <p:cNvSpPr/>
          <p:nvPr/>
        </p:nvSpPr>
        <p:spPr>
          <a:xfrm>
            <a:off x="4023360" y="1911096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Douanier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0"/>
          <p:cNvSpPr/>
          <p:nvPr/>
        </p:nvSpPr>
        <p:spPr>
          <a:xfrm>
            <a:off x="3429000" y="2496312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Refus de mainlevée, mauvais code, lots bloqués.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0"/>
          <p:cNvSpPr/>
          <p:nvPr/>
        </p:nvSpPr>
        <p:spPr>
          <a:xfrm>
            <a:off x="6035040" y="1691640"/>
            <a:ext cx="260604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0"/>
          <p:cNvSpPr/>
          <p:nvPr/>
        </p:nvSpPr>
        <p:spPr>
          <a:xfrm>
            <a:off x="6217920" y="1892808"/>
            <a:ext cx="502920" cy="502920"/>
          </a:xfrm>
          <a:prstGeom prst="ellipse">
            <a:avLst/>
          </a:prstGeom>
          <a:solidFill>
            <a:srgbClr val="D8232A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uro.png" id="835" name="Google Shape;83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8621" y="201350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30"/>
          <p:cNvSpPr/>
          <p:nvPr/>
        </p:nvSpPr>
        <p:spPr>
          <a:xfrm>
            <a:off x="6812280" y="1911096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Financier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0"/>
          <p:cNvSpPr/>
          <p:nvPr/>
        </p:nvSpPr>
        <p:spPr>
          <a:xfrm>
            <a:off x="6217920" y="2496312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Amende (plafond ≥ 4 % du CA UE), confiscation, exclusion.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0"/>
          <p:cNvSpPr/>
          <p:nvPr/>
        </p:nvSpPr>
        <p:spPr>
          <a:xfrm>
            <a:off x="1399032" y="3611880"/>
            <a:ext cx="260604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0"/>
          <p:cNvSpPr/>
          <p:nvPr/>
        </p:nvSpPr>
        <p:spPr>
          <a:xfrm>
            <a:off x="1581912" y="3813048"/>
            <a:ext cx="502920" cy="502920"/>
          </a:xfrm>
          <a:prstGeom prst="ellipse">
            <a:avLst/>
          </a:prstGeom>
          <a:solidFill>
            <a:srgbClr val="F18700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ink.png" id="840" name="Google Shape;84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02613" y="393374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30"/>
          <p:cNvSpPr/>
          <p:nvPr/>
        </p:nvSpPr>
        <p:spPr>
          <a:xfrm>
            <a:off x="2176272" y="3831336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Opérationnel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0"/>
          <p:cNvSpPr/>
          <p:nvPr/>
        </p:nvSpPr>
        <p:spPr>
          <a:xfrm>
            <a:off x="1581912" y="4416552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Fournisseurs sans données, ruptures d'appro.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0"/>
          <p:cNvSpPr/>
          <p:nvPr/>
        </p:nvSpPr>
        <p:spPr>
          <a:xfrm>
            <a:off x="4553712" y="3611880"/>
            <a:ext cx="260604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0"/>
          <p:cNvSpPr/>
          <p:nvPr/>
        </p:nvSpPr>
        <p:spPr>
          <a:xfrm>
            <a:off x="4736592" y="3813048"/>
            <a:ext cx="502920" cy="502920"/>
          </a:xfrm>
          <a:prstGeom prst="ellipse">
            <a:avLst/>
          </a:prstGeom>
          <a:solidFill>
            <a:srgbClr val="623988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lobe.png" id="845" name="Google Shape;845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7293" y="393374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30"/>
          <p:cNvSpPr/>
          <p:nvPr/>
        </p:nvSpPr>
        <p:spPr>
          <a:xfrm>
            <a:off x="5330952" y="3831336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RSE / réputation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0"/>
          <p:cNvSpPr/>
          <p:nvPr/>
        </p:nvSpPr>
        <p:spPr>
          <a:xfrm>
            <a:off x="4736592" y="4416552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Exigences clients &amp; financeurs, exposition médiatique.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31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1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27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1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1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1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Le régime des sanctions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1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Une déclaration en douane engage la responsabilité de l'opérateur (art. 25).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1"/>
          <p:cNvSpPr/>
          <p:nvPr/>
        </p:nvSpPr>
        <p:spPr>
          <a:xfrm>
            <a:off x="457200" y="1691640"/>
            <a:ext cx="1965960" cy="3108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1"/>
          <p:cNvSpPr/>
          <p:nvPr/>
        </p:nvSpPr>
        <p:spPr>
          <a:xfrm>
            <a:off x="1005840" y="1965960"/>
            <a:ext cx="822960" cy="822960"/>
          </a:xfrm>
          <a:prstGeom prst="ellipse">
            <a:avLst/>
          </a:prstGeom>
          <a:solidFill>
            <a:srgbClr val="D8232A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uro.png" id="861" name="Google Shape;8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3350" y="216347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31"/>
          <p:cNvSpPr/>
          <p:nvPr/>
        </p:nvSpPr>
        <p:spPr>
          <a:xfrm>
            <a:off x="548640" y="29260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Financière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1"/>
          <p:cNvSpPr/>
          <p:nvPr/>
        </p:nvSpPr>
        <p:spPr>
          <a:xfrm>
            <a:off x="594360" y="342900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Plafond fixé par chaque État membre à au moins 4 % du CA annuel UE.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1"/>
          <p:cNvSpPr/>
          <p:nvPr/>
        </p:nvSpPr>
        <p:spPr>
          <a:xfrm>
            <a:off x="2560320" y="1691640"/>
            <a:ext cx="1965960" cy="3108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1"/>
          <p:cNvSpPr/>
          <p:nvPr/>
        </p:nvSpPr>
        <p:spPr>
          <a:xfrm>
            <a:off x="3108960" y="1965960"/>
            <a:ext cx="822960" cy="822960"/>
          </a:xfrm>
          <a:prstGeom prst="ellipse">
            <a:avLst/>
          </a:prstGeom>
          <a:solidFill>
            <a:srgbClr val="F18700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ruck.png" id="866" name="Google Shape;86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6470" y="216347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31"/>
          <p:cNvSpPr/>
          <p:nvPr/>
        </p:nvSpPr>
        <p:spPr>
          <a:xfrm>
            <a:off x="2651760" y="29260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Logistique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1"/>
          <p:cNvSpPr/>
          <p:nvPr/>
        </p:nvSpPr>
        <p:spPr>
          <a:xfrm>
            <a:off x="2697480" y="342900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Immobilisation et confiscation des produits concernés.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1"/>
          <p:cNvSpPr/>
          <p:nvPr/>
        </p:nvSpPr>
        <p:spPr>
          <a:xfrm>
            <a:off x="4663440" y="1691640"/>
            <a:ext cx="1965960" cy="3108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1"/>
          <p:cNvSpPr/>
          <p:nvPr/>
        </p:nvSpPr>
        <p:spPr>
          <a:xfrm>
            <a:off x="5212080" y="1965960"/>
            <a:ext cx="822960" cy="822960"/>
          </a:xfrm>
          <a:prstGeom prst="ellipse">
            <a:avLst/>
          </a:prstGeom>
          <a:solidFill>
            <a:srgbClr val="623988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an.png" id="871" name="Google Shape;87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9590" y="216347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31"/>
          <p:cNvSpPr/>
          <p:nvPr/>
        </p:nvSpPr>
        <p:spPr>
          <a:xfrm>
            <a:off x="4754880" y="29260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Commerciale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1"/>
          <p:cNvSpPr/>
          <p:nvPr/>
        </p:nvSpPr>
        <p:spPr>
          <a:xfrm>
            <a:off x="4800600" y="342900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Exclusion temporaire (max. 12 mois) des marchés et financements publics.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1"/>
          <p:cNvSpPr/>
          <p:nvPr/>
        </p:nvSpPr>
        <p:spPr>
          <a:xfrm>
            <a:off x="6766560" y="1691640"/>
            <a:ext cx="1965960" cy="3108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1"/>
          <p:cNvSpPr/>
          <p:nvPr/>
        </p:nvSpPr>
        <p:spPr>
          <a:xfrm>
            <a:off x="7315200" y="1965960"/>
            <a:ext cx="822960" cy="822960"/>
          </a:xfrm>
          <a:prstGeom prst="ellipse">
            <a:avLst/>
          </a:prstGeom>
          <a:solidFill>
            <a:srgbClr val="004079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avel.png" id="876" name="Google Shape;87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12710" y="216347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31"/>
          <p:cNvSpPr/>
          <p:nvPr/>
        </p:nvSpPr>
        <p:spPr>
          <a:xfrm>
            <a:off x="6858000" y="29260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Pénale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1"/>
          <p:cNvSpPr/>
          <p:nvPr/>
        </p:nvSpPr>
        <p:spPr>
          <a:xfrm>
            <a:off x="6903720" y="342900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Poursuites possibles (directive (UE) 2024/1203).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1"/>
          <p:cNvSpPr/>
          <p:nvPr/>
        </p:nvSpPr>
        <p:spPr>
          <a:xfrm>
            <a:off x="457200" y="5029200"/>
            <a:ext cx="8229600" cy="548640"/>
          </a:xfrm>
          <a:prstGeom prst="roundRect">
            <a:avLst>
              <a:gd fmla="val 13333" name="adj"/>
            </a:avLst>
          </a:prstGeom>
          <a:solidFill>
            <a:srgbClr val="004079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1"/>
          <p:cNvSpPr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Taux de contrôle : 1 % (risque faible) · 3 % (standard) · 9 % des opérateurs et des quantités (élevé).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2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2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28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2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2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2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Les leviers pour réduire la charge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2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Bien joué, le RDUE se pilote.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2"/>
          <p:cNvSpPr/>
          <p:nvPr/>
        </p:nvSpPr>
        <p:spPr>
          <a:xfrm>
            <a:off x="457200" y="173736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DF337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ecycle.png" id="894" name="Google Shape;89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20299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32"/>
          <p:cNvSpPr/>
          <p:nvPr/>
        </p:nvSpPr>
        <p:spPr>
          <a:xfrm>
            <a:off x="1207008" y="192024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Statut d'opérateur en aval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2"/>
          <p:cNvSpPr/>
          <p:nvPr/>
        </p:nvSpPr>
        <p:spPr>
          <a:xfrm>
            <a:off x="640080" y="251460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S'appuyer sur la DDR de l'amont plutôt que reconstituer la traçabilité.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2"/>
          <p:cNvSpPr/>
          <p:nvPr/>
        </p:nvSpPr>
        <p:spPr>
          <a:xfrm>
            <a:off x="3246120" y="173736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2"/>
          <p:cNvSpPr/>
          <p:nvPr/>
        </p:nvSpPr>
        <p:spPr>
          <a:xfrm>
            <a:off x="3429000" y="1920240"/>
            <a:ext cx="457200" cy="457200"/>
          </a:xfrm>
          <a:prstGeom prst="ellipse">
            <a:avLst/>
          </a:prstGeom>
          <a:solidFill>
            <a:srgbClr val="DF337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edling.png" id="899" name="Google Shape;89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8728" y="20299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32"/>
          <p:cNvSpPr/>
          <p:nvPr/>
        </p:nvSpPr>
        <p:spPr>
          <a:xfrm>
            <a:off x="3995928" y="192024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Sourcing pays à risque faible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2"/>
          <p:cNvSpPr/>
          <p:nvPr/>
        </p:nvSpPr>
        <p:spPr>
          <a:xfrm>
            <a:off x="3429000" y="251460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Bascule vers la diligence simplifiée (art. 13).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2"/>
          <p:cNvSpPr/>
          <p:nvPr/>
        </p:nvSpPr>
        <p:spPr>
          <a:xfrm>
            <a:off x="6035040" y="173736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2"/>
          <p:cNvSpPr/>
          <p:nvPr/>
        </p:nvSpPr>
        <p:spPr>
          <a:xfrm>
            <a:off x="6217920" y="1920240"/>
            <a:ext cx="457200" cy="457200"/>
          </a:xfrm>
          <a:prstGeom prst="ellipse">
            <a:avLst/>
          </a:prstGeom>
          <a:solidFill>
            <a:srgbClr val="DF337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handshake.png" id="904" name="Google Shape;90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7648" y="20299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32"/>
          <p:cNvSpPr/>
          <p:nvPr/>
        </p:nvSpPr>
        <p:spPr>
          <a:xfrm>
            <a:off x="6784848" y="192024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Mandataire / mutualisation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2"/>
          <p:cNvSpPr/>
          <p:nvPr/>
        </p:nvSpPr>
        <p:spPr>
          <a:xfrm>
            <a:off x="6217920" y="251460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Déléguer la diligence (art. 6) ou mutualiser en filière.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2"/>
          <p:cNvSpPr/>
          <p:nvPr/>
        </p:nvSpPr>
        <p:spPr>
          <a:xfrm>
            <a:off x="457200" y="34747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2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DF337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alendar.png" id="909" name="Google Shape;90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808" y="3767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32"/>
          <p:cNvSpPr/>
          <p:nvPr/>
        </p:nvSpPr>
        <p:spPr>
          <a:xfrm>
            <a:off x="1207008" y="365760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Exploiter le calendrier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2"/>
          <p:cNvSpPr/>
          <p:nvPr/>
        </p:nvSpPr>
        <p:spPr>
          <a:xfrm>
            <a:off x="640080" y="425196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Délai PME (30/06/2027) ; nouveaux produits (30/12/2027).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2"/>
          <p:cNvSpPr/>
          <p:nvPr/>
        </p:nvSpPr>
        <p:spPr>
          <a:xfrm>
            <a:off x="3246120" y="34747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2"/>
          <p:cNvSpPr/>
          <p:nvPr/>
        </p:nvSpPr>
        <p:spPr>
          <a:xfrm>
            <a:off x="3429000" y="3657600"/>
            <a:ext cx="457200" cy="457200"/>
          </a:xfrm>
          <a:prstGeom prst="ellipse">
            <a:avLst/>
          </a:prstGeom>
          <a:solidFill>
            <a:srgbClr val="DF337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lesign.png" id="914" name="Google Shape;914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38728" y="3767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32"/>
          <p:cNvSpPr/>
          <p:nvPr/>
        </p:nvSpPr>
        <p:spPr>
          <a:xfrm>
            <a:off x="3995928" y="365760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Déclaration simplifiée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2"/>
          <p:cNvSpPr/>
          <p:nvPr/>
        </p:nvSpPr>
        <p:spPr>
          <a:xfrm>
            <a:off x="3429000" y="425196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Déclaration unique pour les micro/petits producteurs de pays à risque faible.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2"/>
          <p:cNvSpPr/>
          <p:nvPr/>
        </p:nvSpPr>
        <p:spPr>
          <a:xfrm>
            <a:off x="6035040" y="347472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2"/>
          <p:cNvSpPr/>
          <p:nvPr/>
        </p:nvSpPr>
        <p:spPr>
          <a:xfrm>
            <a:off x="6217920" y="3657600"/>
            <a:ext cx="457200" cy="457200"/>
          </a:xfrm>
          <a:prstGeom prst="ellipse">
            <a:avLst/>
          </a:prstGeom>
          <a:solidFill>
            <a:srgbClr val="DF337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ntract.png" id="919" name="Google Shape;919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27648" y="37673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32"/>
          <p:cNvSpPr/>
          <p:nvPr/>
        </p:nvSpPr>
        <p:spPr>
          <a:xfrm>
            <a:off x="6784848" y="365760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Transfert par contrat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2"/>
          <p:cNvSpPr/>
          <p:nvPr/>
        </p:nvSpPr>
        <p:spPr>
          <a:xfrm>
            <a:off x="6217920" y="425196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Garanties, indemnisation, résiliation portées par les fournisseurs.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33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3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31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3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3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3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Les conseils de l'experte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3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Anticiper, archiver, se faire accompagner.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3"/>
          <p:cNvSpPr/>
          <p:nvPr/>
        </p:nvSpPr>
        <p:spPr>
          <a:xfrm>
            <a:off x="457200" y="155448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3"/>
          <p:cNvSpPr/>
          <p:nvPr/>
        </p:nvSpPr>
        <p:spPr>
          <a:xfrm>
            <a:off x="640080" y="1755648"/>
            <a:ext cx="548640" cy="548640"/>
          </a:xfrm>
          <a:prstGeom prst="ellipse">
            <a:avLst/>
          </a:prstGeom>
          <a:solidFill>
            <a:srgbClr val="DF337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ocket.png" id="935" name="Google Shape;9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754" y="188732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33"/>
          <p:cNvSpPr/>
          <p:nvPr/>
        </p:nvSpPr>
        <p:spPr>
          <a:xfrm>
            <a:off x="1325880" y="1755648"/>
            <a:ext cx="1600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Anticiper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3"/>
          <p:cNvSpPr/>
          <p:nvPr/>
        </p:nvSpPr>
        <p:spPr>
          <a:xfrm>
            <a:off x="640080" y="2578608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Tester la déclaration en ligne dès l'ouverture des accès sur TRACES-NT.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3"/>
          <p:cNvSpPr/>
          <p:nvPr/>
        </p:nvSpPr>
        <p:spPr>
          <a:xfrm>
            <a:off x="3246120" y="155448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3"/>
          <p:cNvSpPr/>
          <p:nvPr/>
        </p:nvSpPr>
        <p:spPr>
          <a:xfrm>
            <a:off x="3429000" y="1755648"/>
            <a:ext cx="548640" cy="548640"/>
          </a:xfrm>
          <a:prstGeom prst="ellipse">
            <a:avLst/>
          </a:prstGeom>
          <a:solidFill>
            <a:srgbClr val="004079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archive.png" id="940" name="Google Shape;94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0674" y="188732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33"/>
          <p:cNvSpPr/>
          <p:nvPr/>
        </p:nvSpPr>
        <p:spPr>
          <a:xfrm>
            <a:off x="4114800" y="1755648"/>
            <a:ext cx="1600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Archiver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3"/>
          <p:cNvSpPr/>
          <p:nvPr/>
        </p:nvSpPr>
        <p:spPr>
          <a:xfrm>
            <a:off x="3429000" y="2578608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Conserver registres et preuves de diligence pendant 5 ans.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3"/>
          <p:cNvSpPr/>
          <p:nvPr/>
        </p:nvSpPr>
        <p:spPr>
          <a:xfrm>
            <a:off x="6035040" y="155448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3"/>
          <p:cNvSpPr/>
          <p:nvPr/>
        </p:nvSpPr>
        <p:spPr>
          <a:xfrm>
            <a:off x="6217920" y="1755648"/>
            <a:ext cx="548640" cy="548640"/>
          </a:xfrm>
          <a:prstGeom prst="ellipse">
            <a:avLst/>
          </a:prstGeom>
          <a:solidFill>
            <a:srgbClr val="0092D2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mpass.png" id="945" name="Google Shape;94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9594" y="188732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33"/>
          <p:cNvSpPr/>
          <p:nvPr/>
        </p:nvSpPr>
        <p:spPr>
          <a:xfrm>
            <a:off x="6903720" y="1755648"/>
            <a:ext cx="1600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Auditer vos nomenclatures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3"/>
          <p:cNvSpPr/>
          <p:nvPr/>
        </p:nvSpPr>
        <p:spPr>
          <a:xfrm>
            <a:off x="6217920" y="2578608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Vérifier si vos produits figurent à l'annexe 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3"/>
          <p:cNvSpPr/>
          <p:nvPr/>
        </p:nvSpPr>
        <p:spPr>
          <a:xfrm>
            <a:off x="457200" y="338328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3"/>
          <p:cNvSpPr/>
          <p:nvPr/>
        </p:nvSpPr>
        <p:spPr>
          <a:xfrm>
            <a:off x="640080" y="3584448"/>
            <a:ext cx="548640" cy="548640"/>
          </a:xfrm>
          <a:prstGeom prst="ellipse">
            <a:avLst/>
          </a:prstGeom>
          <a:solidFill>
            <a:srgbClr val="00A49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key.png" id="950" name="Google Shape;950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754" y="371612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33"/>
          <p:cNvSpPr/>
          <p:nvPr/>
        </p:nvSpPr>
        <p:spPr>
          <a:xfrm>
            <a:off x="1325880" y="3584448"/>
            <a:ext cx="1600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Préparer EU 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3"/>
          <p:cNvSpPr/>
          <p:nvPr/>
        </p:nvSpPr>
        <p:spPr>
          <a:xfrm>
            <a:off x="640080" y="4407408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Créer votre compte dès maintenant pour accéder au système.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3"/>
          <p:cNvSpPr/>
          <p:nvPr/>
        </p:nvSpPr>
        <p:spPr>
          <a:xfrm>
            <a:off x="3246120" y="338328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3"/>
          <p:cNvSpPr/>
          <p:nvPr/>
        </p:nvSpPr>
        <p:spPr>
          <a:xfrm>
            <a:off x="3429000" y="3584448"/>
            <a:ext cx="548640" cy="548640"/>
          </a:xfrm>
          <a:prstGeom prst="ellipse">
            <a:avLst/>
          </a:prstGeom>
          <a:solidFill>
            <a:srgbClr val="F18700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edling.png" id="955" name="Google Shape;955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0674" y="371612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33"/>
          <p:cNvSpPr/>
          <p:nvPr/>
        </p:nvSpPr>
        <p:spPr>
          <a:xfrm>
            <a:off x="4114800" y="3584448"/>
            <a:ext cx="1600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Sécuriser la géolocalisation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3"/>
          <p:cNvSpPr/>
          <p:nvPr/>
        </p:nvSpPr>
        <p:spPr>
          <a:xfrm>
            <a:off x="3429000" y="4407408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Obtenir les données de vos fournisseurs étrangers — indispensables à la DDR.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3"/>
          <p:cNvSpPr/>
          <p:nvPr/>
        </p:nvSpPr>
        <p:spPr>
          <a:xfrm>
            <a:off x="6035040" y="3383280"/>
            <a:ext cx="260604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3"/>
          <p:cNvSpPr/>
          <p:nvPr/>
        </p:nvSpPr>
        <p:spPr>
          <a:xfrm>
            <a:off x="6217920" y="3584448"/>
            <a:ext cx="548640" cy="548640"/>
          </a:xfrm>
          <a:prstGeom prst="ellipse">
            <a:avLst/>
          </a:prstGeom>
          <a:solidFill>
            <a:srgbClr val="623988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userTie.png" id="960" name="Google Shape;960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49594" y="371612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33"/>
          <p:cNvSpPr/>
          <p:nvPr/>
        </p:nvSpPr>
        <p:spPr>
          <a:xfrm>
            <a:off x="6903720" y="3584448"/>
            <a:ext cx="1600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Se faire accompagner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3"/>
          <p:cNvSpPr/>
          <p:nvPr/>
        </p:nvSpPr>
        <p:spPr>
          <a:xfrm>
            <a:off x="6217920" y="4407408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Ministères MTE/MASA (fond) · Pôle d'action économique des douanes (formalités).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34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4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32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4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4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4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La conformité en 3 niveaux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4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La synthèse : du produit à la déclaration parfaite.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4"/>
          <p:cNvSpPr/>
          <p:nvPr/>
        </p:nvSpPr>
        <p:spPr>
          <a:xfrm>
            <a:off x="1188720" y="1737360"/>
            <a:ext cx="6766560" cy="1051560"/>
          </a:xfrm>
          <a:prstGeom prst="roundRect">
            <a:avLst>
              <a:gd fmla="val 6957" name="adj"/>
            </a:avLst>
          </a:prstGeom>
          <a:solidFill>
            <a:srgbClr val="00A49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4"/>
          <p:cNvSpPr/>
          <p:nvPr/>
        </p:nvSpPr>
        <p:spPr>
          <a:xfrm>
            <a:off x="1188720" y="1865376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produit conforme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4"/>
          <p:cNvSpPr/>
          <p:nvPr/>
        </p:nvSpPr>
        <p:spPr>
          <a:xfrm>
            <a:off x="1463040" y="2212848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6FA"/>
                </a:solidFill>
                <a:latin typeface="Calibri"/>
                <a:ea typeface="Calibri"/>
                <a:cs typeface="Calibri"/>
                <a:sym typeface="Calibri"/>
              </a:rPr>
              <a:t>Risque nul ou négligeable (zéro déforestation + légalité).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4"/>
          <p:cNvSpPr/>
          <p:nvPr/>
        </p:nvSpPr>
        <p:spPr>
          <a:xfrm>
            <a:off x="2103120" y="2971800"/>
            <a:ext cx="4937760" cy="1051560"/>
          </a:xfrm>
          <a:prstGeom prst="roundRect">
            <a:avLst>
              <a:gd fmla="val 6957" name="adj"/>
            </a:avLst>
          </a:prstGeom>
          <a:solidFill>
            <a:srgbClr val="0092D2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4"/>
          <p:cNvSpPr/>
          <p:nvPr/>
        </p:nvSpPr>
        <p:spPr>
          <a:xfrm>
            <a:off x="2103120" y="309981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système documenté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4"/>
          <p:cNvSpPr/>
          <p:nvPr/>
        </p:nvSpPr>
        <p:spPr>
          <a:xfrm>
            <a:off x="2377440" y="3447288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6FA"/>
                </a:solidFill>
                <a:latin typeface="Calibri"/>
                <a:ea typeface="Calibri"/>
                <a:cs typeface="Calibri"/>
                <a:sym typeface="Calibri"/>
              </a:rPr>
              <a:t>Preuves géolocalisées, DDR enregistrée dans TRACES-NT.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4"/>
          <p:cNvSpPr/>
          <p:nvPr/>
        </p:nvSpPr>
        <p:spPr>
          <a:xfrm>
            <a:off x="3017520" y="4206240"/>
            <a:ext cx="3108960" cy="1051560"/>
          </a:xfrm>
          <a:prstGeom prst="roundRect">
            <a:avLst>
              <a:gd fmla="val 6957" name="adj"/>
            </a:avLst>
          </a:prstGeom>
          <a:solidFill>
            <a:srgbClr val="004079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4"/>
          <p:cNvSpPr/>
          <p:nvPr/>
        </p:nvSpPr>
        <p:spPr>
          <a:xfrm>
            <a:off x="3017520" y="4334256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déclaration parfaite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4"/>
          <p:cNvSpPr/>
          <p:nvPr/>
        </p:nvSpPr>
        <p:spPr>
          <a:xfrm>
            <a:off x="3291840" y="468172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6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6FA"/>
                </a:solidFill>
                <a:latin typeface="Calibri"/>
                <a:ea typeface="Calibri"/>
                <a:cs typeface="Calibri"/>
                <a:sym typeface="Calibri"/>
              </a:rPr>
              <a:t>Liaison sans faille entre le n° de DDR et la déclaration douanière (codes C716 / C717).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4"/>
          <p:cNvSpPr/>
          <p:nvPr/>
        </p:nvSpPr>
        <p:spPr>
          <a:xfrm>
            <a:off x="457200" y="5623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Chaque niveau s'appuie sur le précédent — la base, c'est la donnée amont.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079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35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5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5"/>
          <p:cNvSpPr/>
          <p:nvPr/>
        </p:nvSpPr>
        <p:spPr>
          <a:xfrm>
            <a:off x="6035040" y="-1371600"/>
            <a:ext cx="4572000" cy="4572000"/>
          </a:xfrm>
          <a:prstGeom prst="ellipse">
            <a:avLst/>
          </a:prstGeom>
          <a:solidFill>
            <a:srgbClr val="0030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5"/>
          <p:cNvSpPr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Merci — place à vos questions.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5"/>
          <p:cNvSpPr/>
          <p:nvPr/>
        </p:nvSpPr>
        <p:spPr>
          <a:xfrm>
            <a:off x="548640" y="1600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Vos 3 actions immédiates : auditer vos nomenclatures · créer votre compte EU Login · sécuriser vos géolocalisations.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5"/>
          <p:cNvSpPr/>
          <p:nvPr/>
        </p:nvSpPr>
        <p:spPr>
          <a:xfrm>
            <a:off x="548640" y="2331720"/>
            <a:ext cx="3931920" cy="2331720"/>
          </a:xfrm>
          <a:prstGeom prst="roundRect">
            <a:avLst>
              <a:gd fmla="val 3137" name="adj"/>
            </a:avLst>
          </a:prstGeom>
          <a:solidFill>
            <a:srgbClr val="063A68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35"/>
          <p:cNvSpPr/>
          <p:nvPr/>
        </p:nvSpPr>
        <p:spPr>
          <a:xfrm>
            <a:off x="777240" y="24688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 interlocuteurs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5"/>
          <p:cNvSpPr/>
          <p:nvPr/>
        </p:nvSpPr>
        <p:spPr>
          <a:xfrm>
            <a:off x="868680" y="2880360"/>
            <a:ext cx="33832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Fond : Ministères Transition écologique &amp; Agriculture (MASA)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CFE0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Formalités : Pôle d'action économique (PAE) des douanes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CFE0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TRACES-NT · FAQ de la Commission (DG ENV)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CFE0E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deforestationimportee.ecologie.gouv.fr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5"/>
          <p:cNvSpPr/>
          <p:nvPr/>
        </p:nvSpPr>
        <p:spPr>
          <a:xfrm>
            <a:off x="4663440" y="2331720"/>
            <a:ext cx="3931920" cy="2331720"/>
          </a:xfrm>
          <a:prstGeom prst="roundRect">
            <a:avLst>
              <a:gd fmla="val 3137" name="adj"/>
            </a:avLst>
          </a:prstGeom>
          <a:solidFill>
            <a:srgbClr val="063A68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35"/>
          <p:cNvSpPr/>
          <p:nvPr/>
        </p:nvSpPr>
        <p:spPr>
          <a:xfrm>
            <a:off x="4892040" y="24688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 intervenantes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5"/>
          <p:cNvSpPr/>
          <p:nvPr/>
        </p:nvSpPr>
        <p:spPr>
          <a:xfrm>
            <a:off x="4892040" y="2880360"/>
            <a:ext cx="356616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Céline Fontana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CF² Douane — Conseil &amp; Formation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06 86 93 95 72 · celine.fontana@gmail.com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Houda Zebar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Co-animatrice du webinaire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5"/>
          <p:cNvSpPr/>
          <p:nvPr/>
        </p:nvSpPr>
        <p:spPr>
          <a:xfrm>
            <a:off x="548640" y="4983480"/>
            <a:ext cx="2651760" cy="73152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5"/>
          <p:cNvSpPr/>
          <p:nvPr/>
        </p:nvSpPr>
        <p:spPr>
          <a:xfrm>
            <a:off x="731520" y="519379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5"/>
          <p:cNvSpPr/>
          <p:nvPr/>
        </p:nvSpPr>
        <p:spPr>
          <a:xfrm>
            <a:off x="731520" y="54498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FB6CC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5"/>
          <p:cNvSpPr/>
          <p:nvPr/>
        </p:nvSpPr>
        <p:spPr>
          <a:xfrm>
            <a:off x="4297680" y="498348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6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6CC"/>
                </a:solidFill>
                <a:latin typeface="Calibri"/>
                <a:ea typeface="Calibri"/>
                <a:cs typeface="Calibri"/>
                <a:sym typeface="Calibri"/>
              </a:rPr>
              <a:t>Webinaire RDUE / EUDR — CCI Lyon Métropole &amp; CF² Douane · 24 sept.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79" name="Google Shape;379;p15"/>
          <p:cNvSpPr/>
          <p:nvPr/>
        </p:nvSpPr>
        <p:spPr>
          <a:xfrm>
            <a:off x="457200" y="6510528"/>
            <a:ext cx="5852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RDUE / EUDR  ·  Webinaire CCI Lyon Métropole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7955280" y="651052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33 / 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7223760" y="2926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F337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F337F"/>
                </a:solidFill>
                <a:latin typeface="Calibri"/>
                <a:ea typeface="Calibri"/>
                <a:cs typeface="Calibri"/>
                <a:sym typeface="Calibri"/>
              </a:rPr>
              <a:t>CCI</a:t>
            </a:r>
            <a:r>
              <a:rPr b="1" i="0" lang="en-US" sz="11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 LYON MÉTROPOLE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7223760" y="45720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Saint-Étienne Roanne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079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4079"/>
                </a:solidFill>
                <a:latin typeface="Calibri"/>
                <a:ea typeface="Calibri"/>
                <a:cs typeface="Calibri"/>
                <a:sym typeface="Calibri"/>
              </a:rPr>
              <a:t>Vérifions ensemble : 3 questions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457200" y="98755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Sondage dans le chat, puis correction.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457200" y="1600200"/>
            <a:ext cx="8229600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685800" y="1920240"/>
            <a:ext cx="640080" cy="640080"/>
          </a:xfrm>
          <a:prstGeom prst="ellipse">
            <a:avLst/>
          </a:prstGeom>
          <a:solidFill>
            <a:srgbClr val="004079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ownload.png" id="387" name="Google Shape;38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419" y="20738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5"/>
          <p:cNvSpPr/>
          <p:nvPr/>
        </p:nvSpPr>
        <p:spPr>
          <a:xfrm>
            <a:off x="658368" y="253288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1554480" y="178308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Un produit de l'annexe I fabriqué le 12 mars 2023 : quel code portez-vous en douane 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6858000" y="1984248"/>
            <a:ext cx="1691640" cy="512064"/>
          </a:xfrm>
          <a:prstGeom prst="roundRect">
            <a:avLst>
              <a:gd fmla="val 14286" name="adj"/>
            </a:avLst>
          </a:prstGeom>
          <a:solidFill>
            <a:srgbClr val="0040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6858000" y="1984248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Y132 — fabriqué avant le 29/06/2023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457200" y="3017520"/>
            <a:ext cx="8229600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685800" y="3337560"/>
            <a:ext cx="640080" cy="640080"/>
          </a:xfrm>
          <a:prstGeom prst="ellipse">
            <a:avLst/>
          </a:prstGeom>
          <a:solidFill>
            <a:srgbClr val="0092D2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ndustry.png" id="394" name="Google Shape;3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19" y="349117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5"/>
          <p:cNvSpPr/>
          <p:nvPr/>
        </p:nvSpPr>
        <p:spPr>
          <a:xfrm>
            <a:off x="658368" y="395020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1554480" y="320040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Le RDUE s'applique-t-il aux exportations depuis l'Union européenne 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6858000" y="3401568"/>
            <a:ext cx="1691640" cy="512064"/>
          </a:xfrm>
          <a:prstGeom prst="roundRect">
            <a:avLst>
              <a:gd fmla="val 14286" name="adj"/>
            </a:avLst>
          </a:prstGeom>
          <a:solidFill>
            <a:srgbClr val="0092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6858000" y="3401568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Oui — mise sur le marché ET exportation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457200" y="4434840"/>
            <a:ext cx="8229600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1E9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685800" y="4754880"/>
            <a:ext cx="640080" cy="640080"/>
          </a:xfrm>
          <a:prstGeom prst="ellipse">
            <a:avLst/>
          </a:prstGeom>
          <a:solidFill>
            <a:srgbClr val="00A49F"/>
          </a:solidFill>
          <a:ln>
            <a:noFill/>
          </a:ln>
          <a:effectLst>
            <a:outerShdw blurRad="76200" rotWithShape="0" algn="bl" dir="5400000" dist="25400">
              <a:srgbClr val="8AA0B4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ore.png" id="401" name="Google Shape;4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9419" y="490849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5"/>
          <p:cNvSpPr/>
          <p:nvPr/>
        </p:nvSpPr>
        <p:spPr>
          <a:xfrm>
            <a:off x="658368" y="536752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1554480" y="461772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« Zéro déforestation » : aucune déforestation de la parcelle après quelle date 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6858000" y="4818888"/>
            <a:ext cx="1691640" cy="512064"/>
          </a:xfrm>
          <a:prstGeom prst="roundRect">
            <a:avLst>
              <a:gd fmla="val 14286" name="adj"/>
            </a:avLst>
          </a:prstGeom>
          <a:solidFill>
            <a:srgbClr val="00A4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6858000" y="4818888"/>
            <a:ext cx="16916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31 décembre 2020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