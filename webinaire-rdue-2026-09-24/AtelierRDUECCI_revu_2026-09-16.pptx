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commentAuthors.xml" ContentType="application/vnd.openxmlformats-officedocument.presentationml.commentAuthors+xml"/>
  <Override PartName="/ppt/comments/comment1.xml" ContentType="application/vnd.openxmlformats-officedocument.presentationml.comments+xml"/>
  <Override PartName="/ppt/comments/comment2.xml" ContentType="application/vnd.openxmlformats-officedocument.presentationml.comments+xml"/>
  <Override PartName="/ppt/comments/comment3.xml" ContentType="application/vnd.openxmlformats-officedocument.presentationml.comments+xml"/>
  <Override PartName="/ppt/comments/comment4.xml" ContentType="application/vnd.openxmlformats-officedocument.presentationml.comment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9" r:id="rId19"/>
    <p:sldId id="265" r:id="rId15"/>
    <p:sldId id="266" r:id="rId16"/>
    <p:sldId id="267" r:id="rId17"/>
    <p:sldId id="268" r:id="rId18"/>
    <p:sldId id="280" r:id="rId30"/>
    <p:sldId id="270" r:id="rId20"/>
    <p:sldId id="271" r:id="rId21"/>
    <p:sldId id="272" r:id="rId22"/>
    <p:sldId id="273" r:id="rId23"/>
    <p:sldId id="274" r:id="rId24"/>
    <p:sldId id="277" r:id="rId27"/>
    <p:sldId id="278" r:id="rId28"/>
    <p:sldId id="279" r:id="rId29"/>
    <p:sldId id="276" r:id="rId26"/>
    <p:sldId id="282" r:id="rId32"/>
    <p:sldId id="283" r:id="rId33"/>
    <p:sldId id="284" r:id="rId34"/>
    <p:sldId id="285" r:id="rId35"/>
    <p:sldId id="281" r:id="rId31"/>
    <p:sldId id="275" r:id="rId25"/>
    <p:sldId id="286" r:id="rId36"/>
    <p:sldId id="287" r:id="rId37"/>
    <p:sldId id="289" r:id="rId39"/>
    <p:sldId id="288" r:id="rId38"/>
  </p:sldIdLst>
  <p:sldSz cy="68580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Author clrIdx="0" id="0" initials="" lastIdx="5" name="houda z"/>
</p:cmAuthorLst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commentAuthors" Target="commentAuthor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0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30.xml"/><Relationship Id="rId26" Type="http://schemas.openxmlformats.org/officeDocument/2006/relationships/slide" Target="slides/slide24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15.xml"/><Relationship Id="rId31" Type="http://schemas.openxmlformats.org/officeDocument/2006/relationships/slide" Target="slides/slide29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4.xml"/><Relationship Id="rId39" Type="http://schemas.openxmlformats.org/officeDocument/2006/relationships/slide" Target="slides/slide33.xml"/></Relationships>
</file>

<file path=ppt/comments/comment1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1" dt="2026-08-31T08:29:34.885">
    <p:pos x="6000" y="0"/>
    <p:text>ajouter un point sur les modifications de l'annexe I</p:text>
  </p:cm>
  <p:cm authorId="0" idx="2" dt="2026-08-31T08:30:43.564">
    <p:pos x="6000" y="100"/>
    <p:text>Ajouter un focus sur le bois et l'huile de palme sur les mises à jour</p:text>
  </p:cm>
</p:cmLst>
</file>

<file path=ppt/comments/comment2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3" dt="2026-08-31T08:33:51.966">
    <p:pos x="6000" y="0"/>
    <p:text>verifier si scierie fourniture en FRANCE concerné ou pas?</p:text>
  </p:cm>
</p:cmLst>
</file>

<file path=ppt/comments/comment3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4" dt="2026-08-31T08:42:56.700">
    <p:pos x="6000" y="0"/>
    <p:text>voir article 3 quelles sont les risques? quand on dit STOP</p:text>
  </p:cm>
</p:cmLst>
</file>

<file path=ppt/comments/comment4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5" dt="2026-08-31T08:52:21.437">
    <p:pos x="6000" y="0"/>
    <p:text>AJOUTER LES SOURCES</p:text>
  </p:cm>
</p:cmLst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Accroche : au 30/12/2026, importer 7 matières premières en Europe change. Ce que ça change pour vous.</a:t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" name="Google Shape;33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Sommaire : présenter le plan complet. On y revient à chaque intercalaire.</a:t>
            </a:r>
            <a:endParaRPr/>
          </a:p>
        </p:txBody>
      </p:sp>
      <p:sp>
        <p:nvSpPr>
          <p:cNvPr id="34" name="Google Shape;34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9" name="Google Shape;79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Poser le cap + montrer le plan en 4 parties. Prévoir quizz.</a:t>
            </a:r>
            <a:endParaRPr/>
          </a:p>
        </p:txBody>
      </p:sp>
      <p:sp>
        <p:nvSpPr>
          <p:cNvPr id="80" name="Google Shape;80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Intercalaire Introduction.</a:t>
            </a:r>
            <a:endParaRPr/>
          </a:p>
        </p:txBody>
      </p:sp>
      <p:sp>
        <p:nvSpPr>
          <p:cNvPr id="112" name="Google Shape;112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7" name="Google Shape;137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Chiffre-choc. 420 M ha. Enchaîner sur l'objectif du texte.</a:t>
            </a:r>
            <a:endParaRPr/>
          </a:p>
        </p:txBody>
      </p:sp>
      <p:sp>
        <p:nvSpPr>
          <p:cNvPr id="138" name="Google Shape;138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7" name="Google Shape;157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Actualité : report d'un an (2025/2650).</a:t>
            </a:r>
            <a:endParaRPr/>
          </a:p>
        </p:txBody>
      </p:sp>
      <p:sp>
        <p:nvSpPr>
          <p:cNvPr id="158" name="Google Shape;158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7" name="Google Shape;17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Le report vient du règlement 2025/2650. Acte délégué annexe I : fin de la période d'examen le 13/09/2026, publication au JOUE attendue mi-septembre — vérifier la veille du webinaire.</a:t>
            </a:r>
          </a:p>
        </p:txBody>
      </p:sp>
      <p:sp>
        <p:nvSpPr>
          <p:cNvPr id="178" name="Google Shape;178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4" name="Google Shape;22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Intercalaire Partie I.</a:t>
            </a:r>
            <a:endParaRPr/>
          </a:p>
        </p:txBody>
      </p:sp>
      <p:sp>
        <p:nvSpPr>
          <p:cNvPr id="225" name="Google Shape;225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0" name="Google Shape;2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Chat : qui achète/vend un de ces produits ou un dérivé ?</a:t>
            </a:r>
            <a:endParaRPr/>
          </a:p>
        </p:txBody>
      </p:sp>
      <p:sp>
        <p:nvSpPr>
          <p:cNvPr id="251" name="Google Shape;251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4" name="Google Shape;29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Zéro déforestation = production après 31/12/2020. Légalité = pays d'origine.</a:t>
            </a:r>
            <a:endParaRPr/>
          </a:p>
        </p:txBody>
      </p:sp>
      <p:sp>
        <p:nvSpPr>
          <p:cNvPr id="295" name="Google Shape;295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7" name="Google Shape;32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Produit entrant → produit sortant. Faire répondre la salle. Depuis 2025/2650, l'aval ne dépose pas de DDR : il conserve le n° de son fournisseur.</a:t>
            </a:r>
          </a:p>
        </p:txBody>
      </p:sp>
      <p:sp>
        <p:nvSpPr>
          <p:cNvPr id="328" name="Google Shape;328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7" name="Google Shape;337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La qualification se joue flux par flux. Depuis 2025/2650 : seul le 1er opérateur/commerçant aval collecte le n° de DDR ; pas de retransmission plus loin.</a:t>
            </a:r>
          </a:p>
        </p:txBody>
      </p:sp>
      <p:sp>
        <p:nvSpPr>
          <p:cNvPr id="338" name="Google Shape;338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4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6" name="Google Shape;3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Quizz : sondage / chat, puis correction.</a:t>
            </a:r>
            <a:endParaRPr/>
          </a:p>
        </p:txBody>
      </p:sp>
      <p:sp>
        <p:nvSpPr>
          <p:cNvPr id="377" name="Google Shape;377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08" name="Google Shape;408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Acte délégué du 13/07/2026 — détail à confirmer sur la version publiée. Vérifier la version publiée au JOUE ; liste indicative issue de l'acte adopté le 13/07/2026.</a:t>
            </a:r>
          </a:p>
        </p:txBody>
      </p:sp>
      <p:sp>
        <p:nvSpPr>
          <p:cNvPr id="409" name="Google Shape;409;p1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9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31" name="Google Shape;431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Intercalaire Partie II — le cœur (30 min).</a:t>
            </a:r>
            <a:endParaRPr/>
          </a:p>
        </p:txBody>
      </p:sp>
      <p:sp>
        <p:nvSpPr>
          <p:cNvPr id="432" name="Google Shape;432;p1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57" name="Google Shape;457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Le SDR est vivant, à réviser chaque année.</a:t>
            </a:r>
            <a:endParaRPr/>
          </a:p>
        </p:txBody>
      </p:sp>
      <p:sp>
        <p:nvSpPr>
          <p:cNvPr id="458" name="Google Shape;458;p1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5" name="Shape 4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Google Shape;47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77" name="Google Shape;477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Géoloc = chemin critique.</a:t>
            </a:r>
            <a:endParaRPr/>
          </a:p>
        </p:txBody>
      </p:sp>
      <p:sp>
        <p:nvSpPr>
          <p:cNvPr id="478" name="Google Shape;478;p1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7" name="Shape 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Google Shape;518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19" name="Google Shape;519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Risque faible = diligence simplifiée (art. 13).</a:t>
            </a:r>
            <a:endParaRPr/>
          </a:p>
        </p:txBody>
      </p:sp>
      <p:sp>
        <p:nvSpPr>
          <p:cNvPr id="520" name="Google Shape;520;p1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9" name="Shape 5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Google Shape;550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51" name="Google Shape;55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Logigramme diligence (art. 8-13). Cœur de la conformité. Pays à risque faible = étape 1 seulement.</a:t>
            </a:r>
          </a:p>
        </p:txBody>
      </p:sp>
      <p:sp>
        <p:nvSpPr>
          <p:cNvPr id="552" name="Google Shape;552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61" name="Google Shape;561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Escalier : de l'audit des flux aux accès numériques.</a:t>
            </a:r>
            <a:endParaRPr/>
          </a:p>
        </p:txBody>
      </p:sp>
      <p:sp>
        <p:nvSpPr>
          <p:cNvPr id="562" name="Google Shape;562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7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9" name="Google Shape;61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L'usage réel et le code déterminent le champ.</a:t>
            </a:r>
            <a:endParaRPr/>
          </a:p>
        </p:txBody>
      </p:sp>
      <p:sp>
        <p:nvSpPr>
          <p:cNvPr id="620" name="Google Shape;620;p2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6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Google Shape;637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38" name="Google Shape;638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Intercalaire Partie III.</a:t>
            </a:r>
            <a:endParaRPr/>
          </a:p>
        </p:txBody>
      </p:sp>
      <p:sp>
        <p:nvSpPr>
          <p:cNvPr id="639" name="Google Shape;639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2" name="Shape 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Google Shape;663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64" name="Google Shape;66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EU Login d'abord. Le n° de référence = sésame douanier. Règl. d'exécution (UE) 2026/1565 en vigueur le 17/07/2026 : déclaration simplifiée micro/petits producteurs, API, groupage. Formations Commission en septembre 2026.</a:t>
            </a:r>
          </a:p>
        </p:txBody>
      </p:sp>
      <p:sp>
        <p:nvSpPr>
          <p:cNvPr id="665" name="Google Shape;665;p2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7" name="Google Shape;687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C716 opérateur / C717 aval-PME. Transmettre n° DDR + code de vérification. Une DDR citée en douane ne peut plus être modifiée ni retirée : vérifier quantité, SH et géolocalisation avant.</a:t>
            </a:r>
          </a:p>
        </p:txBody>
      </p:sp>
      <p:sp>
        <p:nvSpPr>
          <p:cNvPr id="688" name="Google Shape;688;p2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4" name="Shape 7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5" name="Google Shape;725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6" name="Google Shape;726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Points qui surprennent : e-commerce, pas de dilution, produits composés, compte multi-rôles.</a:t>
            </a:r>
            <a:endParaRPr/>
          </a:p>
        </p:txBody>
      </p:sp>
      <p:sp>
        <p:nvSpPr>
          <p:cNvPr id="727" name="Google Shape;727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3" name="Shape 7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4" name="Google Shape;764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5" name="Google Shape;765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Profils génériques (inspirés de cas réels type Noz / Michelin).</a:t>
            </a:r>
            <a:endParaRPr/>
          </a:p>
        </p:txBody>
      </p:sp>
      <p:sp>
        <p:nvSpPr>
          <p:cNvPr id="766" name="Google Shape;766;p3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6" name="Shape 7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7" name="Google Shape;78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8" name="Google Shape;78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Intercalaire Partie IV.</a:t>
            </a:r>
            <a:endParaRPr/>
          </a:p>
        </p:txBody>
      </p:sp>
      <p:sp>
        <p:nvSpPr>
          <p:cNvPr id="789" name="Google Shape;78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4" name="Google Shape;814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D'abord un risque douanier et financier concret.</a:t>
            </a:r>
            <a:endParaRPr/>
          </a:p>
        </p:txBody>
      </p:sp>
      <p:sp>
        <p:nvSpPr>
          <p:cNvPr id="815" name="Google Shape;815;p2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8" name="Shape 8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" name="Google Shape;849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50" name="Google Shape;850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4 sanctions + taux de contrôle.</a:t>
            </a:r>
            <a:endParaRPr/>
          </a:p>
        </p:txBody>
      </p:sp>
      <p:sp>
        <p:nvSpPr>
          <p:cNvPr id="851" name="Google Shape;851;p2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1" name="Shape 8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2" name="Google Shape;882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3" name="Google Shape;883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De la contrainte à la stratégie.</a:t>
            </a:r>
            <a:endParaRPr/>
          </a:p>
        </p:txBody>
      </p:sp>
      <p:sp>
        <p:nvSpPr>
          <p:cNvPr id="884" name="Google Shape;884;p2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2" name="Shape 9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3" name="Google Shape;923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24" name="Google Shape;92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Anticipation + archivage 5 ans + audit + EU Login + géoloc + accompagnement.</a:t>
            </a:r>
            <a:endParaRPr/>
          </a:p>
        </p:txBody>
      </p:sp>
      <p:sp>
        <p:nvSpPr>
          <p:cNvPr id="925" name="Google Shape;925;p3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3" name="Shape 9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4" name="Google Shape;964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65" name="Google Shape;965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Synthèse pyramidale (reprise de Céline) : produit conforme → système documenté → déclaration parfaite.</a:t>
            </a:r>
            <a:endParaRPr/>
          </a:p>
        </p:txBody>
      </p:sp>
      <p:sp>
        <p:nvSpPr>
          <p:cNvPr id="966" name="Google Shape;966;p3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4" name="Shape 9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5" name="Google Shape;985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86" name="Google Shape;986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7" name="Google Shape;987;p3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Quiz final : masquer les réponses (animation) ou les révéler après le sondage.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9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6.png"/><Relationship Id="rId4" Type="http://schemas.openxmlformats.org/officeDocument/2006/relationships/image" Target="../media/image31.png"/><Relationship Id="rId5" Type="http://schemas.openxmlformats.org/officeDocument/2006/relationships/image" Target="../media/image1.png"/><Relationship Id="rId6" Type="http://schemas.openxmlformats.org/officeDocument/2006/relationships/image" Target="../media/image1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comments" Target="../comments/comment1.xml"/><Relationship Id="rId4" Type="http://schemas.openxmlformats.org/officeDocument/2006/relationships/image" Target="../media/image54.png"/><Relationship Id="rId5" Type="http://schemas.openxmlformats.org/officeDocument/2006/relationships/image" Target="../media/image4.png"/><Relationship Id="rId6" Type="http://schemas.openxmlformats.org/officeDocument/2006/relationships/image" Target="../media/image8.png"/><Relationship Id="rId7" Type="http://schemas.openxmlformats.org/officeDocument/2006/relationships/image" Target="../media/image35.png"/><Relationship Id="rId8" Type="http://schemas.openxmlformats.org/officeDocument/2006/relationships/image" Target="../media/image33.png"/><Relationship Id="rId9" Type="http://schemas.openxmlformats.org/officeDocument/2006/relationships/image" Target="../media/image5.png"/><Relationship Id="rId10" Type="http://schemas.openxmlformats.org/officeDocument/2006/relationships/image" Target="../media/image3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png"/><Relationship Id="rId4" Type="http://schemas.openxmlformats.org/officeDocument/2006/relationships/image" Target="../media/image6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0.png"/><Relationship Id="rId4" Type="http://schemas.openxmlformats.org/officeDocument/2006/relationships/image" Target="../media/image53.png"/><Relationship Id="rId5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comments" Target="../comments/comment2.xml"/><Relationship Id="rId4" Type="http://schemas.openxmlformats.org/officeDocument/2006/relationships/image" Target="../media/image5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4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1.png"/><Relationship Id="rId4" Type="http://schemas.openxmlformats.org/officeDocument/2006/relationships/image" Target="../media/image63.png"/><Relationship Id="rId5" Type="http://schemas.openxmlformats.org/officeDocument/2006/relationships/image" Target="../media/image55.png"/><Relationship Id="rId6" Type="http://schemas.openxmlformats.org/officeDocument/2006/relationships/image" Target="../media/image2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Relationship Id="rId4" Type="http://schemas.openxmlformats.org/officeDocument/2006/relationships/image" Target="../media/image34.png"/><Relationship Id="rId5" Type="http://schemas.openxmlformats.org/officeDocument/2006/relationships/image" Target="../media/image19.png"/><Relationship Id="rId6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comments" Target="../comments/comment3.xml"/><Relationship Id="rId4" Type="http://schemas.openxmlformats.org/officeDocument/2006/relationships/image" Target="../media/image3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7.png"/><Relationship Id="rId4" Type="http://schemas.openxmlformats.org/officeDocument/2006/relationships/image" Target="../media/image64.png"/><Relationship Id="rId5" Type="http://schemas.openxmlformats.org/officeDocument/2006/relationships/image" Target="../media/image41.png"/><Relationship Id="rId6" Type="http://schemas.openxmlformats.org/officeDocument/2006/relationships/image" Target="../media/image60.png"/><Relationship Id="rId7" Type="http://schemas.openxmlformats.org/officeDocument/2006/relationships/image" Target="../media/image4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41.png"/><Relationship Id="rId4" Type="http://schemas.openxmlformats.org/officeDocument/2006/relationships/image" Target="../media/image64.png"/><Relationship Id="rId5" Type="http://schemas.openxmlformats.org/officeDocument/2006/relationships/image" Target="../media/image63.png"/><Relationship Id="rId6" Type="http://schemas.openxmlformats.org/officeDocument/2006/relationships/image" Target="../media/image3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22.png"/><Relationship Id="rId4" Type="http://schemas.openxmlformats.org/officeDocument/2006/relationships/image" Target="../media/image9.png"/><Relationship Id="rId5" Type="http://schemas.openxmlformats.org/officeDocument/2006/relationships/image" Target="../media/image24.png"/><Relationship Id="rId6" Type="http://schemas.openxmlformats.org/officeDocument/2006/relationships/image" Target="../media/image3.png"/><Relationship Id="rId7" Type="http://schemas.openxmlformats.org/officeDocument/2006/relationships/image" Target="../media/image2.png"/><Relationship Id="rId8" Type="http://schemas.openxmlformats.org/officeDocument/2006/relationships/image" Target="../media/image5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6.png"/><Relationship Id="rId4" Type="http://schemas.openxmlformats.org/officeDocument/2006/relationships/image" Target="../media/image1.png"/><Relationship Id="rId5" Type="http://schemas.openxmlformats.org/officeDocument/2006/relationships/image" Target="../media/image25.png"/><Relationship Id="rId6" Type="http://schemas.openxmlformats.org/officeDocument/2006/relationships/image" Target="../media/image2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12.png"/><Relationship Id="rId4" Type="http://schemas.openxmlformats.org/officeDocument/2006/relationships/image" Target="../media/image51.png"/><Relationship Id="rId5" Type="http://schemas.openxmlformats.org/officeDocument/2006/relationships/image" Target="../media/image46.png"/><Relationship Id="rId6" Type="http://schemas.openxmlformats.org/officeDocument/2006/relationships/image" Target="../media/image21.png"/><Relationship Id="rId7" Type="http://schemas.openxmlformats.org/officeDocument/2006/relationships/image" Target="../media/image9.png"/><Relationship Id="rId8" Type="http://schemas.openxmlformats.org/officeDocument/2006/relationships/image" Target="../media/image5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3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comments" Target="../comments/comment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4079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>
            <a:off x="5852160" y="-1463040"/>
            <a:ext cx="4754880" cy="4754880"/>
          </a:xfrm>
          <a:prstGeom prst="ellipse">
            <a:avLst/>
          </a:prstGeom>
          <a:solidFill>
            <a:srgbClr val="00305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17" name="Google Shape;17;p3"/>
          <p:cNvSpPr/>
          <p:nvPr/>
        </p:nvSpPr>
        <p:spPr>
          <a:xfrm>
            <a:off x="7315200" y="4206240"/>
            <a:ext cx="4114800" cy="4114800"/>
          </a:xfrm>
          <a:prstGeom prst="ellipse">
            <a:avLst/>
          </a:prstGeom>
          <a:solidFill>
            <a:srgbClr val="063A6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18" name="Google Shape;18;p3"/>
          <p:cNvSpPr/>
          <p:nvPr/>
        </p:nvSpPr>
        <p:spPr>
          <a:xfrm>
            <a:off x="548640" y="1005840"/>
            <a:ext cx="822960" cy="822960"/>
          </a:xfrm>
          <a:prstGeom prst="ellipse">
            <a:avLst/>
          </a:prstGeom>
          <a:solidFill>
            <a:srgbClr val="DF337F"/>
          </a:solidFill>
          <a:ln>
            <a:noFill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icons/seedling.png" id="19" name="Google Shape;19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150" y="1203350"/>
            <a:ext cx="427939" cy="427939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Google Shape;20;p3"/>
          <p:cNvSpPr/>
          <p:nvPr/>
        </p:nvSpPr>
        <p:spPr>
          <a:xfrm>
            <a:off x="1508760" y="1051560"/>
            <a:ext cx="6858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FB4DB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7FB4DB"/>
                </a:solidFill>
                <a:latin typeface="Calibri"/>
                <a:ea typeface="Calibri"/>
                <a:cs typeface="Calibri"/>
                <a:sym typeface="Calibri"/>
              </a:rPr>
              <a:t>WEBINAIRE — DOUANE &amp; RSE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3"/>
          <p:cNvSpPr/>
          <p:nvPr/>
        </p:nvSpPr>
        <p:spPr>
          <a:xfrm>
            <a:off x="548640" y="1783080"/>
            <a:ext cx="804672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800"/>
              <a:buFont typeface="Calibri"/>
              <a:buNone/>
            </a:pPr>
            <a:r>
              <a:rPr b="1" i="0" lang="en-US" sz="3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Maîtriser le RDUE et sécuriser</a:t>
            </a:r>
            <a:endParaRPr b="0" i="0" sz="3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800"/>
              <a:buFont typeface="Calibri"/>
              <a:buNone/>
            </a:pPr>
            <a:r>
              <a:rPr b="1" i="0" lang="en-US" sz="3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vos opérations douanières</a:t>
            </a:r>
            <a:endParaRPr b="0" i="0" sz="3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3"/>
          <p:cNvSpPr/>
          <p:nvPr/>
        </p:nvSpPr>
        <p:spPr>
          <a:xfrm>
            <a:off x="548640" y="3291840"/>
            <a:ext cx="80467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FE0EE"/>
              </a:buClr>
              <a:buSzPts val="1400"/>
              <a:buFont typeface="Calibri"/>
              <a:buNone/>
            </a:pPr>
            <a:r>
              <a:rPr b="0" i="1" lang="en-US" sz="1400" u="none" cap="none" strike="noStrike">
                <a:solidFill>
                  <a:srgbClr val="CFE0EE"/>
                </a:solidFill>
                <a:latin typeface="Calibri"/>
                <a:ea typeface="Calibri"/>
                <a:cs typeface="Calibri"/>
                <a:sym typeface="Calibri"/>
              </a:rPr>
              <a:t>Règlement européen contre la déforestation (UE 2023/1115) — De la parcelle au passage en douane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3"/>
          <p:cNvSpPr/>
          <p:nvPr/>
        </p:nvSpPr>
        <p:spPr>
          <a:xfrm>
            <a:off x="548640" y="4023360"/>
            <a:ext cx="3931920" cy="1051560"/>
          </a:xfrm>
          <a:prstGeom prst="roundRect">
            <a:avLst>
              <a:gd fmla="val 6957" name="adj"/>
            </a:avLst>
          </a:prstGeom>
          <a:solidFill>
            <a:srgbClr val="063A68"/>
          </a:solidFill>
          <a:ln cap="flat" cmpd="sng" w="12700">
            <a:solidFill>
              <a:srgbClr val="E1E9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24" name="Google Shape;24;p3"/>
          <p:cNvSpPr/>
          <p:nvPr/>
        </p:nvSpPr>
        <p:spPr>
          <a:xfrm>
            <a:off x="777240" y="4114800"/>
            <a:ext cx="352044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Céline Fontana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FE0EE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CFE0EE"/>
                </a:solidFill>
                <a:latin typeface="Calibri"/>
                <a:ea typeface="Calibri"/>
                <a:cs typeface="Calibri"/>
                <a:sym typeface="Calibri"/>
              </a:rPr>
              <a:t>CF² Douane — Consultante &amp; Formatrice en Douane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5;p3"/>
          <p:cNvSpPr/>
          <p:nvPr/>
        </p:nvSpPr>
        <p:spPr>
          <a:xfrm>
            <a:off x="4663440" y="4023360"/>
            <a:ext cx="3931920" cy="1051560"/>
          </a:xfrm>
          <a:prstGeom prst="roundRect">
            <a:avLst>
              <a:gd fmla="val 6957" name="adj"/>
            </a:avLst>
          </a:prstGeom>
          <a:solidFill>
            <a:srgbClr val="063A68"/>
          </a:solidFill>
          <a:ln cap="flat" cmpd="sng" w="12700">
            <a:solidFill>
              <a:srgbClr val="E1E9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26" name="Google Shape;26;p3"/>
          <p:cNvSpPr/>
          <p:nvPr/>
        </p:nvSpPr>
        <p:spPr>
          <a:xfrm>
            <a:off x="4892040" y="4114800"/>
            <a:ext cx="352044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Houda Zebar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FE0EE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CFE0EE"/>
                </a:solidFill>
                <a:latin typeface="Calibri"/>
                <a:ea typeface="Calibri"/>
                <a:cs typeface="Calibri"/>
                <a:sym typeface="Calibri"/>
              </a:rPr>
              <a:t>Co-animatrice du webinaire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Google Shape;27;p3"/>
          <p:cNvSpPr/>
          <p:nvPr/>
        </p:nvSpPr>
        <p:spPr>
          <a:xfrm>
            <a:off x="548640" y="5440680"/>
            <a:ext cx="2651760" cy="777240"/>
          </a:xfrm>
          <a:prstGeom prst="roundRect">
            <a:avLst>
              <a:gd fmla="val 7059" name="adj"/>
            </a:avLst>
          </a:prstGeom>
          <a:solidFill>
            <a:srgbClr val="FFFFFF"/>
          </a:solidFill>
          <a:ln>
            <a:noFill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28" name="Google Shape;28;p3"/>
          <p:cNvSpPr/>
          <p:nvPr/>
        </p:nvSpPr>
        <p:spPr>
          <a:xfrm>
            <a:off x="731520" y="5650992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F337F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DF337F"/>
                </a:solidFill>
                <a:latin typeface="Calibri"/>
                <a:ea typeface="Calibri"/>
                <a:cs typeface="Calibri"/>
                <a:sym typeface="Calibri"/>
              </a:rPr>
              <a:t>CCI</a:t>
            </a: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LYON MÉTROPOLE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3"/>
          <p:cNvSpPr/>
          <p:nvPr/>
        </p:nvSpPr>
        <p:spPr>
          <a:xfrm>
            <a:off x="731520" y="5907024"/>
            <a:ext cx="27432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6CC"/>
              </a:buClr>
              <a:buSzPts val="1000"/>
              <a:buFont typeface="Calibri"/>
              <a:buNone/>
            </a:pPr>
            <a:r>
              <a:rPr b="0" i="1" lang="en-US" sz="1000" u="none" cap="none" strike="noStrike">
                <a:solidFill>
                  <a:srgbClr val="9FB6CC"/>
                </a:solidFill>
                <a:latin typeface="Calibri"/>
                <a:ea typeface="Calibri"/>
                <a:cs typeface="Calibri"/>
                <a:sym typeface="Calibri"/>
              </a:rPr>
              <a:t>Saint-Étienne Roanne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3"/>
          <p:cNvSpPr/>
          <p:nvPr/>
        </p:nvSpPr>
        <p:spPr>
          <a:xfrm>
            <a:off x="4297680" y="5440680"/>
            <a:ext cx="429768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FB6CC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9FB6CC"/>
                </a:solidFill>
                <a:latin typeface="Calibri"/>
                <a:ea typeface="Calibri"/>
                <a:cs typeface="Calibri"/>
                <a:sym typeface="Calibri"/>
              </a:rPr>
              <a:t>En distanciel · 24 septembre 2026 · 1h30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4"/>
          <p:cNvSpPr/>
          <p:nvPr/>
        </p:nvSpPr>
        <p:spPr>
          <a:xfrm>
            <a:off x="457200" y="6510528"/>
            <a:ext cx="5852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RDUE / EUDR  ·  Webinaire CCI Lyon Métropole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4"/>
          <p:cNvSpPr/>
          <p:nvPr/>
        </p:nvSpPr>
        <p:spPr>
          <a:xfrm>
            <a:off x="7955280" y="651052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2 / 34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4"/>
          <p:cNvSpPr/>
          <p:nvPr/>
        </p:nvSpPr>
        <p:spPr>
          <a:xfrm>
            <a:off x="7223760" y="292608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F337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DF337F"/>
                </a:solidFill>
                <a:latin typeface="Calibri"/>
                <a:ea typeface="Calibri"/>
                <a:cs typeface="Calibri"/>
                <a:sym typeface="Calibri"/>
              </a:rPr>
              <a:t>CCI</a:t>
            </a:r>
            <a:r>
              <a:rPr b="1" i="0" lang="en-US" sz="110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 LYON MÉTROPOLE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4"/>
          <p:cNvSpPr/>
          <p:nvPr/>
        </p:nvSpPr>
        <p:spPr>
          <a:xfrm>
            <a:off x="7223760" y="457200"/>
            <a:ext cx="1828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700"/>
              <a:buFont typeface="Calibri"/>
              <a:buNone/>
            </a:pPr>
            <a:r>
              <a:rPr b="0" i="1" lang="en-US" sz="7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Saint-Étienne Roanne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4"/>
          <p:cNvSpPr/>
          <p:nvPr/>
        </p:nvSpPr>
        <p:spPr>
          <a:xfrm>
            <a:off x="457200" y="384048"/>
            <a:ext cx="65836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4079"/>
              </a:buClr>
              <a:buSzPts val="2700"/>
              <a:buFont typeface="Calibri"/>
              <a:buNone/>
            </a:pPr>
            <a:r>
              <a:rPr b="1" i="0" lang="en-US" sz="270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Sommaire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4"/>
          <p:cNvSpPr/>
          <p:nvPr/>
        </p:nvSpPr>
        <p:spPr>
          <a:xfrm>
            <a:off x="457200" y="987552"/>
            <a:ext cx="81381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Le déroulé du webinaire — 1h30, une introduction et 4 parties.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4"/>
          <p:cNvSpPr/>
          <p:nvPr/>
        </p:nvSpPr>
        <p:spPr>
          <a:xfrm>
            <a:off x="457200" y="1417320"/>
            <a:ext cx="8229600" cy="822960"/>
          </a:xfrm>
          <a:prstGeom prst="roundRect">
            <a:avLst>
              <a:gd fmla="val 8889" name="adj"/>
            </a:avLst>
          </a:prstGeom>
          <a:solidFill>
            <a:srgbClr val="FFFFFF"/>
          </a:solidFill>
          <a:ln cap="flat" cmpd="sng" w="12700">
            <a:solidFill>
              <a:srgbClr val="E1E9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3" name="Google Shape;43;p4"/>
          <p:cNvSpPr/>
          <p:nvPr/>
        </p:nvSpPr>
        <p:spPr>
          <a:xfrm>
            <a:off x="621792" y="1554480"/>
            <a:ext cx="777240" cy="548640"/>
          </a:xfrm>
          <a:prstGeom prst="roundRect">
            <a:avLst>
              <a:gd fmla="val 13333" name="adj"/>
            </a:avLst>
          </a:prstGeom>
          <a:solidFill>
            <a:srgbClr val="DF337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4" name="Google Shape;44;p4"/>
          <p:cNvSpPr/>
          <p:nvPr/>
        </p:nvSpPr>
        <p:spPr>
          <a:xfrm>
            <a:off x="621792" y="1554480"/>
            <a:ext cx="7772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Calibri"/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IN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4"/>
          <p:cNvSpPr/>
          <p:nvPr/>
        </p:nvSpPr>
        <p:spPr>
          <a:xfrm>
            <a:off x="1554480" y="1527048"/>
            <a:ext cx="53949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4079"/>
              </a:buClr>
              <a:buSzPts val="1450"/>
              <a:buFont typeface="Calibri"/>
              <a:buNone/>
            </a:pPr>
            <a:r>
              <a:rPr b="1" i="0" lang="en-US" sz="145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Introduction — Contexte &amp; enjeux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4"/>
          <p:cNvSpPr/>
          <p:nvPr/>
        </p:nvSpPr>
        <p:spPr>
          <a:xfrm>
            <a:off x="7086600" y="1563624"/>
            <a:ext cx="1417320" cy="329184"/>
          </a:xfrm>
          <a:prstGeom prst="roundRect">
            <a:avLst>
              <a:gd fmla="val 50000" name="adj"/>
            </a:avLst>
          </a:prstGeom>
          <a:solidFill>
            <a:srgbClr val="F4F7FA"/>
          </a:solidFill>
          <a:ln cap="flat" cmpd="sng" w="12700">
            <a:solidFill>
              <a:srgbClr val="DF337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7" name="Google Shape;47;p4"/>
          <p:cNvSpPr/>
          <p:nvPr/>
        </p:nvSpPr>
        <p:spPr>
          <a:xfrm>
            <a:off x="7086600" y="1563624"/>
            <a:ext cx="141732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F337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DF337F"/>
                </a:solidFill>
                <a:latin typeface="Calibri"/>
                <a:ea typeface="Calibri"/>
                <a:cs typeface="Calibri"/>
                <a:sym typeface="Calibri"/>
              </a:rPr>
              <a:t>10 min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4"/>
          <p:cNvSpPr/>
          <p:nvPr/>
        </p:nvSpPr>
        <p:spPr>
          <a:xfrm>
            <a:off x="1554480" y="1874520"/>
            <a:ext cx="69494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Urgence écologique · objectifs du RDUE · report d'un an · le texte 2023/1115 mod. 2025/2650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4"/>
          <p:cNvSpPr/>
          <p:nvPr/>
        </p:nvSpPr>
        <p:spPr>
          <a:xfrm>
            <a:off x="457200" y="2350008"/>
            <a:ext cx="8229600" cy="822960"/>
          </a:xfrm>
          <a:prstGeom prst="roundRect">
            <a:avLst>
              <a:gd fmla="val 8889" name="adj"/>
            </a:avLst>
          </a:prstGeom>
          <a:solidFill>
            <a:srgbClr val="FFFFFF"/>
          </a:solidFill>
          <a:ln cap="flat" cmpd="sng" w="12700">
            <a:solidFill>
              <a:srgbClr val="E1E9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50" name="Google Shape;50;p4"/>
          <p:cNvSpPr/>
          <p:nvPr/>
        </p:nvSpPr>
        <p:spPr>
          <a:xfrm>
            <a:off x="621792" y="2487168"/>
            <a:ext cx="777240" cy="548640"/>
          </a:xfrm>
          <a:prstGeom prst="roundRect">
            <a:avLst>
              <a:gd fmla="val 13333" name="adj"/>
            </a:avLst>
          </a:prstGeom>
          <a:solidFill>
            <a:srgbClr val="00407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51" name="Google Shape;51;p4"/>
          <p:cNvSpPr/>
          <p:nvPr/>
        </p:nvSpPr>
        <p:spPr>
          <a:xfrm>
            <a:off x="621792" y="2487168"/>
            <a:ext cx="7772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Calibri"/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4"/>
          <p:cNvSpPr/>
          <p:nvPr/>
        </p:nvSpPr>
        <p:spPr>
          <a:xfrm>
            <a:off x="1554480" y="2459736"/>
            <a:ext cx="53949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4079"/>
              </a:buClr>
              <a:buSzPts val="1450"/>
              <a:buFont typeface="Calibri"/>
              <a:buNone/>
            </a:pPr>
            <a:r>
              <a:rPr b="1" i="0" lang="en-US" sz="145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Êtes-vous concernés ?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4"/>
          <p:cNvSpPr/>
          <p:nvPr/>
        </p:nvSpPr>
        <p:spPr>
          <a:xfrm>
            <a:off x="7086600" y="2496312"/>
            <a:ext cx="1417320" cy="329184"/>
          </a:xfrm>
          <a:prstGeom prst="roundRect">
            <a:avLst>
              <a:gd fmla="val 50000" name="adj"/>
            </a:avLst>
          </a:prstGeom>
          <a:solidFill>
            <a:srgbClr val="F4F7FA"/>
          </a:solidFill>
          <a:ln cap="flat" cmpd="sng" w="12700">
            <a:solidFill>
              <a:srgbClr val="00407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54" name="Google Shape;54;p4"/>
          <p:cNvSpPr/>
          <p:nvPr/>
        </p:nvSpPr>
        <p:spPr>
          <a:xfrm>
            <a:off x="7086600" y="2496312"/>
            <a:ext cx="141732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4079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20 min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4"/>
          <p:cNvSpPr/>
          <p:nvPr/>
        </p:nvSpPr>
        <p:spPr>
          <a:xfrm>
            <a:off x="1554480" y="2807208"/>
            <a:ext cx="69494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7 matières &amp; dérivés (annexe I) · définitions clés · acteurs &amp; responsabilités · calendrier &amp; évolution de l'annexe I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4"/>
          <p:cNvSpPr/>
          <p:nvPr/>
        </p:nvSpPr>
        <p:spPr>
          <a:xfrm>
            <a:off x="457200" y="3282696"/>
            <a:ext cx="8229600" cy="822960"/>
          </a:xfrm>
          <a:prstGeom prst="roundRect">
            <a:avLst>
              <a:gd fmla="val 8889" name="adj"/>
            </a:avLst>
          </a:prstGeom>
          <a:solidFill>
            <a:srgbClr val="FFFFFF"/>
          </a:solidFill>
          <a:ln cap="flat" cmpd="sng" w="12700">
            <a:solidFill>
              <a:srgbClr val="E1E9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57" name="Google Shape;57;p4"/>
          <p:cNvSpPr/>
          <p:nvPr/>
        </p:nvSpPr>
        <p:spPr>
          <a:xfrm>
            <a:off x="621792" y="3419856"/>
            <a:ext cx="777240" cy="548640"/>
          </a:xfrm>
          <a:prstGeom prst="roundRect">
            <a:avLst>
              <a:gd fmla="val 13333" name="adj"/>
            </a:avLst>
          </a:prstGeom>
          <a:solidFill>
            <a:srgbClr val="0092D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58" name="Google Shape;58;p4"/>
          <p:cNvSpPr/>
          <p:nvPr/>
        </p:nvSpPr>
        <p:spPr>
          <a:xfrm>
            <a:off x="621792" y="3419856"/>
            <a:ext cx="7772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Calibri"/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II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4"/>
          <p:cNvSpPr/>
          <p:nvPr/>
        </p:nvSpPr>
        <p:spPr>
          <a:xfrm>
            <a:off x="1554480" y="3392424"/>
            <a:ext cx="53949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4079"/>
              </a:buClr>
              <a:buSzPts val="1450"/>
              <a:buFont typeface="Calibri"/>
              <a:buNone/>
            </a:pPr>
            <a:r>
              <a:rPr b="1" i="0" lang="en-US" sz="145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La diligence raisonnée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4"/>
          <p:cNvSpPr/>
          <p:nvPr/>
        </p:nvSpPr>
        <p:spPr>
          <a:xfrm>
            <a:off x="7086600" y="3429000"/>
            <a:ext cx="1417320" cy="329184"/>
          </a:xfrm>
          <a:prstGeom prst="roundRect">
            <a:avLst>
              <a:gd fmla="val 50000" name="adj"/>
            </a:avLst>
          </a:prstGeom>
          <a:solidFill>
            <a:srgbClr val="F4F7FA"/>
          </a:solidFill>
          <a:ln cap="flat" cmpd="sng" w="12700">
            <a:solidFill>
              <a:srgbClr val="0092D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61" name="Google Shape;61;p4"/>
          <p:cNvSpPr/>
          <p:nvPr/>
        </p:nvSpPr>
        <p:spPr>
          <a:xfrm>
            <a:off x="7086600" y="3429000"/>
            <a:ext cx="141732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92D2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092D2"/>
                </a:solidFill>
                <a:latin typeface="Calibri"/>
                <a:ea typeface="Calibri"/>
                <a:cs typeface="Calibri"/>
                <a:sym typeface="Calibri"/>
              </a:rPr>
              <a:t>30 min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4"/>
          <p:cNvSpPr/>
          <p:nvPr/>
        </p:nvSpPr>
        <p:spPr>
          <a:xfrm>
            <a:off x="1554480" y="3739896"/>
            <a:ext cx="69494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le système de diligence (SDR) · les 3 étapes · la diligence simplifiée · le réexamen annuel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4"/>
          <p:cNvSpPr/>
          <p:nvPr/>
        </p:nvSpPr>
        <p:spPr>
          <a:xfrm>
            <a:off x="457200" y="4215384"/>
            <a:ext cx="8229600" cy="822960"/>
          </a:xfrm>
          <a:prstGeom prst="roundRect">
            <a:avLst>
              <a:gd fmla="val 8889" name="adj"/>
            </a:avLst>
          </a:prstGeom>
          <a:solidFill>
            <a:srgbClr val="FFFFFF"/>
          </a:solidFill>
          <a:ln cap="flat" cmpd="sng" w="12700">
            <a:solidFill>
              <a:srgbClr val="E1E9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64" name="Google Shape;64;p4"/>
          <p:cNvSpPr/>
          <p:nvPr/>
        </p:nvSpPr>
        <p:spPr>
          <a:xfrm>
            <a:off x="621792" y="4352544"/>
            <a:ext cx="777240" cy="548640"/>
          </a:xfrm>
          <a:prstGeom prst="roundRect">
            <a:avLst>
              <a:gd fmla="val 13333" name="adj"/>
            </a:avLst>
          </a:prstGeom>
          <a:solidFill>
            <a:srgbClr val="00A49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65" name="Google Shape;65;p4"/>
          <p:cNvSpPr/>
          <p:nvPr/>
        </p:nvSpPr>
        <p:spPr>
          <a:xfrm>
            <a:off x="621792" y="4352544"/>
            <a:ext cx="7772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Calibri"/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III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4"/>
          <p:cNvSpPr/>
          <p:nvPr/>
        </p:nvSpPr>
        <p:spPr>
          <a:xfrm>
            <a:off x="1554480" y="4325112"/>
            <a:ext cx="53949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4079"/>
              </a:buClr>
              <a:buSzPts val="1450"/>
              <a:buFont typeface="Calibri"/>
              <a:buNone/>
            </a:pPr>
            <a:r>
              <a:rPr b="1" i="0" lang="en-US" sz="145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Mise en œuvre &amp; formalités douanières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4"/>
          <p:cNvSpPr/>
          <p:nvPr/>
        </p:nvSpPr>
        <p:spPr>
          <a:xfrm>
            <a:off x="7086600" y="4361688"/>
            <a:ext cx="1417320" cy="329184"/>
          </a:xfrm>
          <a:prstGeom prst="roundRect">
            <a:avLst>
              <a:gd fmla="val 50000" name="adj"/>
            </a:avLst>
          </a:prstGeom>
          <a:solidFill>
            <a:srgbClr val="F4F7FA"/>
          </a:solidFill>
          <a:ln cap="flat" cmpd="sng" w="12700">
            <a:solidFill>
              <a:srgbClr val="00A49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68" name="Google Shape;68;p4"/>
          <p:cNvSpPr/>
          <p:nvPr/>
        </p:nvSpPr>
        <p:spPr>
          <a:xfrm>
            <a:off x="7086600" y="4361688"/>
            <a:ext cx="141732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A49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0A49F"/>
                </a:solidFill>
                <a:latin typeface="Calibri"/>
                <a:ea typeface="Calibri"/>
                <a:cs typeface="Calibri"/>
                <a:sym typeface="Calibri"/>
              </a:rPr>
              <a:t>20 min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4"/>
          <p:cNvSpPr/>
          <p:nvPr/>
        </p:nvSpPr>
        <p:spPr>
          <a:xfrm>
            <a:off x="1554480" y="4672584"/>
            <a:ext cx="69494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TRACES-NT &amp; EU Login · déclarer en douane (Delta) : C716 / C717 / Y · transmission amont-aval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4"/>
          <p:cNvSpPr/>
          <p:nvPr/>
        </p:nvSpPr>
        <p:spPr>
          <a:xfrm>
            <a:off x="457200" y="5148072"/>
            <a:ext cx="8229600" cy="822960"/>
          </a:xfrm>
          <a:prstGeom prst="roundRect">
            <a:avLst>
              <a:gd fmla="val 8889" name="adj"/>
            </a:avLst>
          </a:prstGeom>
          <a:solidFill>
            <a:srgbClr val="FFFFFF"/>
          </a:solidFill>
          <a:ln cap="flat" cmpd="sng" w="12700">
            <a:solidFill>
              <a:srgbClr val="E1E9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71" name="Google Shape;71;p4"/>
          <p:cNvSpPr/>
          <p:nvPr/>
        </p:nvSpPr>
        <p:spPr>
          <a:xfrm>
            <a:off x="621792" y="5285232"/>
            <a:ext cx="777240" cy="548640"/>
          </a:xfrm>
          <a:prstGeom prst="roundRect">
            <a:avLst>
              <a:gd fmla="val 13333" name="adj"/>
            </a:avLst>
          </a:prstGeom>
          <a:solidFill>
            <a:srgbClr val="F187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72" name="Google Shape;72;p4"/>
          <p:cNvSpPr/>
          <p:nvPr/>
        </p:nvSpPr>
        <p:spPr>
          <a:xfrm>
            <a:off x="621792" y="5285232"/>
            <a:ext cx="7772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Calibri"/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IV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4"/>
          <p:cNvSpPr/>
          <p:nvPr/>
        </p:nvSpPr>
        <p:spPr>
          <a:xfrm>
            <a:off x="1554480" y="5257800"/>
            <a:ext cx="53949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4079"/>
              </a:buClr>
              <a:buSzPts val="1450"/>
              <a:buFont typeface="Calibri"/>
              <a:buNone/>
            </a:pPr>
            <a:r>
              <a:rPr b="1" i="0" lang="en-US" sz="145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Bonnes pratiques &amp; conseils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4"/>
          <p:cNvSpPr/>
          <p:nvPr/>
        </p:nvSpPr>
        <p:spPr>
          <a:xfrm>
            <a:off x="7086600" y="5294376"/>
            <a:ext cx="1417320" cy="329184"/>
          </a:xfrm>
          <a:prstGeom prst="roundRect">
            <a:avLst>
              <a:gd fmla="val 50000" name="adj"/>
            </a:avLst>
          </a:prstGeom>
          <a:solidFill>
            <a:srgbClr val="F4F7FA"/>
          </a:solidFill>
          <a:ln cap="flat" cmpd="sng" w="12700">
            <a:solidFill>
              <a:srgbClr val="F187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75" name="Google Shape;75;p4"/>
          <p:cNvSpPr/>
          <p:nvPr/>
        </p:nvSpPr>
        <p:spPr>
          <a:xfrm>
            <a:off x="7086600" y="5294376"/>
            <a:ext cx="141732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18700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18700"/>
                </a:solidFill>
                <a:latin typeface="Calibri"/>
                <a:ea typeface="Calibri"/>
                <a:cs typeface="Calibri"/>
                <a:sym typeface="Calibri"/>
              </a:rPr>
              <a:t>10 min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4"/>
          <p:cNvSpPr/>
          <p:nvPr/>
        </p:nvSpPr>
        <p:spPr>
          <a:xfrm>
            <a:off x="1554480" y="5605272"/>
            <a:ext cx="69494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anticiper · archiver · se faire accompagner · synthèse des conseils &amp; maîtrise des risques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7FA"/>
        </a:solidFill>
      </p:bgPr>
    </p:bg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5"/>
          <p:cNvSpPr/>
          <p:nvPr/>
        </p:nvSpPr>
        <p:spPr>
          <a:xfrm>
            <a:off x="457200" y="6510528"/>
            <a:ext cx="5852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RDUE / EUDR  ·  Webinaire CCI Lyon Métropole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5"/>
          <p:cNvSpPr/>
          <p:nvPr/>
        </p:nvSpPr>
        <p:spPr>
          <a:xfrm>
            <a:off x="7955280" y="651052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3 / 34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5"/>
          <p:cNvSpPr/>
          <p:nvPr/>
        </p:nvSpPr>
        <p:spPr>
          <a:xfrm>
            <a:off x="7223760" y="292608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F337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DF337F"/>
                </a:solidFill>
                <a:latin typeface="Calibri"/>
                <a:ea typeface="Calibri"/>
                <a:cs typeface="Calibri"/>
                <a:sym typeface="Calibri"/>
              </a:rPr>
              <a:t>CCI</a:t>
            </a:r>
            <a:r>
              <a:rPr b="1" i="0" lang="en-US" sz="110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 LYON MÉTROPOLE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5"/>
          <p:cNvSpPr/>
          <p:nvPr/>
        </p:nvSpPr>
        <p:spPr>
          <a:xfrm>
            <a:off x="7223760" y="457200"/>
            <a:ext cx="1828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700"/>
              <a:buFont typeface="Calibri"/>
              <a:buNone/>
            </a:pPr>
            <a:r>
              <a:rPr b="0" i="1" lang="en-US" sz="7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Saint-Étienne Roanne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5"/>
          <p:cNvSpPr/>
          <p:nvPr/>
        </p:nvSpPr>
        <p:spPr>
          <a:xfrm>
            <a:off x="457200" y="384048"/>
            <a:ext cx="65836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4079"/>
              </a:buClr>
              <a:buSzPts val="2700"/>
              <a:buFont typeface="Calibri"/>
              <a:buNone/>
            </a:pPr>
            <a:r>
              <a:rPr b="1" i="0" lang="en-US" sz="270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Objectifs du webinaire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5"/>
          <p:cNvSpPr/>
          <p:nvPr/>
        </p:nvSpPr>
        <p:spPr>
          <a:xfrm>
            <a:off x="457200" y="987552"/>
            <a:ext cx="81381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Ce que vous saurez faire en sortant.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5"/>
          <p:cNvSpPr/>
          <p:nvPr/>
        </p:nvSpPr>
        <p:spPr>
          <a:xfrm>
            <a:off x="457200" y="1600200"/>
            <a:ext cx="3977640" cy="1371600"/>
          </a:xfrm>
          <a:prstGeom prst="roundRect">
            <a:avLst>
              <a:gd fmla="val 5333" name="adj"/>
            </a:avLst>
          </a:prstGeom>
          <a:solidFill>
            <a:srgbClr val="FFFFFF"/>
          </a:solidFill>
          <a:ln cap="flat" cmpd="sng" w="12700">
            <a:solidFill>
              <a:srgbClr val="E1E9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89" name="Google Shape;89;p5"/>
          <p:cNvSpPr/>
          <p:nvPr/>
        </p:nvSpPr>
        <p:spPr>
          <a:xfrm>
            <a:off x="658368" y="1965960"/>
            <a:ext cx="685800" cy="685800"/>
          </a:xfrm>
          <a:prstGeom prst="ellipse">
            <a:avLst/>
          </a:prstGeom>
          <a:solidFill>
            <a:srgbClr val="004079"/>
          </a:solidFill>
          <a:ln>
            <a:noFill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icons/target.png" id="90" name="Google Shape;90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2960" y="2130552"/>
            <a:ext cx="356616" cy="356616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5"/>
          <p:cNvSpPr/>
          <p:nvPr/>
        </p:nvSpPr>
        <p:spPr>
          <a:xfrm>
            <a:off x="1508760" y="1828800"/>
            <a:ext cx="27432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4079"/>
              </a:buClr>
              <a:buSzPts val="1550"/>
              <a:buFont typeface="Calibri"/>
              <a:buNone/>
            </a:pPr>
            <a:r>
              <a:rPr b="1" i="0" lang="en-US" sz="155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Vous situer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5"/>
          <p:cNvSpPr/>
          <p:nvPr/>
        </p:nvSpPr>
        <p:spPr>
          <a:xfrm>
            <a:off x="1508760" y="2240280"/>
            <a:ext cx="27432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733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Déterminer si votre entreprise est concernée, et à quel titre.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5"/>
          <p:cNvSpPr/>
          <p:nvPr/>
        </p:nvSpPr>
        <p:spPr>
          <a:xfrm>
            <a:off x="4617720" y="1600200"/>
            <a:ext cx="3977640" cy="1371600"/>
          </a:xfrm>
          <a:prstGeom prst="roundRect">
            <a:avLst>
              <a:gd fmla="val 5333" name="adj"/>
            </a:avLst>
          </a:prstGeom>
          <a:solidFill>
            <a:srgbClr val="FFFFFF"/>
          </a:solidFill>
          <a:ln cap="flat" cmpd="sng" w="12700">
            <a:solidFill>
              <a:srgbClr val="E1E9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94" name="Google Shape;94;p5"/>
          <p:cNvSpPr/>
          <p:nvPr/>
        </p:nvSpPr>
        <p:spPr>
          <a:xfrm>
            <a:off x="4818888" y="1965960"/>
            <a:ext cx="685800" cy="685800"/>
          </a:xfrm>
          <a:prstGeom prst="ellipse">
            <a:avLst/>
          </a:prstGeom>
          <a:solidFill>
            <a:srgbClr val="0092D2"/>
          </a:solidFill>
          <a:ln>
            <a:noFill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icons/box.png" id="95" name="Google Shape;95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983480" y="2130552"/>
            <a:ext cx="356616" cy="356616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5"/>
          <p:cNvSpPr/>
          <p:nvPr/>
        </p:nvSpPr>
        <p:spPr>
          <a:xfrm>
            <a:off x="5669280" y="1828800"/>
            <a:ext cx="27432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4079"/>
              </a:buClr>
              <a:buSzPts val="1550"/>
              <a:buFont typeface="Calibri"/>
              <a:buNone/>
            </a:pPr>
            <a:r>
              <a:rPr b="1" i="0" lang="en-US" sz="155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Identifier vos produits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5"/>
          <p:cNvSpPr/>
          <p:nvPr/>
        </p:nvSpPr>
        <p:spPr>
          <a:xfrm>
            <a:off x="5669280" y="2240280"/>
            <a:ext cx="27432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733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Les retrouver dans l'annexe I et connaître les bons codes douaniers.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5"/>
          <p:cNvSpPr/>
          <p:nvPr/>
        </p:nvSpPr>
        <p:spPr>
          <a:xfrm>
            <a:off x="457200" y="3200400"/>
            <a:ext cx="3977640" cy="1371600"/>
          </a:xfrm>
          <a:prstGeom prst="roundRect">
            <a:avLst>
              <a:gd fmla="val 5333" name="adj"/>
            </a:avLst>
          </a:prstGeom>
          <a:solidFill>
            <a:srgbClr val="FFFFFF"/>
          </a:solidFill>
          <a:ln cap="flat" cmpd="sng" w="12700">
            <a:solidFill>
              <a:srgbClr val="E1E9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99" name="Google Shape;99;p5"/>
          <p:cNvSpPr/>
          <p:nvPr/>
        </p:nvSpPr>
        <p:spPr>
          <a:xfrm>
            <a:off x="658368" y="3566160"/>
            <a:ext cx="685800" cy="685800"/>
          </a:xfrm>
          <a:prstGeom prst="ellipse">
            <a:avLst/>
          </a:prstGeom>
          <a:solidFill>
            <a:srgbClr val="00A49F"/>
          </a:solidFill>
          <a:ln>
            <a:noFill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icons/sitemap.png" id="100" name="Google Shape;100;p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22960" y="3730752"/>
            <a:ext cx="356616" cy="356616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5"/>
          <p:cNvSpPr/>
          <p:nvPr/>
        </p:nvSpPr>
        <p:spPr>
          <a:xfrm>
            <a:off x="1508760" y="3429000"/>
            <a:ext cx="27432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4079"/>
              </a:buClr>
              <a:buSzPts val="1550"/>
              <a:buFont typeface="Calibri"/>
              <a:buNone/>
            </a:pPr>
            <a:r>
              <a:rPr b="1" i="0" lang="en-US" sz="155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Maîtriser la diligence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5"/>
          <p:cNvSpPr/>
          <p:nvPr/>
        </p:nvSpPr>
        <p:spPr>
          <a:xfrm>
            <a:off x="1508760" y="3840480"/>
            <a:ext cx="27432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733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Le système de diligence, les 3 étapes, les preuves à réunir.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5"/>
          <p:cNvSpPr/>
          <p:nvPr/>
        </p:nvSpPr>
        <p:spPr>
          <a:xfrm>
            <a:off x="4617720" y="3200400"/>
            <a:ext cx="3977640" cy="1371600"/>
          </a:xfrm>
          <a:prstGeom prst="roundRect">
            <a:avLst>
              <a:gd fmla="val 5333" name="adj"/>
            </a:avLst>
          </a:prstGeom>
          <a:solidFill>
            <a:srgbClr val="FFFFFF"/>
          </a:solidFill>
          <a:ln cap="flat" cmpd="sng" w="12700">
            <a:solidFill>
              <a:srgbClr val="E1E9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104" name="Google Shape;104;p5"/>
          <p:cNvSpPr/>
          <p:nvPr/>
        </p:nvSpPr>
        <p:spPr>
          <a:xfrm>
            <a:off x="4818888" y="3566160"/>
            <a:ext cx="685800" cy="685800"/>
          </a:xfrm>
          <a:prstGeom prst="ellipse">
            <a:avLst/>
          </a:prstGeom>
          <a:solidFill>
            <a:srgbClr val="F18700"/>
          </a:solidFill>
          <a:ln>
            <a:noFill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icons/rocket.png" id="105" name="Google Shape;105;p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983480" y="3730752"/>
            <a:ext cx="356616" cy="356616"/>
          </a:xfrm>
          <a:prstGeom prst="rect">
            <a:avLst/>
          </a:prstGeom>
          <a:noFill/>
          <a:ln>
            <a:noFill/>
          </a:ln>
        </p:spPr>
      </p:pic>
      <p:sp>
        <p:nvSpPr>
          <p:cNvPr id="106" name="Google Shape;106;p5"/>
          <p:cNvSpPr/>
          <p:nvPr/>
        </p:nvSpPr>
        <p:spPr>
          <a:xfrm>
            <a:off x="5669280" y="3429000"/>
            <a:ext cx="27432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4079"/>
              </a:buClr>
              <a:buSzPts val="1550"/>
              <a:buFont typeface="Calibri"/>
              <a:buNone/>
            </a:pPr>
            <a:r>
              <a:rPr b="1" i="0" lang="en-US" sz="155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Passer à l'action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5"/>
          <p:cNvSpPr/>
          <p:nvPr/>
        </p:nvSpPr>
        <p:spPr>
          <a:xfrm>
            <a:off x="5669280" y="3840480"/>
            <a:ext cx="27432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733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TRACES, déclaration en douane, échéances, contacts utiles.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5"/>
          <p:cNvSpPr/>
          <p:nvPr/>
        </p:nvSpPr>
        <p:spPr>
          <a:xfrm>
            <a:off x="457200" y="51206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F337F"/>
              </a:buClr>
              <a:buSzPts val="1150"/>
              <a:buFont typeface="Calibri"/>
              <a:buNone/>
            </a:pPr>
            <a:r>
              <a:rPr b="0" i="1" lang="en-US" sz="1150" u="none" cap="none" strike="noStrike">
                <a:solidFill>
                  <a:srgbClr val="DF337F"/>
                </a:solidFill>
                <a:latin typeface="Calibri"/>
                <a:ea typeface="Calibri"/>
                <a:cs typeface="Calibri"/>
                <a:sym typeface="Calibri"/>
              </a:rPr>
              <a:t>Co-animation Céline Fontana &amp; Houda Zebar · questionnaires &amp; quizz tout au long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4079"/>
        </a:soli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6"/>
          <p:cNvSpPr/>
          <p:nvPr/>
        </p:nvSpPr>
        <p:spPr>
          <a:xfrm>
            <a:off x="7040880" y="292608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F337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DF337F"/>
                </a:solidFill>
                <a:latin typeface="Calibri"/>
                <a:ea typeface="Calibri"/>
                <a:cs typeface="Calibri"/>
                <a:sym typeface="Calibri"/>
              </a:rPr>
              <a:t>CCI</a:t>
            </a:r>
            <a:r>
              <a:rPr b="1" i="0" lang="en-US" sz="110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 LYON MÉTROPOLE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6"/>
          <p:cNvSpPr/>
          <p:nvPr/>
        </p:nvSpPr>
        <p:spPr>
          <a:xfrm>
            <a:off x="7040880" y="457200"/>
            <a:ext cx="1828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700"/>
              <a:buFont typeface="Calibri"/>
              <a:buNone/>
            </a:pPr>
            <a:r>
              <a:rPr b="0" i="1" lang="en-US" sz="7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Saint-Étienne Roanne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6"/>
          <p:cNvSpPr/>
          <p:nvPr/>
        </p:nvSpPr>
        <p:spPr>
          <a:xfrm>
            <a:off x="-1463040" y="3840480"/>
            <a:ext cx="4572000" cy="4572000"/>
          </a:xfrm>
          <a:prstGeom prst="ellipse">
            <a:avLst/>
          </a:prstGeom>
          <a:solidFill>
            <a:srgbClr val="00305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117" name="Google Shape;117;p6"/>
          <p:cNvSpPr/>
          <p:nvPr/>
        </p:nvSpPr>
        <p:spPr>
          <a:xfrm>
            <a:off x="640080" y="1417320"/>
            <a:ext cx="5943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F337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DF337F"/>
                </a:solidFill>
                <a:latin typeface="Calibri"/>
                <a:ea typeface="Calibri"/>
                <a:cs typeface="Calibri"/>
                <a:sym typeface="Calibri"/>
              </a:rPr>
              <a:t>INTRODUCTION</a:t>
            </a:r>
            <a:r>
              <a:rPr b="1" i="0" lang="en-US" sz="1400" u="none" cap="none" strike="noStrike">
                <a:solidFill>
                  <a:srgbClr val="9FC4E0"/>
                </a:solidFill>
                <a:latin typeface="Calibri"/>
                <a:ea typeface="Calibri"/>
                <a:cs typeface="Calibri"/>
                <a:sym typeface="Calibri"/>
              </a:rPr>
              <a:t>    ·    10 min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6"/>
          <p:cNvSpPr/>
          <p:nvPr/>
        </p:nvSpPr>
        <p:spPr>
          <a:xfrm>
            <a:off x="594360" y="1828800"/>
            <a:ext cx="54864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400"/>
              <a:buFont typeface="Calibri"/>
              <a:buNone/>
            </a:pPr>
            <a:r>
              <a:rPr b="1" i="0" lang="en-US" sz="3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Contexte &amp; enjeux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6"/>
          <p:cNvSpPr/>
          <p:nvPr/>
        </p:nvSpPr>
        <p:spPr>
          <a:xfrm>
            <a:off x="685800" y="3566160"/>
            <a:ext cx="5486400" cy="2560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E6F0F8"/>
              </a:buClr>
              <a:buSzPts val="1400"/>
              <a:buFont typeface="Calibri"/>
              <a:buChar char="•"/>
            </a:pPr>
            <a:r>
              <a:rPr b="0" i="0" lang="en-US" sz="1400" u="none" cap="none" strike="noStrike">
                <a:solidFill>
                  <a:srgbClr val="E6F0F8"/>
                </a:solidFill>
                <a:latin typeface="Calibri"/>
                <a:ea typeface="Calibri"/>
                <a:cs typeface="Calibri"/>
                <a:sym typeface="Calibri"/>
              </a:rPr>
              <a:t>L'urgence écologique : le constat en chiffres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900"/>
              </a:spcBef>
              <a:spcAft>
                <a:spcPts val="0"/>
              </a:spcAft>
              <a:buClr>
                <a:srgbClr val="E6F0F8"/>
              </a:buClr>
              <a:buSzPts val="1400"/>
              <a:buFont typeface="Calibri"/>
              <a:buChar char="•"/>
            </a:pPr>
            <a:r>
              <a:rPr b="0" i="0" lang="en-US" sz="1400" u="none" cap="none" strike="noStrike">
                <a:solidFill>
                  <a:srgbClr val="E6F0F8"/>
                </a:solidFill>
                <a:latin typeface="Calibri"/>
                <a:ea typeface="Calibri"/>
                <a:cs typeface="Calibri"/>
                <a:sym typeface="Calibri"/>
              </a:rPr>
              <a:t>Les objectifs du RDUE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900"/>
              </a:spcBef>
              <a:spcAft>
                <a:spcPts val="0"/>
              </a:spcAft>
              <a:buClr>
                <a:srgbClr val="E6F0F8"/>
              </a:buClr>
              <a:buSzPts val="1400"/>
              <a:buFont typeface="Calibri"/>
              <a:buChar char="•"/>
            </a:pPr>
            <a:r>
              <a:rPr b="0" i="0" lang="en-US" sz="1400" u="none" cap="none" strike="noStrike">
                <a:solidFill>
                  <a:srgbClr val="E6F0F8"/>
                </a:solidFill>
                <a:latin typeface="Calibri"/>
                <a:ea typeface="Calibri"/>
                <a:cs typeface="Calibri"/>
                <a:sym typeface="Calibri"/>
              </a:rPr>
              <a:t>L'actualité : le report d'un an (règl. 2025/2650)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900"/>
              </a:spcBef>
              <a:spcAft>
                <a:spcPts val="0"/>
              </a:spcAft>
              <a:buClr>
                <a:srgbClr val="E6F0F8"/>
              </a:buClr>
              <a:buSzPts val="1400"/>
              <a:buFont typeface="Calibri"/>
              <a:buChar char="•"/>
            </a:pPr>
            <a:r>
              <a:rPr b="0" i="0" lang="en-US" sz="1400" u="none" cap="none" strike="noStrike">
                <a:solidFill>
                  <a:srgbClr val="E6F0F8"/>
                </a:solidFill>
                <a:latin typeface="Calibri"/>
                <a:ea typeface="Calibri"/>
                <a:cs typeface="Calibri"/>
                <a:sym typeface="Calibri"/>
              </a:rPr>
              <a:t>Le texte : UE 2023/1115 modifié par UE 2025/2650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6"/>
          <p:cNvSpPr/>
          <p:nvPr/>
        </p:nvSpPr>
        <p:spPr>
          <a:xfrm>
            <a:off x="6446520" y="1645920"/>
            <a:ext cx="2240280" cy="731520"/>
          </a:xfrm>
          <a:prstGeom prst="roundRect">
            <a:avLst>
              <a:gd fmla="val 7500" name="adj"/>
            </a:avLst>
          </a:prstGeom>
          <a:solidFill>
            <a:srgbClr val="DF337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121" name="Google Shape;121;p6"/>
          <p:cNvSpPr/>
          <p:nvPr/>
        </p:nvSpPr>
        <p:spPr>
          <a:xfrm>
            <a:off x="6583680" y="1773936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6"/>
          <p:cNvSpPr/>
          <p:nvPr/>
        </p:nvSpPr>
        <p:spPr>
          <a:xfrm>
            <a:off x="7086600" y="1700784"/>
            <a:ext cx="150876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Contexte &amp; enjeux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6"/>
          <p:cNvSpPr/>
          <p:nvPr/>
        </p:nvSpPr>
        <p:spPr>
          <a:xfrm>
            <a:off x="6446520" y="2514600"/>
            <a:ext cx="2240280" cy="731520"/>
          </a:xfrm>
          <a:prstGeom prst="roundRect">
            <a:avLst>
              <a:gd fmla="val 7500" name="adj"/>
            </a:avLst>
          </a:prstGeom>
          <a:solidFill>
            <a:srgbClr val="063A6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124" name="Google Shape;124;p6"/>
          <p:cNvSpPr/>
          <p:nvPr/>
        </p:nvSpPr>
        <p:spPr>
          <a:xfrm>
            <a:off x="6583680" y="2642616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FB4DB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7FB4DB"/>
                </a:solidFill>
                <a:latin typeface="Calibri"/>
                <a:ea typeface="Calibri"/>
                <a:cs typeface="Calibri"/>
                <a:sym typeface="Calibri"/>
              </a:rPr>
              <a:t>I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6"/>
          <p:cNvSpPr/>
          <p:nvPr/>
        </p:nvSpPr>
        <p:spPr>
          <a:xfrm>
            <a:off x="7086600" y="2569464"/>
            <a:ext cx="150876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FE0EE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FE0EE"/>
                </a:solidFill>
                <a:latin typeface="Calibri"/>
                <a:ea typeface="Calibri"/>
                <a:cs typeface="Calibri"/>
                <a:sym typeface="Calibri"/>
              </a:rPr>
              <a:t>Êtes-vous concernés ?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6"/>
          <p:cNvSpPr/>
          <p:nvPr/>
        </p:nvSpPr>
        <p:spPr>
          <a:xfrm>
            <a:off x="6446520" y="3383280"/>
            <a:ext cx="2240280" cy="731520"/>
          </a:xfrm>
          <a:prstGeom prst="roundRect">
            <a:avLst>
              <a:gd fmla="val 7500" name="adj"/>
            </a:avLst>
          </a:prstGeom>
          <a:solidFill>
            <a:srgbClr val="063A6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127" name="Google Shape;127;p6"/>
          <p:cNvSpPr/>
          <p:nvPr/>
        </p:nvSpPr>
        <p:spPr>
          <a:xfrm>
            <a:off x="6583680" y="3511296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FB4DB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7FB4DB"/>
                </a:solidFill>
                <a:latin typeface="Calibri"/>
                <a:ea typeface="Calibri"/>
                <a:cs typeface="Calibri"/>
                <a:sym typeface="Calibri"/>
              </a:rPr>
              <a:t>II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6"/>
          <p:cNvSpPr/>
          <p:nvPr/>
        </p:nvSpPr>
        <p:spPr>
          <a:xfrm>
            <a:off x="7086600" y="3438144"/>
            <a:ext cx="150876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FE0EE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FE0EE"/>
                </a:solidFill>
                <a:latin typeface="Calibri"/>
                <a:ea typeface="Calibri"/>
                <a:cs typeface="Calibri"/>
                <a:sym typeface="Calibri"/>
              </a:rPr>
              <a:t>La diligence raisonnée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6"/>
          <p:cNvSpPr/>
          <p:nvPr/>
        </p:nvSpPr>
        <p:spPr>
          <a:xfrm>
            <a:off x="6446520" y="4251960"/>
            <a:ext cx="2240280" cy="731520"/>
          </a:xfrm>
          <a:prstGeom prst="roundRect">
            <a:avLst>
              <a:gd fmla="val 7500" name="adj"/>
            </a:avLst>
          </a:prstGeom>
          <a:solidFill>
            <a:srgbClr val="063A6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130" name="Google Shape;130;p6"/>
          <p:cNvSpPr/>
          <p:nvPr/>
        </p:nvSpPr>
        <p:spPr>
          <a:xfrm>
            <a:off x="6583680" y="4379976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FB4DB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7FB4DB"/>
                </a:solidFill>
                <a:latin typeface="Calibri"/>
                <a:ea typeface="Calibri"/>
                <a:cs typeface="Calibri"/>
                <a:sym typeface="Calibri"/>
              </a:rPr>
              <a:t>III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6"/>
          <p:cNvSpPr/>
          <p:nvPr/>
        </p:nvSpPr>
        <p:spPr>
          <a:xfrm>
            <a:off x="7086600" y="4306824"/>
            <a:ext cx="150876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FE0EE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FE0EE"/>
                </a:solidFill>
                <a:latin typeface="Calibri"/>
                <a:ea typeface="Calibri"/>
                <a:cs typeface="Calibri"/>
                <a:sym typeface="Calibri"/>
              </a:rPr>
              <a:t>Mise en œuvre &amp; formalités douanières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6"/>
          <p:cNvSpPr/>
          <p:nvPr/>
        </p:nvSpPr>
        <p:spPr>
          <a:xfrm>
            <a:off x="6446520" y="5120640"/>
            <a:ext cx="2240280" cy="731520"/>
          </a:xfrm>
          <a:prstGeom prst="roundRect">
            <a:avLst>
              <a:gd fmla="val 7500" name="adj"/>
            </a:avLst>
          </a:prstGeom>
          <a:solidFill>
            <a:srgbClr val="063A6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133" name="Google Shape;133;p6"/>
          <p:cNvSpPr/>
          <p:nvPr/>
        </p:nvSpPr>
        <p:spPr>
          <a:xfrm>
            <a:off x="6583680" y="5248656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FB4DB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7FB4DB"/>
                </a:solidFill>
                <a:latin typeface="Calibri"/>
                <a:ea typeface="Calibri"/>
                <a:cs typeface="Calibri"/>
                <a:sym typeface="Calibri"/>
              </a:rPr>
              <a:t>IV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6"/>
          <p:cNvSpPr/>
          <p:nvPr/>
        </p:nvSpPr>
        <p:spPr>
          <a:xfrm>
            <a:off x="7086600" y="5175504"/>
            <a:ext cx="150876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FE0EE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FE0EE"/>
                </a:solidFill>
                <a:latin typeface="Calibri"/>
                <a:ea typeface="Calibri"/>
                <a:cs typeface="Calibri"/>
                <a:sym typeface="Calibri"/>
              </a:rPr>
              <a:t>Bonnes pratiques &amp; conseils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4079"/>
        </a:solidFill>
      </p:bgPr>
    </p:bg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7"/>
          <p:cNvSpPr/>
          <p:nvPr/>
        </p:nvSpPr>
        <p:spPr>
          <a:xfrm>
            <a:off x="7223760" y="292608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F337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DF337F"/>
                </a:solidFill>
                <a:latin typeface="Calibri"/>
                <a:ea typeface="Calibri"/>
                <a:cs typeface="Calibri"/>
                <a:sym typeface="Calibri"/>
              </a:rPr>
              <a:t>CCI</a:t>
            </a:r>
            <a:r>
              <a:rPr b="1" i="0" lang="en-US" sz="110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 LYON MÉTROPOLE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7"/>
          <p:cNvSpPr/>
          <p:nvPr/>
        </p:nvSpPr>
        <p:spPr>
          <a:xfrm>
            <a:off x="7223760" y="457200"/>
            <a:ext cx="1828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700"/>
              <a:buFont typeface="Calibri"/>
              <a:buNone/>
            </a:pPr>
            <a:r>
              <a:rPr b="0" i="1" lang="en-US" sz="7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Saint-Étienne Roanne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7"/>
          <p:cNvSpPr/>
          <p:nvPr/>
        </p:nvSpPr>
        <p:spPr>
          <a:xfrm>
            <a:off x="548640" y="502920"/>
            <a:ext cx="80467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Calibri"/>
              <a:buNone/>
            </a:pPr>
            <a:r>
              <a:rPr b="1" i="0" lang="en-US" sz="3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Le coût de l'inaction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7"/>
          <p:cNvSpPr/>
          <p:nvPr/>
        </p:nvSpPr>
        <p:spPr>
          <a:xfrm>
            <a:off x="548640" y="1143000"/>
            <a:ext cx="80467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C4E0"/>
              </a:buClr>
              <a:buSzPts val="1400"/>
              <a:buFont typeface="Calibri"/>
              <a:buNone/>
            </a:pPr>
            <a:r>
              <a:rPr b="0" i="1" lang="en-US" sz="1400" u="none" cap="none" strike="noStrike">
                <a:solidFill>
                  <a:srgbClr val="9FC4E0"/>
                </a:solidFill>
                <a:latin typeface="Calibri"/>
                <a:ea typeface="Calibri"/>
                <a:cs typeface="Calibri"/>
                <a:sym typeface="Calibri"/>
              </a:rPr>
              <a:t>Pourquoi ce règlement ? L'urgence écologique en chiffres.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7"/>
          <p:cNvSpPr/>
          <p:nvPr/>
        </p:nvSpPr>
        <p:spPr>
          <a:xfrm>
            <a:off x="548640" y="1828800"/>
            <a:ext cx="2514600" cy="2286000"/>
          </a:xfrm>
          <a:prstGeom prst="roundRect">
            <a:avLst>
              <a:gd fmla="val 3200" name="adj"/>
            </a:avLst>
          </a:prstGeom>
          <a:solidFill>
            <a:srgbClr val="063A68"/>
          </a:solidFill>
          <a:ln cap="flat" cmpd="sng" w="12700">
            <a:solidFill>
              <a:srgbClr val="E1E9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145" name="Google Shape;145;p7"/>
          <p:cNvSpPr/>
          <p:nvPr/>
        </p:nvSpPr>
        <p:spPr>
          <a:xfrm>
            <a:off x="548640" y="2148840"/>
            <a:ext cx="25146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F337F"/>
              </a:buClr>
              <a:buSzPts val="4000"/>
              <a:buFont typeface="Calibri"/>
              <a:buNone/>
            </a:pPr>
            <a:r>
              <a:rPr b="1" i="0" lang="en-US" sz="4000" u="none" cap="none" strike="noStrike">
                <a:solidFill>
                  <a:srgbClr val="DF337F"/>
                </a:solidFill>
                <a:latin typeface="Calibri"/>
                <a:ea typeface="Calibri"/>
                <a:cs typeface="Calibri"/>
                <a:sym typeface="Calibri"/>
              </a:rPr>
              <a:t>420 M</a:t>
            </a:r>
            <a:endParaRPr b="0" i="0" sz="4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7"/>
          <p:cNvSpPr/>
          <p:nvPr/>
        </p:nvSpPr>
        <p:spPr>
          <a:xfrm>
            <a:off x="731520" y="3063240"/>
            <a:ext cx="214884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6F0F8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E6F0F8"/>
                </a:solidFill>
                <a:latin typeface="Calibri"/>
                <a:ea typeface="Calibri"/>
                <a:cs typeface="Calibri"/>
                <a:sym typeface="Calibri"/>
              </a:rPr>
              <a:t>hectares de forêts disparus entre 1990 et 2020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7"/>
          <p:cNvSpPr/>
          <p:nvPr/>
        </p:nvSpPr>
        <p:spPr>
          <a:xfrm>
            <a:off x="3246120" y="1828800"/>
            <a:ext cx="2514600" cy="2286000"/>
          </a:xfrm>
          <a:prstGeom prst="roundRect">
            <a:avLst>
              <a:gd fmla="val 3200" name="adj"/>
            </a:avLst>
          </a:prstGeom>
          <a:solidFill>
            <a:srgbClr val="063A68"/>
          </a:solidFill>
          <a:ln cap="flat" cmpd="sng" w="12700">
            <a:solidFill>
              <a:srgbClr val="E1E9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148" name="Google Shape;148;p7"/>
          <p:cNvSpPr/>
          <p:nvPr/>
        </p:nvSpPr>
        <p:spPr>
          <a:xfrm>
            <a:off x="3246120" y="2148840"/>
            <a:ext cx="25146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92D2"/>
              </a:buClr>
              <a:buSzPts val="4000"/>
              <a:buFont typeface="Calibri"/>
              <a:buNone/>
            </a:pPr>
            <a:r>
              <a:rPr b="1" i="0" lang="en-US" sz="4000" u="none" cap="none" strike="noStrike">
                <a:solidFill>
                  <a:srgbClr val="0092D2"/>
                </a:solidFill>
                <a:latin typeface="Calibri"/>
                <a:ea typeface="Calibri"/>
                <a:cs typeface="Calibri"/>
                <a:sym typeface="Calibri"/>
              </a:rPr>
              <a:t>10 M</a:t>
            </a:r>
            <a:endParaRPr b="0" i="0" sz="4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7"/>
          <p:cNvSpPr/>
          <p:nvPr/>
        </p:nvSpPr>
        <p:spPr>
          <a:xfrm>
            <a:off x="3429000" y="3063240"/>
            <a:ext cx="214884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6F0F8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E6F0F8"/>
                </a:solidFill>
                <a:latin typeface="Calibri"/>
                <a:ea typeface="Calibri"/>
                <a:cs typeface="Calibri"/>
                <a:sym typeface="Calibri"/>
              </a:rPr>
              <a:t>hectares supplémentaires perdus chaque année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7"/>
          <p:cNvSpPr/>
          <p:nvPr/>
        </p:nvSpPr>
        <p:spPr>
          <a:xfrm>
            <a:off x="5943600" y="1828800"/>
            <a:ext cx="2514600" cy="2286000"/>
          </a:xfrm>
          <a:prstGeom prst="roundRect">
            <a:avLst>
              <a:gd fmla="val 3200" name="adj"/>
            </a:avLst>
          </a:prstGeom>
          <a:solidFill>
            <a:srgbClr val="063A68"/>
          </a:solidFill>
          <a:ln cap="flat" cmpd="sng" w="12700">
            <a:solidFill>
              <a:srgbClr val="E1E9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151" name="Google Shape;151;p7"/>
          <p:cNvSpPr/>
          <p:nvPr/>
        </p:nvSpPr>
        <p:spPr>
          <a:xfrm>
            <a:off x="5943600" y="2148840"/>
            <a:ext cx="25146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A49F"/>
              </a:buClr>
              <a:buSzPts val="4000"/>
              <a:buFont typeface="Calibri"/>
              <a:buNone/>
            </a:pPr>
            <a:r>
              <a:rPr b="1" i="0" lang="en-US" sz="4000" u="none" cap="none" strike="noStrike">
                <a:solidFill>
                  <a:srgbClr val="00A49F"/>
                </a:solidFill>
                <a:latin typeface="Calibri"/>
                <a:ea typeface="Calibri"/>
                <a:cs typeface="Calibri"/>
                <a:sym typeface="Calibri"/>
              </a:rPr>
              <a:t>11 %</a:t>
            </a:r>
            <a:endParaRPr b="0" i="0" sz="4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7"/>
          <p:cNvSpPr/>
          <p:nvPr/>
        </p:nvSpPr>
        <p:spPr>
          <a:xfrm>
            <a:off x="6126480" y="3063240"/>
            <a:ext cx="214884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6F0F8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E6F0F8"/>
                </a:solidFill>
                <a:latin typeface="Calibri"/>
                <a:ea typeface="Calibri"/>
                <a:cs typeface="Calibri"/>
                <a:sym typeface="Calibri"/>
              </a:rPr>
              <a:t>des émissions mondiales de gaz à effet de serre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7"/>
          <p:cNvSpPr/>
          <p:nvPr/>
        </p:nvSpPr>
        <p:spPr>
          <a:xfrm>
            <a:off x="548640" y="4480560"/>
            <a:ext cx="80467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FE0EE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CFE0EE"/>
                </a:solidFill>
                <a:latin typeface="Calibri"/>
                <a:ea typeface="Calibri"/>
                <a:cs typeface="Calibri"/>
                <a:sym typeface="Calibri"/>
              </a:rPr>
              <a:t>Le RDUE vise à réduire la contribution de la consommation européenne à la déforestation importée et à promouvoir des chaînes d'approvisionnement durables.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7"/>
          <p:cNvSpPr/>
          <p:nvPr/>
        </p:nvSpPr>
        <p:spPr>
          <a:xfrm>
            <a:off x="548640" y="6035040"/>
            <a:ext cx="8046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FA5C4"/>
              </a:buClr>
              <a:buSzPts val="900"/>
              <a:buFont typeface="Calibri"/>
              <a:buNone/>
            </a:pPr>
            <a:r>
              <a:rPr b="0" i="1" lang="en-US" sz="900" u="none" cap="none" strike="noStrike">
                <a:solidFill>
                  <a:srgbClr val="7FA5C4"/>
                </a:solidFill>
                <a:latin typeface="Calibri"/>
                <a:ea typeface="Calibri"/>
                <a:cs typeface="Calibri"/>
                <a:sym typeface="Calibri"/>
              </a:rPr>
              <a:t>Source : brochure DGDDI / Douane — Règlement européen contre la déforestation.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8"/>
          <p:cNvSpPr/>
          <p:nvPr/>
        </p:nvSpPr>
        <p:spPr>
          <a:xfrm>
            <a:off x="457200" y="6510528"/>
            <a:ext cx="5852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RDUE / EUDR  ·  Webinaire CCI Lyon Métropole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8"/>
          <p:cNvSpPr/>
          <p:nvPr/>
        </p:nvSpPr>
        <p:spPr>
          <a:xfrm>
            <a:off x="7955280" y="651052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6 / 34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8"/>
          <p:cNvSpPr/>
          <p:nvPr/>
        </p:nvSpPr>
        <p:spPr>
          <a:xfrm>
            <a:off x="7223760" y="292608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F337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DF337F"/>
                </a:solidFill>
                <a:latin typeface="Calibri"/>
                <a:ea typeface="Calibri"/>
                <a:cs typeface="Calibri"/>
                <a:sym typeface="Calibri"/>
              </a:rPr>
              <a:t>CCI</a:t>
            </a:r>
            <a:r>
              <a:rPr b="1" i="0" lang="en-US" sz="110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 LYON MÉTROPOLE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8"/>
          <p:cNvSpPr/>
          <p:nvPr/>
        </p:nvSpPr>
        <p:spPr>
          <a:xfrm>
            <a:off x="7223760" y="457200"/>
            <a:ext cx="1828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700"/>
              <a:buFont typeface="Calibri"/>
              <a:buNone/>
            </a:pPr>
            <a:r>
              <a:rPr b="0" i="1" lang="en-US" sz="7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Saint-Étienne Roanne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8"/>
          <p:cNvSpPr/>
          <p:nvPr/>
        </p:nvSpPr>
        <p:spPr>
          <a:xfrm>
            <a:off x="457200" y="384048"/>
            <a:ext cx="65836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4079"/>
              </a:buClr>
              <a:buSzPts val="2700"/>
              <a:buFont typeface="Calibri"/>
              <a:buNone/>
            </a:pPr>
            <a:r>
              <a:rPr b="1" i="0" lang="en-US" sz="270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Le RDUE en bref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8"/>
          <p:cNvSpPr/>
          <p:nvPr/>
        </p:nvSpPr>
        <p:spPr>
          <a:xfrm>
            <a:off x="457200" y="1417320"/>
            <a:ext cx="4709160" cy="4572000"/>
          </a:xfrm>
          <a:prstGeom prst="roundRect">
            <a:avLst>
              <a:gd fmla="val 1600" name="adj"/>
            </a:avLst>
          </a:prstGeom>
          <a:solidFill>
            <a:srgbClr val="F4F7FA"/>
          </a:solidFill>
          <a:ln cap="flat" cmpd="sng" w="12700">
            <a:solidFill>
              <a:srgbClr val="E1E9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166" name="Google Shape;166;p8"/>
          <p:cNvSpPr/>
          <p:nvPr/>
        </p:nvSpPr>
        <p:spPr>
          <a:xfrm>
            <a:off x="685800" y="1645920"/>
            <a:ext cx="425196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4079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Le texte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Clr>
                <a:srgbClr val="1A2733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Règlement (UE) 2023/1115 du 31 mai 2023, modifié par le règlement (UE) 2025/2650 du 19 décembre 2025 (JOUE du 23/12/2025, en vigueur le 26/12/2025). Il abroge le règlement bois RBUE (995/2010) à la date d'application.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Clr>
                <a:srgbClr val="004079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L'interdiction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Clr>
                <a:srgbClr val="1A2733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Interdire la mise sur le marché de l'UE — et l'exportation depuis l'UE — de produits ayant contribué à la déforestation ou à la dégradation des forêts après le 31/12/2020.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Clr>
                <a:srgbClr val="004079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La logique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Clr>
                <a:srgbClr val="1A2733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Ce n'est pas un label « vert » : c'est une condition d'accès au marché européen.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8"/>
          <p:cNvSpPr/>
          <p:nvPr/>
        </p:nvSpPr>
        <p:spPr>
          <a:xfrm>
            <a:off x="5349240" y="1417320"/>
            <a:ext cx="3337560" cy="2148840"/>
          </a:xfrm>
          <a:prstGeom prst="roundRect">
            <a:avLst>
              <a:gd fmla="val 3404" name="adj"/>
            </a:avLst>
          </a:prstGeom>
          <a:solidFill>
            <a:srgbClr val="004079"/>
          </a:solidFill>
          <a:ln cap="flat" cmpd="sng" w="12700">
            <a:solidFill>
              <a:srgbClr val="E1E9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168" name="Google Shape;168;p8"/>
          <p:cNvSpPr/>
          <p:nvPr/>
        </p:nvSpPr>
        <p:spPr>
          <a:xfrm>
            <a:off x="5349240" y="1737360"/>
            <a:ext cx="33375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Calibri"/>
              <a:buNone/>
            </a:pPr>
            <a:r>
              <a:rPr b="1" i="0" lang="en-US" sz="3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31/12/2020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8"/>
          <p:cNvSpPr/>
          <p:nvPr/>
        </p:nvSpPr>
        <p:spPr>
          <a:xfrm>
            <a:off x="5349240" y="2377440"/>
            <a:ext cx="3337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FC4E0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9FC4E0"/>
                </a:solidFill>
                <a:latin typeface="Calibri"/>
                <a:ea typeface="Calibri"/>
                <a:cs typeface="Calibri"/>
                <a:sym typeface="Calibri"/>
              </a:rPr>
              <a:t>DATE BUTOIR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8"/>
          <p:cNvSpPr/>
          <p:nvPr/>
        </p:nvSpPr>
        <p:spPr>
          <a:xfrm>
            <a:off x="5532120" y="2697480"/>
            <a:ext cx="2971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FE0EE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CFE0EE"/>
                </a:solidFill>
                <a:latin typeface="Calibri"/>
                <a:ea typeface="Calibri"/>
                <a:cs typeface="Calibri"/>
                <a:sym typeface="Calibri"/>
              </a:rPr>
              <a:t>Aucune déforestation postérieure n'est admise.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8"/>
          <p:cNvSpPr/>
          <p:nvPr/>
        </p:nvSpPr>
        <p:spPr>
          <a:xfrm>
            <a:off x="5349240" y="3840480"/>
            <a:ext cx="3337560" cy="2148840"/>
          </a:xfrm>
          <a:prstGeom prst="roundRect">
            <a:avLst>
              <a:gd fmla="val 3404" name="adj"/>
            </a:avLst>
          </a:prstGeom>
          <a:solidFill>
            <a:srgbClr val="EAF2F8"/>
          </a:solidFill>
          <a:ln cap="flat" cmpd="sng" w="12700">
            <a:solidFill>
              <a:srgbClr val="E1E9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172" name="Google Shape;172;p8"/>
          <p:cNvSpPr/>
          <p:nvPr/>
        </p:nvSpPr>
        <p:spPr>
          <a:xfrm>
            <a:off x="5349240" y="4160520"/>
            <a:ext cx="33375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4079"/>
              </a:buClr>
              <a:buSzPts val="3000"/>
              <a:buFont typeface="Calibri"/>
              <a:buNone/>
            </a:pPr>
            <a:r>
              <a:rPr b="1" i="0" lang="en-US" sz="300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30/12/2026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8"/>
          <p:cNvSpPr/>
          <p:nvPr/>
        </p:nvSpPr>
        <p:spPr>
          <a:xfrm>
            <a:off x="5349240" y="4800600"/>
            <a:ext cx="3337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92D2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092D2"/>
                </a:solidFill>
                <a:latin typeface="Calibri"/>
                <a:ea typeface="Calibri"/>
                <a:cs typeface="Calibri"/>
                <a:sym typeface="Calibri"/>
              </a:rPr>
              <a:t>APPLICATION DU SOCLE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8"/>
          <p:cNvSpPr/>
          <p:nvPr/>
        </p:nvSpPr>
        <p:spPr>
          <a:xfrm>
            <a:off x="5532120" y="5120640"/>
            <a:ext cx="2971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2733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Grandes &amp; moyennes entreprises (micro &amp; petites : 30/06/2027).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7FA"/>
        </a:solid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9"/>
          <p:cNvSpPr/>
          <p:nvPr/>
        </p:nvSpPr>
        <p:spPr>
          <a:xfrm>
            <a:off x="457200" y="6510528"/>
            <a:ext cx="5852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RDUE / EUDR  ·  Webinaire CCI Lyon Métropole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9"/>
          <p:cNvSpPr/>
          <p:nvPr/>
        </p:nvSpPr>
        <p:spPr>
          <a:xfrm>
            <a:off x="7955280" y="651052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7 / 34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9"/>
          <p:cNvSpPr/>
          <p:nvPr/>
        </p:nvSpPr>
        <p:spPr>
          <a:xfrm>
            <a:off x="7223760" y="292608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F337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DF337F"/>
                </a:solidFill>
                <a:latin typeface="Calibri"/>
                <a:ea typeface="Calibri"/>
                <a:cs typeface="Calibri"/>
                <a:sym typeface="Calibri"/>
              </a:rPr>
              <a:t>CCI</a:t>
            </a:r>
            <a:r>
              <a:rPr b="1" i="0" lang="en-US" sz="110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 LYON MÉTROPOLE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9"/>
          <p:cNvSpPr/>
          <p:nvPr/>
        </p:nvSpPr>
        <p:spPr>
          <a:xfrm>
            <a:off x="7223760" y="457200"/>
            <a:ext cx="1828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700"/>
              <a:buFont typeface="Calibri"/>
              <a:buNone/>
            </a:pPr>
            <a:r>
              <a:rPr b="0" i="1" lang="en-US" sz="7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Saint-Étienne Roanne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9"/>
          <p:cNvSpPr/>
          <p:nvPr/>
        </p:nvSpPr>
        <p:spPr>
          <a:xfrm>
            <a:off x="457200" y="384048"/>
            <a:ext cx="65836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4079"/>
              </a:buClr>
              <a:buSzPts val="2700"/>
              <a:buFont typeface="Calibri"/>
              <a:buNone/>
            </a:pPr>
            <a:r>
              <a:rPr b="1" i="0" lang="en-US" sz="270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Le point sur le calendrier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9"/>
          <p:cNvSpPr/>
          <p:nvPr/>
        </p:nvSpPr>
        <p:spPr>
          <a:xfrm>
            <a:off x="457200" y="987552"/>
            <a:ext cx="81381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Reporté d'un an par le règlement (UE) 2025/2650 — calendrier confirmé par la revue de simplification du 4 mai 2026.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9"/>
          <p:cNvSpPr/>
          <p:nvPr/>
        </p:nvSpPr>
        <p:spPr>
          <a:xfrm>
            <a:off x="457200" y="1463040"/>
            <a:ext cx="8229600" cy="777240"/>
          </a:xfrm>
          <a:prstGeom prst="roundRect">
            <a:avLst>
              <a:gd fmla="val 9412" name="adj"/>
            </a:avLst>
          </a:prstGeom>
          <a:solidFill>
            <a:srgbClr val="004079"/>
          </a:solidFill>
          <a:ln cap="flat" cmpd="sng" w="12700">
            <a:solidFill>
              <a:srgbClr val="E1E9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187" name="Google Shape;187;p9"/>
          <p:cNvSpPr/>
          <p:nvPr/>
        </p:nvSpPr>
        <p:spPr>
          <a:xfrm>
            <a:off x="658368" y="1572768"/>
            <a:ext cx="548640" cy="548640"/>
          </a:xfrm>
          <a:prstGeom prst="ellipse">
            <a:avLst/>
          </a:prstGeom>
          <a:solidFill>
            <a:srgbClr val="DF337F"/>
          </a:solidFill>
          <a:ln>
            <a:noFill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icons/calendar.png" id="188" name="Google Shape;188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90042" y="1704442"/>
            <a:ext cx="285293" cy="285293"/>
          </a:xfrm>
          <a:prstGeom prst="rect">
            <a:avLst/>
          </a:prstGeom>
          <a:noFill/>
          <a:ln>
            <a:noFill/>
          </a:ln>
        </p:spPr>
      </p:pic>
      <p:sp>
        <p:nvSpPr>
          <p:cNvPr id="189" name="Google Shape;189;p9"/>
          <p:cNvSpPr/>
          <p:nvPr/>
        </p:nvSpPr>
        <p:spPr>
          <a:xfrm>
            <a:off x="1371600" y="1463040"/>
            <a:ext cx="713232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Calibri"/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REPORT D'UN AN  </a:t>
            </a:r>
            <a:r>
              <a:rPr b="0" i="0" lang="en-US" sz="1200" u="none" cap="none" strike="noStrike">
                <a:solidFill>
                  <a:srgbClr val="CFE0EE"/>
                </a:solidFill>
                <a:latin typeface="Calibri"/>
                <a:ea typeface="Calibri"/>
                <a:cs typeface="Calibri"/>
                <a:sym typeface="Calibri"/>
              </a:rPr>
              <a:t>— l'échéance initiale (2025) est décalée à 2026/2027. Le 4 mai 2026, la Commission a confirmé qu'elle ne rouvrira pas le texte.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90" name="Google Shape;190;p9"/>
          <p:cNvCxnSpPr/>
          <p:nvPr/>
        </p:nvCxnSpPr>
        <p:spPr>
          <a:xfrm>
            <a:off x="640080" y="2834640"/>
            <a:ext cx="7863840" cy="0"/>
          </a:xfrm>
          <a:prstGeom prst="straightConnector1">
            <a:avLst/>
          </a:prstGeom>
          <a:noFill/>
          <a:ln cap="flat" cmpd="sng" w="25400">
            <a:solidFill>
              <a:srgbClr val="C4D3E0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91" name="Google Shape;191;p9"/>
          <p:cNvSpPr/>
          <p:nvPr/>
        </p:nvSpPr>
        <p:spPr>
          <a:xfrm>
            <a:off x="457200" y="2926080"/>
            <a:ext cx="1298448" cy="1600200"/>
          </a:xfrm>
          <a:prstGeom prst="roundRect">
            <a:avLst>
              <a:gd fmla="val 5634" name="adj"/>
            </a:avLst>
          </a:prstGeom>
          <a:solidFill>
            <a:srgbClr val="FFFFFF"/>
          </a:solidFill>
          <a:ln cap="flat" cmpd="sng" w="12700">
            <a:solidFill>
              <a:srgbClr val="E1E9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192" name="Google Shape;192;p9"/>
          <p:cNvSpPr/>
          <p:nvPr/>
        </p:nvSpPr>
        <p:spPr>
          <a:xfrm>
            <a:off x="987552" y="2724912"/>
            <a:ext cx="256032" cy="256032"/>
          </a:xfrm>
          <a:prstGeom prst="ellipse">
            <a:avLst/>
          </a:prstGeom>
          <a:solidFill>
            <a:srgbClr val="DF337F"/>
          </a:solidFill>
          <a:ln cap="flat" cmpd="sng" w="254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193" name="Google Shape;193;p9"/>
          <p:cNvSpPr/>
          <p:nvPr/>
        </p:nvSpPr>
        <p:spPr>
          <a:xfrm>
            <a:off x="457200" y="3054096"/>
            <a:ext cx="1298448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4079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26/12/2025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9"/>
          <p:cNvSpPr/>
          <p:nvPr/>
        </p:nvSpPr>
        <p:spPr>
          <a:xfrm>
            <a:off x="512064" y="3383280"/>
            <a:ext cx="11887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F337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DF337F"/>
                </a:solidFill>
                <a:latin typeface="Calibri"/>
                <a:ea typeface="Calibri"/>
                <a:cs typeface="Calibri"/>
                <a:sym typeface="Calibri"/>
              </a:rPr>
              <a:t>Modificatif en vigueur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9"/>
          <p:cNvSpPr/>
          <p:nvPr/>
        </p:nvSpPr>
        <p:spPr>
          <a:xfrm>
            <a:off x="530352" y="3858768"/>
            <a:ext cx="1152144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2733"/>
              </a:buClr>
              <a:buSzPts val="850"/>
              <a:buFont typeface="Calibri"/>
              <a:buNone/>
            </a:pPr>
            <a:r>
              <a:rPr b="0" i="0" lang="en-US" sz="950" u="none" cap="none" strike="noStrike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règl. 2025/2650 : report + simplifications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9"/>
          <p:cNvSpPr/>
          <p:nvPr/>
        </p:nvSpPr>
        <p:spPr>
          <a:xfrm>
            <a:off x="1847088" y="2926080"/>
            <a:ext cx="1298448" cy="1600200"/>
          </a:xfrm>
          <a:prstGeom prst="roundRect">
            <a:avLst>
              <a:gd fmla="val 5634" name="adj"/>
            </a:avLst>
          </a:prstGeom>
          <a:solidFill>
            <a:srgbClr val="FFFFFF"/>
          </a:solidFill>
          <a:ln cap="flat" cmpd="sng" w="12700">
            <a:solidFill>
              <a:srgbClr val="E1E9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197" name="Google Shape;197;p9"/>
          <p:cNvSpPr/>
          <p:nvPr/>
        </p:nvSpPr>
        <p:spPr>
          <a:xfrm>
            <a:off x="2377440" y="2724912"/>
            <a:ext cx="256032" cy="256032"/>
          </a:xfrm>
          <a:prstGeom prst="ellipse">
            <a:avLst/>
          </a:prstGeom>
          <a:solidFill>
            <a:srgbClr val="5F6B76"/>
          </a:solidFill>
          <a:ln cap="flat" cmpd="sng" w="254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198" name="Google Shape;198;p9"/>
          <p:cNvSpPr/>
          <p:nvPr/>
        </p:nvSpPr>
        <p:spPr>
          <a:xfrm>
            <a:off x="1847088" y="3054096"/>
            <a:ext cx="1298448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4079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fin juin 2026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9"/>
          <p:cNvSpPr/>
          <p:nvPr/>
        </p:nvSpPr>
        <p:spPr>
          <a:xfrm>
            <a:off x="1901952" y="3383280"/>
            <a:ext cx="11887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Système d'info. rouvert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9"/>
          <p:cNvSpPr/>
          <p:nvPr/>
        </p:nvSpPr>
        <p:spPr>
          <a:xfrm>
            <a:off x="1920240" y="3858768"/>
            <a:ext cx="1152144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2733"/>
              </a:buClr>
              <a:buSzPts val="850"/>
              <a:buFont typeface="Calibri"/>
              <a:buNone/>
            </a:pPr>
            <a:r>
              <a:rPr b="0" i="0" lang="en-US" sz="950" u="none" cap="none" strike="noStrike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dépôt des DDR (ex-TRACES)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9"/>
          <p:cNvSpPr/>
          <p:nvPr/>
        </p:nvSpPr>
        <p:spPr>
          <a:xfrm>
            <a:off x="3236976" y="2926080"/>
            <a:ext cx="1298448" cy="1600200"/>
          </a:xfrm>
          <a:prstGeom prst="roundRect">
            <a:avLst>
              <a:gd fmla="val 5634" name="adj"/>
            </a:avLst>
          </a:prstGeom>
          <a:solidFill>
            <a:srgbClr val="FFFFFF"/>
          </a:solidFill>
          <a:ln cap="flat" cmpd="sng" w="12700">
            <a:solidFill>
              <a:srgbClr val="E1E9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202" name="Google Shape;202;p9"/>
          <p:cNvSpPr/>
          <p:nvPr/>
        </p:nvSpPr>
        <p:spPr>
          <a:xfrm>
            <a:off x="3767328" y="2724912"/>
            <a:ext cx="256032" cy="256032"/>
          </a:xfrm>
          <a:prstGeom prst="ellipse">
            <a:avLst/>
          </a:prstGeom>
          <a:solidFill>
            <a:srgbClr val="0092D2"/>
          </a:solidFill>
          <a:ln cap="flat" cmpd="sng" w="254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203" name="Google Shape;203;p9"/>
          <p:cNvSpPr/>
          <p:nvPr/>
        </p:nvSpPr>
        <p:spPr>
          <a:xfrm>
            <a:off x="3236976" y="3054096"/>
            <a:ext cx="1298448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4079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13/07/2026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9"/>
          <p:cNvSpPr/>
          <p:nvPr/>
        </p:nvSpPr>
        <p:spPr>
          <a:xfrm>
            <a:off x="3291840" y="3383280"/>
            <a:ext cx="11887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92D2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0092D2"/>
                </a:solidFill>
                <a:latin typeface="Calibri"/>
                <a:ea typeface="Calibri"/>
                <a:cs typeface="Calibri"/>
                <a:sym typeface="Calibri"/>
              </a:rPr>
              <a:t>Acte délégué annexe I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9"/>
          <p:cNvSpPr/>
          <p:nvPr/>
        </p:nvSpPr>
        <p:spPr>
          <a:xfrm>
            <a:off x="3310128" y="3858768"/>
            <a:ext cx="1152144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2733"/>
              </a:buClr>
              <a:buSzPts val="850"/>
              <a:buFont typeface="Calibri"/>
              <a:buNone/>
            </a:pPr>
            <a:r>
              <a:rPr b="0" i="0" lang="en-US" sz="950" u="none" cap="none" strike="noStrike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+ règl. exéc. 2026/1565 (SI)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9"/>
          <p:cNvSpPr/>
          <p:nvPr/>
        </p:nvSpPr>
        <p:spPr>
          <a:xfrm>
            <a:off x="4626864" y="2926080"/>
            <a:ext cx="1298448" cy="1600200"/>
          </a:xfrm>
          <a:prstGeom prst="roundRect">
            <a:avLst>
              <a:gd fmla="val 5634" name="adj"/>
            </a:avLst>
          </a:prstGeom>
          <a:solidFill>
            <a:srgbClr val="FFFFFF"/>
          </a:solidFill>
          <a:ln cap="flat" cmpd="sng" w="12700">
            <a:solidFill>
              <a:srgbClr val="E1E9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207" name="Google Shape;207;p9"/>
          <p:cNvSpPr/>
          <p:nvPr/>
        </p:nvSpPr>
        <p:spPr>
          <a:xfrm>
            <a:off x="5157216" y="2724912"/>
            <a:ext cx="256032" cy="256032"/>
          </a:xfrm>
          <a:prstGeom prst="ellipse">
            <a:avLst/>
          </a:prstGeom>
          <a:solidFill>
            <a:srgbClr val="004079"/>
          </a:solidFill>
          <a:ln cap="flat" cmpd="sng" w="254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208" name="Google Shape;208;p9"/>
          <p:cNvSpPr/>
          <p:nvPr/>
        </p:nvSpPr>
        <p:spPr>
          <a:xfrm>
            <a:off x="4626864" y="3054096"/>
            <a:ext cx="1298448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4079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30/12/2026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9"/>
          <p:cNvSpPr/>
          <p:nvPr/>
        </p:nvSpPr>
        <p:spPr>
          <a:xfrm>
            <a:off x="4681728" y="3383280"/>
            <a:ext cx="11887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4079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Socle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9"/>
          <p:cNvSpPr/>
          <p:nvPr/>
        </p:nvSpPr>
        <p:spPr>
          <a:xfrm>
            <a:off x="4700016" y="3858768"/>
            <a:ext cx="1152144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2733"/>
              </a:buClr>
              <a:buSzPts val="850"/>
              <a:buFont typeface="Calibri"/>
              <a:buNone/>
            </a:pPr>
            <a:r>
              <a:rPr b="0" i="0" lang="en-US" sz="950" u="none" cap="none" strike="noStrike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grandes &amp; moyennes ent.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9"/>
          <p:cNvSpPr/>
          <p:nvPr/>
        </p:nvSpPr>
        <p:spPr>
          <a:xfrm>
            <a:off x="6016752" y="2926080"/>
            <a:ext cx="1298448" cy="1600200"/>
          </a:xfrm>
          <a:prstGeom prst="roundRect">
            <a:avLst>
              <a:gd fmla="val 5634" name="adj"/>
            </a:avLst>
          </a:prstGeom>
          <a:solidFill>
            <a:srgbClr val="FFFFFF"/>
          </a:solidFill>
          <a:ln cap="flat" cmpd="sng" w="12700">
            <a:solidFill>
              <a:srgbClr val="E1E9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212" name="Google Shape;212;p9"/>
          <p:cNvSpPr/>
          <p:nvPr/>
        </p:nvSpPr>
        <p:spPr>
          <a:xfrm>
            <a:off x="6547104" y="2724912"/>
            <a:ext cx="256032" cy="256032"/>
          </a:xfrm>
          <a:prstGeom prst="ellipse">
            <a:avLst/>
          </a:prstGeom>
          <a:solidFill>
            <a:srgbClr val="00A49F"/>
          </a:solidFill>
          <a:ln cap="flat" cmpd="sng" w="254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213" name="Google Shape;213;p9"/>
          <p:cNvSpPr/>
          <p:nvPr/>
        </p:nvSpPr>
        <p:spPr>
          <a:xfrm>
            <a:off x="6016752" y="3054096"/>
            <a:ext cx="1298448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4079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30/06/2027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9"/>
          <p:cNvSpPr/>
          <p:nvPr/>
        </p:nvSpPr>
        <p:spPr>
          <a:xfrm>
            <a:off x="6071616" y="3383280"/>
            <a:ext cx="11887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A49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00A49F"/>
                </a:solidFill>
                <a:latin typeface="Calibri"/>
                <a:ea typeface="Calibri"/>
                <a:cs typeface="Calibri"/>
                <a:sym typeface="Calibri"/>
              </a:rPr>
              <a:t>Micro &amp; petites ent.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9"/>
          <p:cNvSpPr/>
          <p:nvPr/>
        </p:nvSpPr>
        <p:spPr>
          <a:xfrm>
            <a:off x="6089904" y="3858768"/>
            <a:ext cx="1152144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2733"/>
              </a:buClr>
              <a:buSzPts val="850"/>
              <a:buFont typeface="Calibri"/>
              <a:buNone/>
            </a:pPr>
            <a:r>
              <a:rPr b="0" i="0" lang="en-US" sz="950" u="none" cap="none" strike="noStrike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fin du report TPE/PE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9"/>
          <p:cNvSpPr/>
          <p:nvPr/>
        </p:nvSpPr>
        <p:spPr>
          <a:xfrm>
            <a:off x="7406640" y="2926080"/>
            <a:ext cx="1298448" cy="1600200"/>
          </a:xfrm>
          <a:prstGeom prst="roundRect">
            <a:avLst>
              <a:gd fmla="val 5634" name="adj"/>
            </a:avLst>
          </a:prstGeom>
          <a:solidFill>
            <a:srgbClr val="FFFFFF"/>
          </a:solidFill>
          <a:ln cap="flat" cmpd="sng" w="12700">
            <a:solidFill>
              <a:srgbClr val="E1E9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217" name="Google Shape;217;p9"/>
          <p:cNvSpPr/>
          <p:nvPr/>
        </p:nvSpPr>
        <p:spPr>
          <a:xfrm>
            <a:off x="7936992" y="2724912"/>
            <a:ext cx="256032" cy="256032"/>
          </a:xfrm>
          <a:prstGeom prst="ellipse">
            <a:avLst/>
          </a:prstGeom>
          <a:solidFill>
            <a:srgbClr val="F18700"/>
          </a:solidFill>
          <a:ln cap="flat" cmpd="sng" w="254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218" name="Google Shape;218;p9"/>
          <p:cNvSpPr/>
          <p:nvPr/>
        </p:nvSpPr>
        <p:spPr>
          <a:xfrm>
            <a:off x="7406640" y="3054096"/>
            <a:ext cx="1298448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4079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30/12/2027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9"/>
          <p:cNvSpPr/>
          <p:nvPr/>
        </p:nvSpPr>
        <p:spPr>
          <a:xfrm>
            <a:off x="7461504" y="3383280"/>
            <a:ext cx="11887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18700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18700"/>
                </a:solidFill>
                <a:latin typeface="Calibri"/>
                <a:ea typeface="Calibri"/>
                <a:cs typeface="Calibri"/>
                <a:sym typeface="Calibri"/>
              </a:rPr>
              <a:t>Nouveaux produits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9"/>
          <p:cNvSpPr/>
          <p:nvPr/>
        </p:nvSpPr>
        <p:spPr>
          <a:xfrm>
            <a:off x="7479792" y="3858768"/>
            <a:ext cx="1152144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2733"/>
              </a:buClr>
              <a:buSzPts val="850"/>
              <a:buFont typeface="Calibri"/>
              <a:buNone/>
            </a:pPr>
            <a:r>
              <a:rPr b="0" i="0" lang="en-US" sz="950" u="none" cap="none" strike="noStrike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ajouts annexe I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9"/>
          <p:cNvSpPr/>
          <p:nvPr/>
        </p:nvSpPr>
        <p:spPr>
          <a:xfrm>
            <a:off x="457200" y="484632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F337F"/>
              </a:buClr>
              <a:buSzPts val="1200"/>
              <a:buFont typeface="Calibri"/>
              <a:buNone/>
            </a:pPr>
            <a:r>
              <a:rPr b="1" i="1" lang="en-US" sz="1200" u="none" cap="none" strike="noStrike">
                <a:solidFill>
                  <a:srgbClr val="DF337F"/>
                </a:solidFill>
                <a:latin typeface="Calibri"/>
                <a:ea typeface="Calibri"/>
                <a:cs typeface="Calibri"/>
                <a:sym typeface="Calibri"/>
              </a:rPr>
              <a:t>Reporté n'est pas supprimé — la date butoir du 31/12/2020 est inchangée ; la traçabilité jusqu'à la parcelle se prépare dès maintenant.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4079"/>
        </a:solidFill>
      </p:bgPr>
    </p:bg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0"/>
          <p:cNvSpPr/>
          <p:nvPr/>
        </p:nvSpPr>
        <p:spPr>
          <a:xfrm>
            <a:off x="7040880" y="292608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F337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DF337F"/>
                </a:solidFill>
                <a:latin typeface="Calibri"/>
                <a:ea typeface="Calibri"/>
                <a:cs typeface="Calibri"/>
                <a:sym typeface="Calibri"/>
              </a:rPr>
              <a:t>CCI</a:t>
            </a:r>
            <a:r>
              <a:rPr b="1" i="0" lang="en-US" sz="110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 LYON MÉTROPOLE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10"/>
          <p:cNvSpPr/>
          <p:nvPr/>
        </p:nvSpPr>
        <p:spPr>
          <a:xfrm>
            <a:off x="7040880" y="457200"/>
            <a:ext cx="1828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700"/>
              <a:buFont typeface="Calibri"/>
              <a:buNone/>
            </a:pPr>
            <a:r>
              <a:rPr b="0" i="1" lang="en-US" sz="7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Saint-Étienne Roanne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10"/>
          <p:cNvSpPr/>
          <p:nvPr/>
        </p:nvSpPr>
        <p:spPr>
          <a:xfrm>
            <a:off x="-1463040" y="3840480"/>
            <a:ext cx="4572000" cy="4572000"/>
          </a:xfrm>
          <a:prstGeom prst="ellipse">
            <a:avLst/>
          </a:prstGeom>
          <a:solidFill>
            <a:srgbClr val="00305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230" name="Google Shape;230;p10"/>
          <p:cNvSpPr/>
          <p:nvPr/>
        </p:nvSpPr>
        <p:spPr>
          <a:xfrm>
            <a:off x="640080" y="1417320"/>
            <a:ext cx="5943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F337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DF337F"/>
                </a:solidFill>
                <a:latin typeface="Calibri"/>
                <a:ea typeface="Calibri"/>
                <a:cs typeface="Calibri"/>
                <a:sym typeface="Calibri"/>
              </a:rPr>
              <a:t>PARTIE I</a:t>
            </a:r>
            <a:r>
              <a:rPr b="1" i="0" lang="en-US" sz="1400" u="none" cap="none" strike="noStrike">
                <a:solidFill>
                  <a:srgbClr val="9FC4E0"/>
                </a:solidFill>
                <a:latin typeface="Calibri"/>
                <a:ea typeface="Calibri"/>
                <a:cs typeface="Calibri"/>
                <a:sym typeface="Calibri"/>
              </a:rPr>
              <a:t>    ·    20 min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10"/>
          <p:cNvSpPr/>
          <p:nvPr/>
        </p:nvSpPr>
        <p:spPr>
          <a:xfrm>
            <a:off x="594360" y="1828800"/>
            <a:ext cx="54864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400"/>
              <a:buFont typeface="Calibri"/>
              <a:buNone/>
            </a:pPr>
            <a:r>
              <a:rPr b="1" i="0" lang="en-US" sz="3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Êtes-vous concernés ?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10"/>
          <p:cNvSpPr/>
          <p:nvPr/>
        </p:nvSpPr>
        <p:spPr>
          <a:xfrm>
            <a:off x="685800" y="3566160"/>
            <a:ext cx="5486400" cy="2560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E6F0F8"/>
              </a:buClr>
              <a:buSzPts val="1400"/>
              <a:buFont typeface="Calibri"/>
              <a:buChar char="•"/>
            </a:pPr>
            <a:r>
              <a:rPr b="0" i="0" lang="en-US" sz="1400" u="none" cap="none" strike="noStrike">
                <a:solidFill>
                  <a:srgbClr val="E6F0F8"/>
                </a:solidFill>
                <a:latin typeface="Calibri"/>
                <a:ea typeface="Calibri"/>
                <a:cs typeface="Calibri"/>
                <a:sym typeface="Calibri"/>
              </a:rPr>
              <a:t>Les produits visés : 7 matières + dérivés (annexe I)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900"/>
              </a:spcBef>
              <a:spcAft>
                <a:spcPts val="0"/>
              </a:spcAft>
              <a:buClr>
                <a:srgbClr val="E6F0F8"/>
              </a:buClr>
              <a:buSzPts val="1400"/>
              <a:buFont typeface="Calibri"/>
              <a:buChar char="•"/>
            </a:pPr>
            <a:r>
              <a:rPr b="0" i="0" lang="en-US" sz="1400" u="none" cap="none" strike="noStrike">
                <a:solidFill>
                  <a:srgbClr val="E6F0F8"/>
                </a:solidFill>
                <a:latin typeface="Calibri"/>
                <a:ea typeface="Calibri"/>
                <a:cs typeface="Calibri"/>
                <a:sym typeface="Calibri"/>
              </a:rPr>
              <a:t>Définitions clés : zéro déforestation &amp; légalité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900"/>
              </a:spcBef>
              <a:spcAft>
                <a:spcPts val="0"/>
              </a:spcAft>
              <a:buClr>
                <a:srgbClr val="E6F0F8"/>
              </a:buClr>
              <a:buSzPts val="1400"/>
              <a:buFont typeface="Calibri"/>
              <a:buChar char="•"/>
            </a:pPr>
            <a:r>
              <a:rPr b="0" i="0" lang="en-US" sz="1400" u="none" cap="none" strike="noStrike">
                <a:solidFill>
                  <a:srgbClr val="E6F0F8"/>
                </a:solidFill>
                <a:latin typeface="Calibri"/>
                <a:ea typeface="Calibri"/>
                <a:cs typeface="Calibri"/>
                <a:sym typeface="Calibri"/>
              </a:rPr>
              <a:t>Acteurs &amp; responsabilités : opérateur, aval, commerçant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900"/>
              </a:spcBef>
              <a:spcAft>
                <a:spcPts val="0"/>
              </a:spcAft>
              <a:buClr>
                <a:srgbClr val="E6F0F8"/>
              </a:buClr>
              <a:buSzPts val="1400"/>
              <a:buFont typeface="Calibri"/>
              <a:buChar char="•"/>
            </a:pPr>
            <a:r>
              <a:rPr b="0" i="0" lang="en-US" sz="1400" u="none" cap="none" strike="noStrike">
                <a:solidFill>
                  <a:srgbClr val="E6F0F8"/>
                </a:solidFill>
                <a:latin typeface="Calibri"/>
                <a:ea typeface="Calibri"/>
                <a:cs typeface="Calibri"/>
                <a:sym typeface="Calibri"/>
              </a:rPr>
              <a:t>Le calendrier &amp; l'évolution de l'annexe I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10"/>
          <p:cNvSpPr/>
          <p:nvPr/>
        </p:nvSpPr>
        <p:spPr>
          <a:xfrm>
            <a:off x="6446520" y="1645920"/>
            <a:ext cx="2240280" cy="731520"/>
          </a:xfrm>
          <a:prstGeom prst="roundRect">
            <a:avLst>
              <a:gd fmla="val 7500" name="adj"/>
            </a:avLst>
          </a:prstGeom>
          <a:solidFill>
            <a:srgbClr val="063A6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234" name="Google Shape;234;p10"/>
          <p:cNvSpPr/>
          <p:nvPr/>
        </p:nvSpPr>
        <p:spPr>
          <a:xfrm>
            <a:off x="6583680" y="1773936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FB4DB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7FB4DB"/>
                </a:solidFill>
                <a:latin typeface="Calibri"/>
                <a:ea typeface="Calibri"/>
                <a:cs typeface="Calibri"/>
                <a:sym typeface="Calibri"/>
              </a:rPr>
              <a:t>IN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10"/>
          <p:cNvSpPr/>
          <p:nvPr/>
        </p:nvSpPr>
        <p:spPr>
          <a:xfrm>
            <a:off x="7086600" y="1700784"/>
            <a:ext cx="150876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FE0EE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FE0EE"/>
                </a:solidFill>
                <a:latin typeface="Calibri"/>
                <a:ea typeface="Calibri"/>
                <a:cs typeface="Calibri"/>
                <a:sym typeface="Calibri"/>
              </a:rPr>
              <a:t>Contexte &amp; enjeux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10"/>
          <p:cNvSpPr/>
          <p:nvPr/>
        </p:nvSpPr>
        <p:spPr>
          <a:xfrm>
            <a:off x="6446520" y="2514600"/>
            <a:ext cx="2240280" cy="731520"/>
          </a:xfrm>
          <a:prstGeom prst="roundRect">
            <a:avLst>
              <a:gd fmla="val 7500" name="adj"/>
            </a:avLst>
          </a:prstGeom>
          <a:solidFill>
            <a:srgbClr val="DF337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237" name="Google Shape;237;p10"/>
          <p:cNvSpPr/>
          <p:nvPr/>
        </p:nvSpPr>
        <p:spPr>
          <a:xfrm>
            <a:off x="6583680" y="2642616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10"/>
          <p:cNvSpPr/>
          <p:nvPr/>
        </p:nvSpPr>
        <p:spPr>
          <a:xfrm>
            <a:off x="7086600" y="2569464"/>
            <a:ext cx="150876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Êtes-vous concernés ?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10"/>
          <p:cNvSpPr/>
          <p:nvPr/>
        </p:nvSpPr>
        <p:spPr>
          <a:xfrm>
            <a:off x="6446520" y="3383280"/>
            <a:ext cx="2240280" cy="731520"/>
          </a:xfrm>
          <a:prstGeom prst="roundRect">
            <a:avLst>
              <a:gd fmla="val 7500" name="adj"/>
            </a:avLst>
          </a:prstGeom>
          <a:solidFill>
            <a:srgbClr val="063A6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240" name="Google Shape;240;p10"/>
          <p:cNvSpPr/>
          <p:nvPr/>
        </p:nvSpPr>
        <p:spPr>
          <a:xfrm>
            <a:off x="6583680" y="3511296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FB4DB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7FB4DB"/>
                </a:solidFill>
                <a:latin typeface="Calibri"/>
                <a:ea typeface="Calibri"/>
                <a:cs typeface="Calibri"/>
                <a:sym typeface="Calibri"/>
              </a:rPr>
              <a:t>II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10"/>
          <p:cNvSpPr/>
          <p:nvPr/>
        </p:nvSpPr>
        <p:spPr>
          <a:xfrm>
            <a:off x="7086600" y="3438144"/>
            <a:ext cx="150876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FE0EE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FE0EE"/>
                </a:solidFill>
                <a:latin typeface="Calibri"/>
                <a:ea typeface="Calibri"/>
                <a:cs typeface="Calibri"/>
                <a:sym typeface="Calibri"/>
              </a:rPr>
              <a:t>La diligence raisonnée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10"/>
          <p:cNvSpPr/>
          <p:nvPr/>
        </p:nvSpPr>
        <p:spPr>
          <a:xfrm>
            <a:off x="6446520" y="4251960"/>
            <a:ext cx="2240280" cy="731520"/>
          </a:xfrm>
          <a:prstGeom prst="roundRect">
            <a:avLst>
              <a:gd fmla="val 7500" name="adj"/>
            </a:avLst>
          </a:prstGeom>
          <a:solidFill>
            <a:srgbClr val="063A6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243" name="Google Shape;243;p10"/>
          <p:cNvSpPr/>
          <p:nvPr/>
        </p:nvSpPr>
        <p:spPr>
          <a:xfrm>
            <a:off x="6583680" y="4379976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FB4DB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7FB4DB"/>
                </a:solidFill>
                <a:latin typeface="Calibri"/>
                <a:ea typeface="Calibri"/>
                <a:cs typeface="Calibri"/>
                <a:sym typeface="Calibri"/>
              </a:rPr>
              <a:t>III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10"/>
          <p:cNvSpPr/>
          <p:nvPr/>
        </p:nvSpPr>
        <p:spPr>
          <a:xfrm>
            <a:off x="7086600" y="4306824"/>
            <a:ext cx="150876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FE0EE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FE0EE"/>
                </a:solidFill>
                <a:latin typeface="Calibri"/>
                <a:ea typeface="Calibri"/>
                <a:cs typeface="Calibri"/>
                <a:sym typeface="Calibri"/>
              </a:rPr>
              <a:t>Mise en œuvre &amp; formalités douanières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10"/>
          <p:cNvSpPr/>
          <p:nvPr/>
        </p:nvSpPr>
        <p:spPr>
          <a:xfrm>
            <a:off x="6446520" y="5120640"/>
            <a:ext cx="2240280" cy="731520"/>
          </a:xfrm>
          <a:prstGeom prst="roundRect">
            <a:avLst>
              <a:gd fmla="val 7500" name="adj"/>
            </a:avLst>
          </a:prstGeom>
          <a:solidFill>
            <a:srgbClr val="063A6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246" name="Google Shape;246;p10"/>
          <p:cNvSpPr/>
          <p:nvPr/>
        </p:nvSpPr>
        <p:spPr>
          <a:xfrm>
            <a:off x="6583680" y="5248656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FB4DB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7FB4DB"/>
                </a:solidFill>
                <a:latin typeface="Calibri"/>
                <a:ea typeface="Calibri"/>
                <a:cs typeface="Calibri"/>
                <a:sym typeface="Calibri"/>
              </a:rPr>
              <a:t>IV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10"/>
          <p:cNvSpPr/>
          <p:nvPr/>
        </p:nvSpPr>
        <p:spPr>
          <a:xfrm>
            <a:off x="7086600" y="5175504"/>
            <a:ext cx="150876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FE0EE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FE0EE"/>
                </a:solidFill>
                <a:latin typeface="Calibri"/>
                <a:ea typeface="Calibri"/>
                <a:cs typeface="Calibri"/>
                <a:sym typeface="Calibri"/>
              </a:rPr>
              <a:t>Bonnes pratiques &amp; conseils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11"/>
          <p:cNvSpPr/>
          <p:nvPr/>
        </p:nvSpPr>
        <p:spPr>
          <a:xfrm>
            <a:off x="457200" y="6510528"/>
            <a:ext cx="5852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RDUE / EUDR  ·  Webinaire CCI Lyon Métropole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11"/>
          <p:cNvSpPr/>
          <p:nvPr/>
        </p:nvSpPr>
        <p:spPr>
          <a:xfrm>
            <a:off x="7955280" y="651052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9 / 34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11"/>
          <p:cNvSpPr/>
          <p:nvPr/>
        </p:nvSpPr>
        <p:spPr>
          <a:xfrm>
            <a:off x="7223760" y="292608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F337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DF337F"/>
                </a:solidFill>
                <a:latin typeface="Calibri"/>
                <a:ea typeface="Calibri"/>
                <a:cs typeface="Calibri"/>
                <a:sym typeface="Calibri"/>
              </a:rPr>
              <a:t>CCI</a:t>
            </a:r>
            <a:r>
              <a:rPr b="1" i="0" lang="en-US" sz="110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 LYON MÉTROPOLE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11"/>
          <p:cNvSpPr/>
          <p:nvPr/>
        </p:nvSpPr>
        <p:spPr>
          <a:xfrm>
            <a:off x="7223760" y="457200"/>
            <a:ext cx="1828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700"/>
              <a:buFont typeface="Calibri"/>
              <a:buNone/>
            </a:pPr>
            <a:r>
              <a:rPr b="0" i="1" lang="en-US" sz="7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Saint-Étienne Roanne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11"/>
          <p:cNvSpPr/>
          <p:nvPr/>
        </p:nvSpPr>
        <p:spPr>
          <a:xfrm>
            <a:off x="457200" y="384048"/>
            <a:ext cx="65836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4079"/>
              </a:buClr>
              <a:buSzPts val="2700"/>
              <a:buFont typeface="Calibri"/>
              <a:buNone/>
            </a:pPr>
            <a:r>
              <a:rPr b="1" i="0" lang="en-US" sz="270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Les 7 matières premières — Annexe I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11"/>
          <p:cNvSpPr/>
          <p:nvPr/>
        </p:nvSpPr>
        <p:spPr>
          <a:xfrm>
            <a:off x="457200" y="987552"/>
            <a:ext cx="81381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Un produit est concerné s'il figure à l'annexe I ET contient l'une de ces matières.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11"/>
          <p:cNvSpPr/>
          <p:nvPr/>
        </p:nvSpPr>
        <p:spPr>
          <a:xfrm>
            <a:off x="502920" y="1508760"/>
            <a:ext cx="1920240" cy="2148840"/>
          </a:xfrm>
          <a:prstGeom prst="roundRect">
            <a:avLst>
              <a:gd fmla="val 3810" name="adj"/>
            </a:avLst>
          </a:prstGeom>
          <a:solidFill>
            <a:srgbClr val="FFFFFF"/>
          </a:solidFill>
          <a:ln cap="flat" cmpd="sng" w="12700">
            <a:solidFill>
              <a:srgbClr val="E1E9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icons/broch_cafe.png" id="260" name="Google Shape;260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05840" y="1691640"/>
            <a:ext cx="914400" cy="1051560"/>
          </a:xfrm>
          <a:prstGeom prst="rect">
            <a:avLst/>
          </a:prstGeom>
          <a:noFill/>
          <a:ln>
            <a:noFill/>
          </a:ln>
        </p:spPr>
      </p:pic>
      <p:sp>
        <p:nvSpPr>
          <p:cNvPr id="261" name="Google Shape;261;p11"/>
          <p:cNvSpPr/>
          <p:nvPr/>
        </p:nvSpPr>
        <p:spPr>
          <a:xfrm>
            <a:off x="502920" y="2834640"/>
            <a:ext cx="19202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4079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Café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11"/>
          <p:cNvSpPr/>
          <p:nvPr/>
        </p:nvSpPr>
        <p:spPr>
          <a:xfrm>
            <a:off x="502920" y="3200400"/>
            <a:ext cx="19202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NC 0901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11"/>
          <p:cNvSpPr/>
          <p:nvPr/>
        </p:nvSpPr>
        <p:spPr>
          <a:xfrm>
            <a:off x="2587752" y="1508760"/>
            <a:ext cx="1920240" cy="2148840"/>
          </a:xfrm>
          <a:prstGeom prst="roundRect">
            <a:avLst>
              <a:gd fmla="val 3810" name="adj"/>
            </a:avLst>
          </a:prstGeom>
          <a:solidFill>
            <a:srgbClr val="FFFFFF"/>
          </a:solidFill>
          <a:ln cap="flat" cmpd="sng" w="12700">
            <a:solidFill>
              <a:srgbClr val="E1E9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icons/broch_cacao.png" id="264" name="Google Shape;264;p1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090672" y="1691640"/>
            <a:ext cx="914400" cy="1051560"/>
          </a:xfrm>
          <a:prstGeom prst="rect">
            <a:avLst/>
          </a:prstGeom>
          <a:noFill/>
          <a:ln>
            <a:noFill/>
          </a:ln>
        </p:spPr>
      </p:pic>
      <p:sp>
        <p:nvSpPr>
          <p:cNvPr id="265" name="Google Shape;265;p11"/>
          <p:cNvSpPr/>
          <p:nvPr/>
        </p:nvSpPr>
        <p:spPr>
          <a:xfrm>
            <a:off x="2587752" y="2834640"/>
            <a:ext cx="19202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4079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Cacao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11"/>
          <p:cNvSpPr/>
          <p:nvPr/>
        </p:nvSpPr>
        <p:spPr>
          <a:xfrm>
            <a:off x="2587752" y="3200400"/>
            <a:ext cx="19202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NC 1801→1806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11"/>
          <p:cNvSpPr/>
          <p:nvPr/>
        </p:nvSpPr>
        <p:spPr>
          <a:xfrm>
            <a:off x="4672584" y="1508760"/>
            <a:ext cx="1920240" cy="2148840"/>
          </a:xfrm>
          <a:prstGeom prst="roundRect">
            <a:avLst>
              <a:gd fmla="val 3810" name="adj"/>
            </a:avLst>
          </a:prstGeom>
          <a:solidFill>
            <a:srgbClr val="FFFFFF"/>
          </a:solidFill>
          <a:ln cap="flat" cmpd="sng" w="12700">
            <a:solidFill>
              <a:srgbClr val="E1E9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icons/broch_caoutchouc.png" id="268" name="Google Shape;268;p1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175504" y="1691640"/>
            <a:ext cx="914400" cy="1051560"/>
          </a:xfrm>
          <a:prstGeom prst="rect">
            <a:avLst/>
          </a:prstGeom>
          <a:noFill/>
          <a:ln>
            <a:noFill/>
          </a:ln>
        </p:spPr>
      </p:pic>
      <p:sp>
        <p:nvSpPr>
          <p:cNvPr id="269" name="Google Shape;269;p11"/>
          <p:cNvSpPr/>
          <p:nvPr/>
        </p:nvSpPr>
        <p:spPr>
          <a:xfrm>
            <a:off x="4672584" y="2834640"/>
            <a:ext cx="19202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4079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Caoutchouc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11"/>
          <p:cNvSpPr/>
          <p:nvPr/>
        </p:nvSpPr>
        <p:spPr>
          <a:xfrm>
            <a:off x="4672584" y="3200400"/>
            <a:ext cx="19202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NC 4001→4017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11"/>
          <p:cNvSpPr/>
          <p:nvPr/>
        </p:nvSpPr>
        <p:spPr>
          <a:xfrm>
            <a:off x="6757416" y="1508760"/>
            <a:ext cx="1920240" cy="2148840"/>
          </a:xfrm>
          <a:prstGeom prst="roundRect">
            <a:avLst>
              <a:gd fmla="val 3810" name="adj"/>
            </a:avLst>
          </a:prstGeom>
          <a:solidFill>
            <a:srgbClr val="FFFFFF"/>
          </a:solidFill>
          <a:ln cap="flat" cmpd="sng" w="12700">
            <a:solidFill>
              <a:srgbClr val="E1E9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icons/broch_soja.png" id="272" name="Google Shape;272;p11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7260336" y="1691640"/>
            <a:ext cx="914400" cy="1051560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11"/>
          <p:cNvSpPr/>
          <p:nvPr/>
        </p:nvSpPr>
        <p:spPr>
          <a:xfrm>
            <a:off x="6757416" y="2834640"/>
            <a:ext cx="19202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4079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Soja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11"/>
          <p:cNvSpPr/>
          <p:nvPr/>
        </p:nvSpPr>
        <p:spPr>
          <a:xfrm>
            <a:off x="6757416" y="3200400"/>
            <a:ext cx="19202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NC 1201·1507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11"/>
          <p:cNvSpPr/>
          <p:nvPr/>
        </p:nvSpPr>
        <p:spPr>
          <a:xfrm>
            <a:off x="502920" y="3886200"/>
            <a:ext cx="2606040" cy="868680"/>
          </a:xfrm>
          <a:prstGeom prst="roundRect">
            <a:avLst>
              <a:gd fmla="val 8421" name="adj"/>
            </a:avLst>
          </a:prstGeom>
          <a:solidFill>
            <a:srgbClr val="FFFFFF"/>
          </a:solidFill>
          <a:ln cap="flat" cmpd="sng" w="12700">
            <a:solidFill>
              <a:srgbClr val="E1E9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276" name="Google Shape;276;p11"/>
          <p:cNvSpPr/>
          <p:nvPr/>
        </p:nvSpPr>
        <p:spPr>
          <a:xfrm>
            <a:off x="667512" y="4069080"/>
            <a:ext cx="502920" cy="502920"/>
          </a:xfrm>
          <a:prstGeom prst="ellipse">
            <a:avLst/>
          </a:prstGeom>
          <a:solidFill>
            <a:srgbClr val="F18700"/>
          </a:solidFill>
          <a:ln>
            <a:noFill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icons/palm.png" id="277" name="Google Shape;277;p11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788213" y="4189781"/>
            <a:ext cx="261518" cy="261518"/>
          </a:xfrm>
          <a:prstGeom prst="rect">
            <a:avLst/>
          </a:prstGeom>
          <a:noFill/>
          <a:ln>
            <a:noFill/>
          </a:ln>
        </p:spPr>
      </p:pic>
      <p:sp>
        <p:nvSpPr>
          <p:cNvPr id="278" name="Google Shape;278;p11"/>
          <p:cNvSpPr/>
          <p:nvPr/>
        </p:nvSpPr>
        <p:spPr>
          <a:xfrm>
            <a:off x="1280160" y="3995928"/>
            <a:ext cx="17373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4079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Huile de palme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11"/>
          <p:cNvSpPr/>
          <p:nvPr/>
        </p:nvSpPr>
        <p:spPr>
          <a:xfrm>
            <a:off x="1280160" y="4343400"/>
            <a:ext cx="17373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NC 1511·1513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11"/>
          <p:cNvSpPr/>
          <p:nvPr/>
        </p:nvSpPr>
        <p:spPr>
          <a:xfrm>
            <a:off x="3291840" y="3886200"/>
            <a:ext cx="2606040" cy="868680"/>
          </a:xfrm>
          <a:prstGeom prst="roundRect">
            <a:avLst>
              <a:gd fmla="val 8421" name="adj"/>
            </a:avLst>
          </a:prstGeom>
          <a:solidFill>
            <a:srgbClr val="FFFFFF"/>
          </a:solidFill>
          <a:ln cap="flat" cmpd="sng" w="12700">
            <a:solidFill>
              <a:srgbClr val="E1E9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281" name="Google Shape;281;p11"/>
          <p:cNvSpPr/>
          <p:nvPr/>
        </p:nvSpPr>
        <p:spPr>
          <a:xfrm>
            <a:off x="3456432" y="4069080"/>
            <a:ext cx="502920" cy="502920"/>
          </a:xfrm>
          <a:prstGeom prst="ellipse">
            <a:avLst/>
          </a:prstGeom>
          <a:solidFill>
            <a:srgbClr val="D8232A"/>
          </a:solidFill>
          <a:ln>
            <a:noFill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icons/cow.png" id="282" name="Google Shape;282;p11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3577133" y="4189781"/>
            <a:ext cx="261518" cy="261518"/>
          </a:xfrm>
          <a:prstGeom prst="rect">
            <a:avLst/>
          </a:prstGeom>
          <a:noFill/>
          <a:ln>
            <a:noFill/>
          </a:ln>
        </p:spPr>
      </p:pic>
      <p:sp>
        <p:nvSpPr>
          <p:cNvPr id="283" name="Google Shape;283;p11"/>
          <p:cNvSpPr/>
          <p:nvPr/>
        </p:nvSpPr>
        <p:spPr>
          <a:xfrm>
            <a:off x="4069080" y="3995928"/>
            <a:ext cx="17373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4079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Bœuf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11"/>
          <p:cNvSpPr/>
          <p:nvPr/>
        </p:nvSpPr>
        <p:spPr>
          <a:xfrm>
            <a:off x="4069080" y="4343400"/>
            <a:ext cx="17373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NC 0102·0201 (cuir : exclu*)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11"/>
          <p:cNvSpPr/>
          <p:nvPr/>
        </p:nvSpPr>
        <p:spPr>
          <a:xfrm>
            <a:off x="6080760" y="3886200"/>
            <a:ext cx="2606040" cy="868680"/>
          </a:xfrm>
          <a:prstGeom prst="roundRect">
            <a:avLst>
              <a:gd fmla="val 8421" name="adj"/>
            </a:avLst>
          </a:prstGeom>
          <a:solidFill>
            <a:srgbClr val="FFFFFF"/>
          </a:solidFill>
          <a:ln cap="flat" cmpd="sng" w="12700">
            <a:solidFill>
              <a:srgbClr val="E1E9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286" name="Google Shape;286;p11"/>
          <p:cNvSpPr/>
          <p:nvPr/>
        </p:nvSpPr>
        <p:spPr>
          <a:xfrm>
            <a:off x="6245352" y="4069080"/>
            <a:ext cx="502920" cy="502920"/>
          </a:xfrm>
          <a:prstGeom prst="ellipse">
            <a:avLst/>
          </a:prstGeom>
          <a:solidFill>
            <a:srgbClr val="00A49F"/>
          </a:solidFill>
          <a:ln>
            <a:noFill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icons/wood.png" id="287" name="Google Shape;287;p11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6366053" y="4189781"/>
            <a:ext cx="261518" cy="261518"/>
          </a:xfrm>
          <a:prstGeom prst="rect">
            <a:avLst/>
          </a:prstGeom>
          <a:noFill/>
          <a:ln>
            <a:noFill/>
          </a:ln>
        </p:spPr>
      </p:pic>
      <p:sp>
        <p:nvSpPr>
          <p:cNvPr id="288" name="Google Shape;288;p11"/>
          <p:cNvSpPr/>
          <p:nvPr/>
        </p:nvSpPr>
        <p:spPr>
          <a:xfrm>
            <a:off x="6858000" y="3995928"/>
            <a:ext cx="17373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4079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Bois &amp; papier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11"/>
          <p:cNvSpPr/>
          <p:nvPr/>
        </p:nvSpPr>
        <p:spPr>
          <a:xfrm>
            <a:off x="6858000" y="4343400"/>
            <a:ext cx="17373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NC 4401→4421·ch.47-48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11"/>
          <p:cNvSpPr/>
          <p:nvPr/>
        </p:nvSpPr>
        <p:spPr>
          <a:xfrm>
            <a:off x="457200" y="498348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1200"/>
              <a:buFont typeface="Calibri"/>
              <a:buNone/>
            </a:pPr>
            <a:r>
              <a:rPr b="0" i="1" lang="en-US" sz="12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Dérivés : papier, charbon de bois, pneus, chocolat… vous font entrer dans le champ. *Cuirs et peaux : sortis par l'acte délégué du 13/07/2026.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11"/>
          <p:cNvSpPr/>
          <p:nvPr/>
        </p:nvSpPr>
        <p:spPr>
          <a:xfrm>
            <a:off x="457200" y="5989320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AA7B2"/>
              </a:buClr>
              <a:buSzPts val="850"/>
              <a:buFont typeface="Calibri"/>
              <a:buNone/>
            </a:pPr>
            <a:r>
              <a:rPr b="0" i="1" lang="en-US" sz="950" u="none" cap="none" strike="noStrike">
                <a:solidFill>
                  <a:srgbClr val="9AA7B2"/>
                </a:solidFill>
                <a:latin typeface="Calibri"/>
                <a:ea typeface="Calibri"/>
                <a:cs typeface="Calibri"/>
                <a:sym typeface="Calibri"/>
              </a:rPr>
              <a:t>Illustrations : brochure DGDDI / Douane, recolorées.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7FA"/>
        </a:solidFill>
      </p:bgPr>
    </p:bg>
    <p:spTree>
      <p:nvGrpSpPr>
        <p:cNvPr id="410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16"/>
          <p:cNvSpPr/>
          <p:nvPr/>
        </p:nvSpPr>
        <p:spPr>
          <a:xfrm>
            <a:off x="457200" y="6510528"/>
            <a:ext cx="5852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RDUE / EUDR  ·  Webinaire CCI Lyon Métropole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2" name="Google Shape;412;p16"/>
          <p:cNvSpPr/>
          <p:nvPr/>
        </p:nvSpPr>
        <p:spPr>
          <a:xfrm>
            <a:off x="7955280" y="651052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10 / 34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" name="Google Shape;413;p16"/>
          <p:cNvSpPr/>
          <p:nvPr/>
        </p:nvSpPr>
        <p:spPr>
          <a:xfrm>
            <a:off x="7223760" y="292608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F337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DF337F"/>
                </a:solidFill>
                <a:latin typeface="Calibri"/>
                <a:ea typeface="Calibri"/>
                <a:cs typeface="Calibri"/>
                <a:sym typeface="Calibri"/>
              </a:rPr>
              <a:t>CCI</a:t>
            </a:r>
            <a:r>
              <a:rPr b="1" i="0" lang="en-US" sz="110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 LYON MÉTROPOLE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4" name="Google Shape;414;p16"/>
          <p:cNvSpPr/>
          <p:nvPr/>
        </p:nvSpPr>
        <p:spPr>
          <a:xfrm>
            <a:off x="7223760" y="457200"/>
            <a:ext cx="1828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700"/>
              <a:buFont typeface="Calibri"/>
              <a:buNone/>
            </a:pPr>
            <a:r>
              <a:rPr b="0" i="1" lang="en-US" sz="7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Saint-Étienne Roanne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" name="Google Shape;415;p16"/>
          <p:cNvSpPr/>
          <p:nvPr/>
        </p:nvSpPr>
        <p:spPr>
          <a:xfrm>
            <a:off x="457200" y="384048"/>
            <a:ext cx="65836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4079"/>
              </a:buClr>
              <a:buSzPts val="2700"/>
              <a:buFont typeface="Calibri"/>
              <a:buNone/>
            </a:pPr>
            <a:r>
              <a:rPr b="1" i="0" lang="en-US" sz="270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Annexe I : ce qui change en 2026-2027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6" name="Google Shape;416;p16"/>
          <p:cNvSpPr/>
          <p:nvPr/>
        </p:nvSpPr>
        <p:spPr>
          <a:xfrm>
            <a:off x="457200" y="987552"/>
            <a:ext cx="81381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Exclusions dès l'entrée en vigueur (JOUE attendu mi-sept. 2026) ; ajouts applicables au 30/12/2027.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17;p16"/>
          <p:cNvSpPr/>
          <p:nvPr/>
        </p:nvSpPr>
        <p:spPr>
          <a:xfrm>
            <a:off x="457200" y="1554480"/>
            <a:ext cx="4023360" cy="4023360"/>
          </a:xfrm>
          <a:prstGeom prst="roundRect">
            <a:avLst>
              <a:gd fmla="val 1818" name="adj"/>
            </a:avLst>
          </a:prstGeom>
          <a:solidFill>
            <a:srgbClr val="FFFFFF"/>
          </a:solidFill>
          <a:ln cap="flat" cmpd="sng" w="12700">
            <a:solidFill>
              <a:srgbClr val="E1E9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18" name="Google Shape;418;p16"/>
          <p:cNvSpPr/>
          <p:nvPr/>
        </p:nvSpPr>
        <p:spPr>
          <a:xfrm>
            <a:off x="457200" y="1554480"/>
            <a:ext cx="4023360" cy="731520"/>
          </a:xfrm>
          <a:prstGeom prst="roundRect">
            <a:avLst>
              <a:gd fmla="val 10000" name="adj"/>
            </a:avLst>
          </a:prstGeom>
          <a:solidFill>
            <a:srgbClr val="00A49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19" name="Google Shape;419;p16"/>
          <p:cNvSpPr/>
          <p:nvPr/>
        </p:nvSpPr>
        <p:spPr>
          <a:xfrm>
            <a:off x="621792" y="1673352"/>
            <a:ext cx="502920" cy="502920"/>
          </a:xfrm>
          <a:prstGeom prst="ellipse">
            <a:avLst/>
          </a:prstGeom>
          <a:solidFill>
            <a:srgbClr val="00726E"/>
          </a:solidFill>
          <a:ln>
            <a:noFill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icons/cart.png" id="420" name="Google Shape;420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2493" y="1794053"/>
            <a:ext cx="261518" cy="261518"/>
          </a:xfrm>
          <a:prstGeom prst="rect">
            <a:avLst/>
          </a:prstGeom>
          <a:noFill/>
          <a:ln>
            <a:noFill/>
          </a:ln>
        </p:spPr>
      </p:pic>
      <p:sp>
        <p:nvSpPr>
          <p:cNvPr id="421" name="Google Shape;421;p16"/>
          <p:cNvSpPr/>
          <p:nvPr/>
        </p:nvSpPr>
        <p:spPr>
          <a:xfrm>
            <a:off x="1234440" y="1554480"/>
            <a:ext cx="31546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Inclusions (désormais soumis)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" name="Google Shape;422;p16"/>
          <p:cNvSpPr/>
          <p:nvPr/>
        </p:nvSpPr>
        <p:spPr>
          <a:xfrm>
            <a:off x="685800" y="2468880"/>
            <a:ext cx="3566160" cy="2926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1A2733"/>
              </a:buClr>
              <a:buSzPts val="1200"/>
              <a:buFont typeface="Calibri"/>
              <a:buChar char="•"/>
            </a:pPr>
            <a:r>
              <a:rPr b="0" i="0" lang="en-US" sz="1200" u="none" cap="none" strike="noStrike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Café soluble (SH 2101 11 00)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800"/>
              </a:spcBef>
              <a:spcAft>
                <a:spcPts val="0"/>
              </a:spcAft>
              <a:buClr>
                <a:srgbClr val="1A2733"/>
              </a:buClr>
              <a:buSzPts val="1200"/>
              <a:buFont typeface="Calibri"/>
              <a:buChar char="•"/>
            </a:pPr>
            <a:r>
              <a:rPr b="0" i="0" lang="en-US" sz="1200" u="none" cap="none" strike="noStrike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Dérivés d'huile de palme, acides oléiques, savons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800"/>
              </a:spcBef>
              <a:spcAft>
                <a:spcPts val="0"/>
              </a:spcAft>
              <a:buClr>
                <a:srgbClr val="1A2733"/>
              </a:buClr>
              <a:buSzPts val="1200"/>
              <a:buFont typeface="Calibri"/>
              <a:buChar char="•"/>
            </a:pPr>
            <a:r>
              <a:rPr b="0" i="0" lang="en-US" sz="1200" u="none" cap="none" strike="noStrike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Langues de bovins congelées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3" name="Google Shape;423;p16"/>
          <p:cNvSpPr/>
          <p:nvPr/>
        </p:nvSpPr>
        <p:spPr>
          <a:xfrm>
            <a:off x="4663440" y="1554480"/>
            <a:ext cx="4023360" cy="4023360"/>
          </a:xfrm>
          <a:prstGeom prst="roundRect">
            <a:avLst>
              <a:gd fmla="val 1818" name="adj"/>
            </a:avLst>
          </a:prstGeom>
          <a:solidFill>
            <a:srgbClr val="FFFFFF"/>
          </a:solidFill>
          <a:ln cap="flat" cmpd="sng" w="12700">
            <a:solidFill>
              <a:srgbClr val="E1E9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24" name="Google Shape;424;p16"/>
          <p:cNvSpPr/>
          <p:nvPr/>
        </p:nvSpPr>
        <p:spPr>
          <a:xfrm>
            <a:off x="4663440" y="1554480"/>
            <a:ext cx="4023360" cy="731520"/>
          </a:xfrm>
          <a:prstGeom prst="roundRect">
            <a:avLst>
              <a:gd fmla="val 10000" name="adj"/>
            </a:avLst>
          </a:prstGeom>
          <a:solidFill>
            <a:srgbClr val="D8232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25" name="Google Shape;425;p16"/>
          <p:cNvSpPr/>
          <p:nvPr/>
        </p:nvSpPr>
        <p:spPr>
          <a:xfrm>
            <a:off x="4828032" y="1673352"/>
            <a:ext cx="502920" cy="502920"/>
          </a:xfrm>
          <a:prstGeom prst="ellipse">
            <a:avLst/>
          </a:prstGeom>
          <a:solidFill>
            <a:srgbClr val="A01418"/>
          </a:solidFill>
          <a:ln>
            <a:noFill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icons/ban.png" id="426" name="Google Shape;42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948733" y="1794053"/>
            <a:ext cx="261518" cy="261518"/>
          </a:xfrm>
          <a:prstGeom prst="rect">
            <a:avLst/>
          </a:prstGeom>
          <a:noFill/>
          <a:ln>
            <a:noFill/>
          </a:ln>
        </p:spPr>
      </p:pic>
      <p:sp>
        <p:nvSpPr>
          <p:cNvPr id="427" name="Google Shape;427;p16"/>
          <p:cNvSpPr/>
          <p:nvPr/>
        </p:nvSpPr>
        <p:spPr>
          <a:xfrm>
            <a:off x="5440680" y="1554480"/>
            <a:ext cx="31546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Exclusions (désormais hors champ)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8" name="Google Shape;428;p16"/>
          <p:cNvSpPr/>
          <p:nvPr/>
        </p:nvSpPr>
        <p:spPr>
          <a:xfrm>
            <a:off x="4892040" y="2468880"/>
            <a:ext cx="3566160" cy="2926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1A2733"/>
              </a:buClr>
              <a:buSzPts val="1200"/>
              <a:buFont typeface="Calibri"/>
              <a:buChar char="•"/>
            </a:pPr>
            <a:r>
              <a:rPr b="0" i="0" lang="en-US" sz="1200" u="none" cap="none" strike="noStrike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Cuirs et peaux de bovins (SH 4101, 4104, 4107)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800"/>
              </a:spcBef>
              <a:spcAft>
                <a:spcPts val="0"/>
              </a:spcAft>
              <a:buClr>
                <a:srgbClr val="1A2733"/>
              </a:buClr>
              <a:buSzPts val="1200"/>
              <a:buFont typeface="Calibri"/>
              <a:buChar char="•"/>
            </a:pPr>
            <a:r>
              <a:rPr b="0" i="0" lang="en-US" sz="1200" u="none" cap="none" strike="noStrike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Pneus rechapés, courroies, certains articles en caoutchouc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800"/>
              </a:spcBef>
              <a:spcAft>
                <a:spcPts val="0"/>
              </a:spcAft>
              <a:buClr>
                <a:srgbClr val="1A2733"/>
              </a:buClr>
              <a:buSzPts val="1200"/>
              <a:buFont typeface="Calibri"/>
              <a:buChar char="•"/>
            </a:pPr>
            <a:r>
              <a:rPr b="0" i="0" lang="en-US" sz="1200" u="none" cap="none" strike="noStrike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Soja de semence · sièges d'avion et de véhicules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800"/>
              </a:spcBef>
              <a:spcAft>
                <a:spcPts val="0"/>
              </a:spcAft>
              <a:buClr>
                <a:srgbClr val="1A2733"/>
              </a:buClr>
              <a:buSzPts val="1200"/>
              <a:buFont typeface="Calibri"/>
              <a:buChar char="•"/>
            </a:pPr>
            <a:r>
              <a:rPr b="0" i="0" lang="en-US" sz="1200" u="none" cap="none" strike="noStrike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(Produits imprimés : déjà sortis via le règl. 2025/2650)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12"/>
          <p:cNvSpPr/>
          <p:nvPr/>
        </p:nvSpPr>
        <p:spPr>
          <a:xfrm>
            <a:off x="457200" y="6510528"/>
            <a:ext cx="5852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RDUE / EUDR  ·  Webinaire CCI Lyon Métropole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12"/>
          <p:cNvSpPr/>
          <p:nvPr/>
        </p:nvSpPr>
        <p:spPr>
          <a:xfrm>
            <a:off x="7955280" y="651052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11 / 34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12"/>
          <p:cNvSpPr/>
          <p:nvPr/>
        </p:nvSpPr>
        <p:spPr>
          <a:xfrm>
            <a:off x="7223760" y="292608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F337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DF337F"/>
                </a:solidFill>
                <a:latin typeface="Calibri"/>
                <a:ea typeface="Calibri"/>
                <a:cs typeface="Calibri"/>
                <a:sym typeface="Calibri"/>
              </a:rPr>
              <a:t>CCI</a:t>
            </a:r>
            <a:r>
              <a:rPr b="1" i="0" lang="en-US" sz="110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 LYON MÉTROPOLE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12"/>
          <p:cNvSpPr/>
          <p:nvPr/>
        </p:nvSpPr>
        <p:spPr>
          <a:xfrm>
            <a:off x="7223760" y="457200"/>
            <a:ext cx="1828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700"/>
              <a:buFont typeface="Calibri"/>
              <a:buNone/>
            </a:pPr>
            <a:r>
              <a:rPr b="0" i="1" lang="en-US" sz="7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Saint-Étienne Roanne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12"/>
          <p:cNvSpPr/>
          <p:nvPr/>
        </p:nvSpPr>
        <p:spPr>
          <a:xfrm>
            <a:off x="457200" y="384048"/>
            <a:ext cx="65836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4079"/>
              </a:buClr>
              <a:buSzPts val="2700"/>
              <a:buFont typeface="Calibri"/>
              <a:buNone/>
            </a:pPr>
            <a:r>
              <a:rPr b="1" i="0" lang="en-US" sz="270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Trois conditions cumulatives (art. 3)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12"/>
          <p:cNvSpPr/>
          <p:nvPr/>
        </p:nvSpPr>
        <p:spPr>
          <a:xfrm>
            <a:off x="457200" y="987552"/>
            <a:ext cx="81381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Il en manque une, le produit ne peut pas entrer (art. 3).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12"/>
          <p:cNvSpPr/>
          <p:nvPr/>
        </p:nvSpPr>
        <p:spPr>
          <a:xfrm>
            <a:off x="457200" y="1645920"/>
            <a:ext cx="2606040" cy="3383280"/>
          </a:xfrm>
          <a:prstGeom prst="roundRect">
            <a:avLst>
              <a:gd fmla="val 2807" name="adj"/>
            </a:avLst>
          </a:prstGeom>
          <a:solidFill>
            <a:srgbClr val="FFFFFF"/>
          </a:solidFill>
          <a:ln cap="flat" cmpd="sng" w="12700">
            <a:solidFill>
              <a:srgbClr val="E1E9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04" name="Google Shape;304;p12"/>
          <p:cNvSpPr/>
          <p:nvPr/>
        </p:nvSpPr>
        <p:spPr>
          <a:xfrm>
            <a:off x="1371600" y="1965960"/>
            <a:ext cx="777240" cy="777240"/>
          </a:xfrm>
          <a:prstGeom prst="ellipse">
            <a:avLst/>
          </a:prstGeom>
          <a:solidFill>
            <a:srgbClr val="00A49F"/>
          </a:solidFill>
          <a:ln>
            <a:noFill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icons/leaf.png" id="305" name="Google Shape;305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58138" y="2152498"/>
            <a:ext cx="404165" cy="404165"/>
          </a:xfrm>
          <a:prstGeom prst="rect">
            <a:avLst/>
          </a:prstGeom>
          <a:noFill/>
          <a:ln>
            <a:noFill/>
          </a:ln>
        </p:spPr>
      </p:pic>
      <p:sp>
        <p:nvSpPr>
          <p:cNvPr id="306" name="Google Shape;306;p12"/>
          <p:cNvSpPr/>
          <p:nvPr/>
        </p:nvSpPr>
        <p:spPr>
          <a:xfrm>
            <a:off x="594360" y="2880360"/>
            <a:ext cx="23317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4079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Zéro déforestation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12"/>
          <p:cNvSpPr/>
          <p:nvPr/>
        </p:nvSpPr>
        <p:spPr>
          <a:xfrm>
            <a:off x="685800" y="3383280"/>
            <a:ext cx="2148840" cy="1234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2733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Production sur des terres non déboisées après le 31/12/2020.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12"/>
          <p:cNvSpPr/>
          <p:nvPr/>
        </p:nvSpPr>
        <p:spPr>
          <a:xfrm>
            <a:off x="1234440" y="4617720"/>
            <a:ext cx="1051560" cy="256032"/>
          </a:xfrm>
          <a:prstGeom prst="roundRect">
            <a:avLst>
              <a:gd fmla="val 50000" name="adj"/>
            </a:avLst>
          </a:prstGeom>
          <a:solidFill>
            <a:srgbClr val="00A49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09" name="Google Shape;309;p12"/>
          <p:cNvSpPr/>
          <p:nvPr/>
        </p:nvSpPr>
        <p:spPr>
          <a:xfrm>
            <a:off x="1234440" y="4617720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Calibri"/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art. 3 a)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12"/>
          <p:cNvSpPr/>
          <p:nvPr/>
        </p:nvSpPr>
        <p:spPr>
          <a:xfrm>
            <a:off x="3246120" y="1645920"/>
            <a:ext cx="2606040" cy="3383280"/>
          </a:xfrm>
          <a:prstGeom prst="roundRect">
            <a:avLst>
              <a:gd fmla="val 2807" name="adj"/>
            </a:avLst>
          </a:prstGeom>
          <a:solidFill>
            <a:srgbClr val="FFFFFF"/>
          </a:solidFill>
          <a:ln cap="flat" cmpd="sng" w="12700">
            <a:solidFill>
              <a:srgbClr val="E1E9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11" name="Google Shape;311;p12"/>
          <p:cNvSpPr/>
          <p:nvPr/>
        </p:nvSpPr>
        <p:spPr>
          <a:xfrm>
            <a:off x="4160520" y="1965960"/>
            <a:ext cx="777240" cy="777240"/>
          </a:xfrm>
          <a:prstGeom prst="ellipse">
            <a:avLst/>
          </a:prstGeom>
          <a:solidFill>
            <a:srgbClr val="0092D2"/>
          </a:solidFill>
          <a:ln>
            <a:noFill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icons/balance.png" id="312" name="Google Shape;312;p1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347058" y="2152498"/>
            <a:ext cx="404165" cy="404165"/>
          </a:xfrm>
          <a:prstGeom prst="rect">
            <a:avLst/>
          </a:prstGeom>
          <a:noFill/>
          <a:ln>
            <a:noFill/>
          </a:ln>
        </p:spPr>
      </p:pic>
      <p:sp>
        <p:nvSpPr>
          <p:cNvPr id="313" name="Google Shape;313;p12"/>
          <p:cNvSpPr/>
          <p:nvPr/>
        </p:nvSpPr>
        <p:spPr>
          <a:xfrm>
            <a:off x="3383280" y="2880360"/>
            <a:ext cx="23317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4079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Légalité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12"/>
          <p:cNvSpPr/>
          <p:nvPr/>
        </p:nvSpPr>
        <p:spPr>
          <a:xfrm>
            <a:off x="3474720" y="3383280"/>
            <a:ext cx="2148840" cy="1234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2733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Conformité à la législation du pays de production (foncier, environnement, travail…).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12"/>
          <p:cNvSpPr/>
          <p:nvPr/>
        </p:nvSpPr>
        <p:spPr>
          <a:xfrm>
            <a:off x="4023360" y="4617720"/>
            <a:ext cx="1051560" cy="256032"/>
          </a:xfrm>
          <a:prstGeom prst="roundRect">
            <a:avLst>
              <a:gd fmla="val 50000" name="adj"/>
            </a:avLst>
          </a:prstGeom>
          <a:solidFill>
            <a:srgbClr val="0092D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16" name="Google Shape;316;p12"/>
          <p:cNvSpPr/>
          <p:nvPr/>
        </p:nvSpPr>
        <p:spPr>
          <a:xfrm>
            <a:off x="4023360" y="4617720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Calibri"/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art. 3 b)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12"/>
          <p:cNvSpPr/>
          <p:nvPr/>
        </p:nvSpPr>
        <p:spPr>
          <a:xfrm>
            <a:off x="6035040" y="1645920"/>
            <a:ext cx="2606040" cy="3383280"/>
          </a:xfrm>
          <a:prstGeom prst="roundRect">
            <a:avLst>
              <a:gd fmla="val 2807" name="adj"/>
            </a:avLst>
          </a:prstGeom>
          <a:solidFill>
            <a:srgbClr val="FFFFFF"/>
          </a:solidFill>
          <a:ln cap="flat" cmpd="sng" w="12700">
            <a:solidFill>
              <a:srgbClr val="E1E9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18" name="Google Shape;318;p12"/>
          <p:cNvSpPr/>
          <p:nvPr/>
        </p:nvSpPr>
        <p:spPr>
          <a:xfrm>
            <a:off x="6949440" y="1965960"/>
            <a:ext cx="777240" cy="777240"/>
          </a:xfrm>
          <a:prstGeom prst="ellipse">
            <a:avLst/>
          </a:prstGeom>
          <a:solidFill>
            <a:srgbClr val="004079"/>
          </a:solidFill>
          <a:ln>
            <a:noFill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icons/filesign.png" id="319" name="Google Shape;319;p1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135978" y="2152498"/>
            <a:ext cx="404165" cy="404165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12"/>
          <p:cNvSpPr/>
          <p:nvPr/>
        </p:nvSpPr>
        <p:spPr>
          <a:xfrm>
            <a:off x="6172200" y="2880360"/>
            <a:ext cx="23317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4079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Déclaration (DDR)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12"/>
          <p:cNvSpPr/>
          <p:nvPr/>
        </p:nvSpPr>
        <p:spPr>
          <a:xfrm>
            <a:off x="6263640" y="3383280"/>
            <a:ext cx="2148840" cy="1234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2733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Couvert par une déclaration de diligence raisonnée dans TRACES.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12"/>
          <p:cNvSpPr/>
          <p:nvPr/>
        </p:nvSpPr>
        <p:spPr>
          <a:xfrm>
            <a:off x="6812280" y="4617720"/>
            <a:ext cx="1051560" cy="256032"/>
          </a:xfrm>
          <a:prstGeom prst="roundRect">
            <a:avLst>
              <a:gd fmla="val 50000" name="adj"/>
            </a:avLst>
          </a:prstGeom>
          <a:solidFill>
            <a:srgbClr val="00407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23" name="Google Shape;323;p12"/>
          <p:cNvSpPr/>
          <p:nvPr/>
        </p:nvSpPr>
        <p:spPr>
          <a:xfrm>
            <a:off x="6812280" y="4617720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Calibri"/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art. 3 c)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12"/>
          <p:cNvSpPr/>
          <p:nvPr/>
        </p:nvSpPr>
        <p:spPr>
          <a:xfrm>
            <a:off x="457200" y="525780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F337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DF337F"/>
                </a:solidFill>
                <a:latin typeface="Calibri"/>
                <a:ea typeface="Calibri"/>
                <a:cs typeface="Calibri"/>
                <a:sym typeface="Calibri"/>
              </a:rPr>
              <a:t>+  cumulatives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13"/>
          <p:cNvSpPr/>
          <p:nvPr/>
        </p:nvSpPr>
        <p:spPr>
          <a:xfrm>
            <a:off x="457200" y="6510528"/>
            <a:ext cx="5852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RDUE / EUDR  ·  Webinaire CCI Lyon Métropole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13"/>
          <p:cNvSpPr/>
          <p:nvPr/>
        </p:nvSpPr>
        <p:spPr>
          <a:xfrm>
            <a:off x="7955280" y="651052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12 / 34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13"/>
          <p:cNvSpPr/>
          <p:nvPr/>
        </p:nvSpPr>
        <p:spPr>
          <a:xfrm>
            <a:off x="7223760" y="292608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F337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DF337F"/>
                </a:solidFill>
                <a:latin typeface="Calibri"/>
                <a:ea typeface="Calibri"/>
                <a:cs typeface="Calibri"/>
                <a:sym typeface="Calibri"/>
              </a:rPr>
              <a:t>CCI</a:t>
            </a:r>
            <a:r>
              <a:rPr b="1" i="0" lang="en-US" sz="110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 LYON MÉTROPOLE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13"/>
          <p:cNvSpPr/>
          <p:nvPr/>
        </p:nvSpPr>
        <p:spPr>
          <a:xfrm>
            <a:off x="7223760" y="457200"/>
            <a:ext cx="1828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700"/>
              <a:buFont typeface="Calibri"/>
              <a:buNone/>
            </a:pPr>
            <a:r>
              <a:rPr b="0" i="1" lang="en-US" sz="7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Saint-Étienne Roanne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TextBox 333"/>
          <p:cNvSpPr txBox="1"/>
          <p:nvPr/>
        </p:nvSpPr>
        <p:spPr>
          <a:xfrm>
            <a:off x="457200" y="384048"/>
            <a:ext cx="6583680" cy="640080"/>
          </a:xfrm>
          <a:prstGeom prst="rect">
            <a:avLst/>
          </a:prstGeom>
          <a:noFill/>
        </p:spPr>
        <p:txBody>
          <a:bodyPr wrap="square" lIns="118872" rIns="118872" tIns="27432" bIns="27432" anchor="ctr">
            <a:spAutoFit/>
          </a:bodyPr>
          <a:lstStyle/>
          <a:p>
            <a:pPr algn="l"/>
            <a:r>
              <a:rPr sz="2700" b="1" i="0">
                <a:solidFill>
                  <a:srgbClr val="004079"/>
                </a:solidFill>
                <a:latin typeface="Calibri"/>
              </a:rPr>
              <a:t>Qui est concerné ? Entrant et sortant</a:t>
            </a:r>
          </a:p>
        </p:txBody>
      </p:sp>
      <p:sp>
        <p:nvSpPr>
          <p:cNvPr id="335" name="TextBox 334"/>
          <p:cNvSpPr txBox="1"/>
          <p:nvPr/>
        </p:nvSpPr>
        <p:spPr>
          <a:xfrm>
            <a:off x="457200" y="987552"/>
            <a:ext cx="8138160" cy="365760"/>
          </a:xfrm>
          <a:prstGeom prst="rect">
            <a:avLst/>
          </a:prstGeom>
          <a:noFill/>
        </p:spPr>
        <p:txBody>
          <a:bodyPr wrap="square" lIns="118872" rIns="118872" tIns="27432" bIns="27432" anchor="ctr">
            <a:spAutoFit/>
          </a:bodyPr>
          <a:lstStyle/>
          <a:p>
            <a:pPr algn="l"/>
            <a:r>
              <a:rPr sz="1300" b="0" i="0">
                <a:solidFill>
                  <a:srgbClr val="5F6B76"/>
                </a:solidFill>
                <a:latin typeface="Calibri"/>
              </a:rPr>
              <a:t>Une fois le produit dans le champ (annexe I + matière) : que se passe-t-il selon le flux ?</a:t>
            </a:r>
          </a:p>
        </p:txBody>
      </p:sp>
      <p:sp>
        <p:nvSpPr>
          <p:cNvPr id="336" name="Rounded Rectangle 335"/>
          <p:cNvSpPr/>
          <p:nvPr/>
        </p:nvSpPr>
        <p:spPr>
          <a:xfrm>
            <a:off x="1005840" y="1417320"/>
            <a:ext cx="2606039" cy="329184"/>
          </a:xfrm>
          <a:prstGeom prst="roundRect">
            <a:avLst>
              <a:gd name="adj" fmla="val 50000"/>
            </a:avLst>
          </a:prstGeom>
          <a:solidFill>
            <a:srgbClr val="0040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7" name="TextBox 336"/>
          <p:cNvSpPr txBox="1"/>
          <p:nvPr/>
        </p:nvSpPr>
        <p:spPr>
          <a:xfrm>
            <a:off x="1005840" y="1417320"/>
            <a:ext cx="2606039" cy="329184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PRODUIT ENTRANT</a:t>
            </a:r>
          </a:p>
        </p:txBody>
      </p:sp>
      <p:sp>
        <p:nvSpPr>
          <p:cNvPr id="338" name="Rounded Rectangle 337"/>
          <p:cNvSpPr/>
          <p:nvPr/>
        </p:nvSpPr>
        <p:spPr>
          <a:xfrm>
            <a:off x="5532120" y="1417320"/>
            <a:ext cx="2606039" cy="329184"/>
          </a:xfrm>
          <a:prstGeom prst="roundRect">
            <a:avLst>
              <a:gd name="adj" fmla="val 50000"/>
            </a:avLst>
          </a:prstGeom>
          <a:solidFill>
            <a:srgbClr val="0040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9" name="TextBox 338"/>
          <p:cNvSpPr txBox="1"/>
          <p:nvPr/>
        </p:nvSpPr>
        <p:spPr>
          <a:xfrm>
            <a:off x="5532120" y="1417320"/>
            <a:ext cx="2606039" cy="329184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PRODUIT SORTANT</a:t>
            </a:r>
          </a:p>
        </p:txBody>
      </p:sp>
      <p:sp>
        <p:nvSpPr>
          <p:cNvPr id="340" name="Rounded Rectangle 339"/>
          <p:cNvSpPr/>
          <p:nvPr/>
        </p:nvSpPr>
        <p:spPr>
          <a:xfrm>
            <a:off x="457200" y="1847088"/>
            <a:ext cx="370332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8232A"/>
            </a:solidFill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1" name="TextBox 340"/>
          <p:cNvSpPr txBox="1"/>
          <p:nvPr/>
        </p:nvSpPr>
        <p:spPr>
          <a:xfrm>
            <a:off x="566928" y="1892807"/>
            <a:ext cx="348386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1100" b="1" i="0">
                <a:solidFill>
                  <a:srgbClr val="004079"/>
                </a:solidFill>
                <a:latin typeface="Calibri"/>
              </a:rPr>
              <a:t>Importation sur le marché de l'UE</a:t>
            </a:r>
          </a:p>
        </p:txBody>
      </p:sp>
      <p:sp>
        <p:nvSpPr>
          <p:cNvPr id="342" name="TextBox 341"/>
          <p:cNvSpPr txBox="1"/>
          <p:nvPr/>
        </p:nvSpPr>
        <p:spPr>
          <a:xfrm>
            <a:off x="566928" y="2322576"/>
            <a:ext cx="3483863" cy="219456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900" b="1" i="0">
                <a:solidFill>
                  <a:srgbClr val="5F6B76"/>
                </a:solidFill>
                <a:latin typeface="Calibri"/>
              </a:rPr>
              <a:t>Vous = opérateur</a:t>
            </a:r>
            <a:r>
              <a:rPr sz="900" b="0" i="0">
                <a:solidFill>
                  <a:srgbClr val="5F6B76"/>
                </a:solidFill>
                <a:latin typeface="Calibri"/>
              </a:rPr>
              <a:t> · DDR + n° en douane (C716)</a:t>
            </a:r>
          </a:p>
        </p:txBody>
      </p:sp>
      <p:sp>
        <p:nvSpPr>
          <p:cNvPr id="343" name="Rounded Rectangle 342"/>
          <p:cNvSpPr/>
          <p:nvPr/>
        </p:nvSpPr>
        <p:spPr>
          <a:xfrm>
            <a:off x="594360" y="2514600"/>
            <a:ext cx="1920240" cy="219456"/>
          </a:xfrm>
          <a:prstGeom prst="roundRect">
            <a:avLst>
              <a:gd name="adj" fmla="val 50000"/>
            </a:avLst>
          </a:prstGeom>
          <a:solidFill>
            <a:srgbClr val="00A4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4" name="TextBox 343"/>
          <p:cNvSpPr txBox="1"/>
          <p:nvPr/>
        </p:nvSpPr>
        <p:spPr>
          <a:xfrm>
            <a:off x="594360" y="2514600"/>
            <a:ext cx="1920240" cy="219456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DDR requise</a:t>
            </a:r>
          </a:p>
        </p:txBody>
      </p:sp>
      <p:sp>
        <p:nvSpPr>
          <p:cNvPr id="345" name="Rounded Rectangle 344"/>
          <p:cNvSpPr/>
          <p:nvPr/>
        </p:nvSpPr>
        <p:spPr>
          <a:xfrm>
            <a:off x="4983480" y="1847088"/>
            <a:ext cx="370332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8232A"/>
            </a:solidFill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6" name="TextBox 345"/>
          <p:cNvSpPr txBox="1"/>
          <p:nvPr/>
        </p:nvSpPr>
        <p:spPr>
          <a:xfrm>
            <a:off x="5093208" y="1892807"/>
            <a:ext cx="348386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1100" b="1" i="0">
                <a:solidFill>
                  <a:srgbClr val="004079"/>
                </a:solidFill>
                <a:latin typeface="Calibri"/>
              </a:rPr>
              <a:t>Exportation depuis le marché de l'UE</a:t>
            </a:r>
          </a:p>
        </p:txBody>
      </p:sp>
      <p:sp>
        <p:nvSpPr>
          <p:cNvPr id="347" name="TextBox 346"/>
          <p:cNvSpPr txBox="1"/>
          <p:nvPr/>
        </p:nvSpPr>
        <p:spPr>
          <a:xfrm>
            <a:off x="5093208" y="2322576"/>
            <a:ext cx="3483863" cy="219456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900" b="1" i="0">
                <a:solidFill>
                  <a:srgbClr val="5F6B76"/>
                </a:solidFill>
                <a:latin typeface="Calibri"/>
              </a:rPr>
              <a:t>Vous = opérateur</a:t>
            </a:r>
            <a:r>
              <a:rPr sz="900" b="0" i="0">
                <a:solidFill>
                  <a:srgbClr val="5F6B76"/>
                </a:solidFill>
                <a:latin typeface="Calibri"/>
              </a:rPr>
              <a:t> · DDR avant l'export</a:t>
            </a:r>
          </a:p>
        </p:txBody>
      </p:sp>
      <p:sp>
        <p:nvSpPr>
          <p:cNvPr id="348" name="Rounded Rectangle 347"/>
          <p:cNvSpPr/>
          <p:nvPr/>
        </p:nvSpPr>
        <p:spPr>
          <a:xfrm>
            <a:off x="5120640" y="2514600"/>
            <a:ext cx="1920240" cy="219456"/>
          </a:xfrm>
          <a:prstGeom prst="roundRect">
            <a:avLst>
              <a:gd name="adj" fmla="val 50000"/>
            </a:avLst>
          </a:prstGeom>
          <a:solidFill>
            <a:srgbClr val="00A4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9" name="TextBox 348"/>
          <p:cNvSpPr txBox="1"/>
          <p:nvPr/>
        </p:nvSpPr>
        <p:spPr>
          <a:xfrm>
            <a:off x="5120640" y="2514600"/>
            <a:ext cx="1920240" cy="219456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DDR requise</a:t>
            </a:r>
          </a:p>
        </p:txBody>
      </p:sp>
      <p:sp>
        <p:nvSpPr>
          <p:cNvPr id="350" name="Right Arrow 349"/>
          <p:cNvSpPr/>
          <p:nvPr/>
        </p:nvSpPr>
        <p:spPr>
          <a:xfrm>
            <a:off x="4224528" y="2189988"/>
            <a:ext cx="292608" cy="274320"/>
          </a:xfrm>
          <a:prstGeom prst="rightArrow">
            <a:avLst/>
          </a:prstGeom>
          <a:solidFill>
            <a:srgbClr val="0040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Rounded Rectangle 350"/>
          <p:cNvSpPr/>
          <p:nvPr/>
        </p:nvSpPr>
        <p:spPr>
          <a:xfrm>
            <a:off x="457200" y="2916936"/>
            <a:ext cx="370332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E9F0"/>
            </a:solidFill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2" name="TextBox 351"/>
          <p:cNvSpPr txBox="1"/>
          <p:nvPr/>
        </p:nvSpPr>
        <p:spPr>
          <a:xfrm>
            <a:off x="566928" y="2962656"/>
            <a:ext cx="348386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1100" b="1" i="0">
                <a:solidFill>
                  <a:srgbClr val="004079"/>
                </a:solidFill>
                <a:latin typeface="Calibri"/>
              </a:rPr>
              <a:t>Acheté sur le marché UE et utilisé pour un produit RDUE sortant</a:t>
            </a:r>
          </a:p>
        </p:txBody>
      </p:sp>
      <p:sp>
        <p:nvSpPr>
          <p:cNvPr id="353" name="TextBox 352"/>
          <p:cNvSpPr txBox="1"/>
          <p:nvPr/>
        </p:nvSpPr>
        <p:spPr>
          <a:xfrm>
            <a:off x="566928" y="3392424"/>
            <a:ext cx="3483863" cy="219456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900" b="1" i="0">
                <a:solidFill>
                  <a:srgbClr val="5F6B76"/>
                </a:solidFill>
                <a:latin typeface="Calibri"/>
              </a:rPr>
              <a:t>Opérateur en aval</a:t>
            </a:r>
            <a:r>
              <a:rPr sz="900" b="0" i="0">
                <a:solidFill>
                  <a:srgbClr val="5F6B76"/>
                </a:solidFill>
                <a:latin typeface="Calibri"/>
              </a:rPr>
              <a:t> · pas de DDR, conserve le n° du fournisseur</a:t>
            </a:r>
          </a:p>
        </p:txBody>
      </p:sp>
      <p:sp>
        <p:nvSpPr>
          <p:cNvPr id="354" name="Rounded Rectangle 353"/>
          <p:cNvSpPr/>
          <p:nvPr/>
        </p:nvSpPr>
        <p:spPr>
          <a:xfrm>
            <a:off x="594360" y="3584448"/>
            <a:ext cx="1920240" cy="219456"/>
          </a:xfrm>
          <a:prstGeom prst="roundRect">
            <a:avLst>
              <a:gd name="adj" fmla="val 50000"/>
            </a:avLst>
          </a:prstGeom>
          <a:solidFill>
            <a:srgbClr val="0040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5" name="TextBox 354"/>
          <p:cNvSpPr txBox="1"/>
          <p:nvPr/>
        </p:nvSpPr>
        <p:spPr>
          <a:xfrm>
            <a:off x="594360" y="3584448"/>
            <a:ext cx="1920240" cy="219456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N° de DDR à conserver</a:t>
            </a:r>
          </a:p>
        </p:txBody>
      </p:sp>
      <p:sp>
        <p:nvSpPr>
          <p:cNvPr id="356" name="Rounded Rectangle 355"/>
          <p:cNvSpPr/>
          <p:nvPr/>
        </p:nvSpPr>
        <p:spPr>
          <a:xfrm>
            <a:off x="4983480" y="2916936"/>
            <a:ext cx="370332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E9F0"/>
            </a:solidFill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7" name="TextBox 356"/>
          <p:cNvSpPr txBox="1"/>
          <p:nvPr/>
        </p:nvSpPr>
        <p:spPr>
          <a:xfrm>
            <a:off x="5093208" y="2962656"/>
            <a:ext cx="348386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1100" b="1" i="0">
                <a:solidFill>
                  <a:srgbClr val="004079"/>
                </a:solidFill>
                <a:latin typeface="Calibri"/>
              </a:rPr>
              <a:t>Vendu au sein du marché UE (« mise à disposition »)</a:t>
            </a:r>
          </a:p>
        </p:txBody>
      </p:sp>
      <p:sp>
        <p:nvSpPr>
          <p:cNvPr id="358" name="TextBox 357"/>
          <p:cNvSpPr txBox="1"/>
          <p:nvPr/>
        </p:nvSpPr>
        <p:spPr>
          <a:xfrm>
            <a:off x="5093208" y="3392424"/>
            <a:ext cx="3483863" cy="219456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900" b="1" i="0">
                <a:solidFill>
                  <a:srgbClr val="5F6B76"/>
                </a:solidFill>
                <a:latin typeface="Calibri"/>
              </a:rPr>
              <a:t>Commerçant</a:t>
            </a:r>
            <a:r>
              <a:rPr sz="900" b="0" i="0">
                <a:solidFill>
                  <a:srgbClr val="5F6B76"/>
                </a:solidFill>
                <a:latin typeface="Calibri"/>
              </a:rPr>
              <a:t> · références fournisseur conservées</a:t>
            </a:r>
          </a:p>
        </p:txBody>
      </p:sp>
      <p:sp>
        <p:nvSpPr>
          <p:cNvPr id="359" name="Rounded Rectangle 358"/>
          <p:cNvSpPr/>
          <p:nvPr/>
        </p:nvSpPr>
        <p:spPr>
          <a:xfrm>
            <a:off x="5120640" y="3584448"/>
            <a:ext cx="1920240" cy="219456"/>
          </a:xfrm>
          <a:prstGeom prst="roundRect">
            <a:avLst>
              <a:gd name="adj" fmla="val 50000"/>
            </a:avLst>
          </a:prstGeom>
          <a:solidFill>
            <a:srgbClr val="0040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0" name="TextBox 359"/>
          <p:cNvSpPr txBox="1"/>
          <p:nvPr/>
        </p:nvSpPr>
        <p:spPr>
          <a:xfrm>
            <a:off x="5120640" y="3584448"/>
            <a:ext cx="1920240" cy="219456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N° transmis par le fournisseur</a:t>
            </a:r>
          </a:p>
        </p:txBody>
      </p:sp>
      <p:sp>
        <p:nvSpPr>
          <p:cNvPr id="361" name="Right Arrow 360"/>
          <p:cNvSpPr/>
          <p:nvPr/>
        </p:nvSpPr>
        <p:spPr>
          <a:xfrm>
            <a:off x="4224528" y="3259836"/>
            <a:ext cx="292608" cy="274320"/>
          </a:xfrm>
          <a:prstGeom prst="rightArrow">
            <a:avLst/>
          </a:prstGeom>
          <a:solidFill>
            <a:srgbClr val="0040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Rounded Rectangle 361"/>
          <p:cNvSpPr/>
          <p:nvPr/>
        </p:nvSpPr>
        <p:spPr>
          <a:xfrm>
            <a:off x="457200" y="3986783"/>
            <a:ext cx="370332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E9F0"/>
            </a:solidFill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3" name="TextBox 362"/>
          <p:cNvSpPr txBox="1"/>
          <p:nvPr/>
        </p:nvSpPr>
        <p:spPr>
          <a:xfrm>
            <a:off x="566928" y="4032503"/>
            <a:ext cx="348386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1100" b="1" i="0">
                <a:solidFill>
                  <a:srgbClr val="004079"/>
                </a:solidFill>
                <a:latin typeface="Calibri"/>
              </a:rPr>
              <a:t>Acheté sur le marché UE et PAS utilisé pour un produit RDUE sortant</a:t>
            </a:r>
          </a:p>
        </p:txBody>
      </p:sp>
      <p:sp>
        <p:nvSpPr>
          <p:cNvPr id="364" name="TextBox 363"/>
          <p:cNvSpPr txBox="1"/>
          <p:nvPr/>
        </p:nvSpPr>
        <p:spPr>
          <a:xfrm>
            <a:off x="566928" y="4462271"/>
            <a:ext cx="3483863" cy="219456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900" b="1" i="0">
                <a:solidFill>
                  <a:srgbClr val="D8232A"/>
                </a:solidFill>
                <a:latin typeface="Calibri"/>
              </a:rPr>
              <a:t>Produit non relevant</a:t>
            </a:r>
          </a:p>
        </p:txBody>
      </p:sp>
      <p:sp>
        <p:nvSpPr>
          <p:cNvPr id="365" name="Rounded Rectangle 364"/>
          <p:cNvSpPr/>
          <p:nvPr/>
        </p:nvSpPr>
        <p:spPr>
          <a:xfrm>
            <a:off x="594360" y="4654295"/>
            <a:ext cx="1920240" cy="219456"/>
          </a:xfrm>
          <a:prstGeom prst="roundRect">
            <a:avLst>
              <a:gd name="adj" fmla="val 50000"/>
            </a:avLst>
          </a:prstGeom>
          <a:solidFill>
            <a:srgbClr val="D82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6" name="TextBox 365"/>
          <p:cNvSpPr txBox="1"/>
          <p:nvPr/>
        </p:nvSpPr>
        <p:spPr>
          <a:xfrm>
            <a:off x="594360" y="4654295"/>
            <a:ext cx="1920240" cy="219456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Pas de DDR</a:t>
            </a:r>
          </a:p>
        </p:txBody>
      </p:sp>
      <p:sp>
        <p:nvSpPr>
          <p:cNvPr id="367" name="Rounded Rectangle 366"/>
          <p:cNvSpPr/>
          <p:nvPr/>
        </p:nvSpPr>
        <p:spPr>
          <a:xfrm>
            <a:off x="4983480" y="3986783"/>
            <a:ext cx="370332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E9F0"/>
            </a:solidFill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8" name="TextBox 367"/>
          <p:cNvSpPr txBox="1"/>
          <p:nvPr/>
        </p:nvSpPr>
        <p:spPr>
          <a:xfrm>
            <a:off x="5093208" y="4032503"/>
            <a:ext cx="348386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1100" b="1" i="0">
                <a:solidFill>
                  <a:srgbClr val="004079"/>
                </a:solidFill>
                <a:latin typeface="Calibri"/>
              </a:rPr>
              <a:t>Exporté ou vendu sur le marché de l'UE</a:t>
            </a:r>
          </a:p>
        </p:txBody>
      </p:sp>
      <p:sp>
        <p:nvSpPr>
          <p:cNvPr id="369" name="TextBox 368"/>
          <p:cNvSpPr txBox="1"/>
          <p:nvPr/>
        </p:nvSpPr>
        <p:spPr>
          <a:xfrm>
            <a:off x="5093208" y="4462271"/>
            <a:ext cx="3483863" cy="219456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900" b="1" i="0">
                <a:solidFill>
                  <a:srgbClr val="D8232A"/>
                </a:solidFill>
                <a:latin typeface="Calibri"/>
              </a:rPr>
              <a:t>Produit non relevant</a:t>
            </a:r>
          </a:p>
        </p:txBody>
      </p:sp>
      <p:sp>
        <p:nvSpPr>
          <p:cNvPr id="370" name="Rounded Rectangle 369"/>
          <p:cNvSpPr/>
          <p:nvPr/>
        </p:nvSpPr>
        <p:spPr>
          <a:xfrm>
            <a:off x="5120640" y="4654295"/>
            <a:ext cx="1920240" cy="219456"/>
          </a:xfrm>
          <a:prstGeom prst="roundRect">
            <a:avLst>
              <a:gd name="adj" fmla="val 50000"/>
            </a:avLst>
          </a:prstGeom>
          <a:solidFill>
            <a:srgbClr val="D82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1" name="TextBox 370"/>
          <p:cNvSpPr txBox="1"/>
          <p:nvPr/>
        </p:nvSpPr>
        <p:spPr>
          <a:xfrm>
            <a:off x="5120640" y="4654295"/>
            <a:ext cx="1920240" cy="219456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Pas de DDR</a:t>
            </a:r>
          </a:p>
        </p:txBody>
      </p:sp>
      <p:sp>
        <p:nvSpPr>
          <p:cNvPr id="372" name="Right Arrow 371"/>
          <p:cNvSpPr/>
          <p:nvPr/>
        </p:nvSpPr>
        <p:spPr>
          <a:xfrm>
            <a:off x="4224528" y="4329683"/>
            <a:ext cx="292608" cy="274320"/>
          </a:xfrm>
          <a:prstGeom prst="rightArrow">
            <a:avLst/>
          </a:prstGeom>
          <a:solidFill>
            <a:srgbClr val="0040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Rounded Rectangle 372"/>
          <p:cNvSpPr/>
          <p:nvPr/>
        </p:nvSpPr>
        <p:spPr>
          <a:xfrm>
            <a:off x="457200" y="5056631"/>
            <a:ext cx="370332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E9F0"/>
            </a:solidFill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4" name="TextBox 373"/>
          <p:cNvSpPr txBox="1"/>
          <p:nvPr/>
        </p:nvSpPr>
        <p:spPr>
          <a:xfrm>
            <a:off x="566928" y="5102351"/>
            <a:ext cx="348386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1100" b="1" i="0">
                <a:solidFill>
                  <a:srgbClr val="004079"/>
                </a:solidFill>
                <a:latin typeface="Calibri"/>
              </a:rPr>
              <a:t>Acheté sur le marché UE — consommation interne</a:t>
            </a:r>
          </a:p>
        </p:txBody>
      </p:sp>
      <p:sp>
        <p:nvSpPr>
          <p:cNvPr id="375" name="TextBox 374"/>
          <p:cNvSpPr txBox="1"/>
          <p:nvPr/>
        </p:nvSpPr>
        <p:spPr>
          <a:xfrm>
            <a:off x="566928" y="5532119"/>
            <a:ext cx="3483863" cy="219456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900" b="1" i="0">
                <a:solidFill>
                  <a:srgbClr val="D8232A"/>
                </a:solidFill>
                <a:latin typeface="Calibri"/>
              </a:rPr>
              <a:t>Produit non relevant</a:t>
            </a:r>
          </a:p>
        </p:txBody>
      </p:sp>
      <p:sp>
        <p:nvSpPr>
          <p:cNvPr id="376" name="Rounded Rectangle 375"/>
          <p:cNvSpPr/>
          <p:nvPr/>
        </p:nvSpPr>
        <p:spPr>
          <a:xfrm>
            <a:off x="594360" y="5724143"/>
            <a:ext cx="1920240" cy="219456"/>
          </a:xfrm>
          <a:prstGeom prst="roundRect">
            <a:avLst>
              <a:gd name="adj" fmla="val 50000"/>
            </a:avLst>
          </a:prstGeom>
          <a:solidFill>
            <a:srgbClr val="D82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7" name="TextBox 376"/>
          <p:cNvSpPr txBox="1"/>
          <p:nvPr/>
        </p:nvSpPr>
        <p:spPr>
          <a:xfrm>
            <a:off x="594360" y="5724143"/>
            <a:ext cx="1920240" cy="219456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Pas de DDR</a:t>
            </a:r>
          </a:p>
        </p:txBody>
      </p:sp>
      <p:sp>
        <p:nvSpPr>
          <p:cNvPr id="378" name="Rounded Rectangle 377"/>
          <p:cNvSpPr/>
          <p:nvPr/>
        </p:nvSpPr>
        <p:spPr>
          <a:xfrm>
            <a:off x="4983480" y="5056631"/>
            <a:ext cx="370332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E9F0"/>
            </a:solidFill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9" name="TextBox 378"/>
          <p:cNvSpPr txBox="1"/>
          <p:nvPr/>
        </p:nvSpPr>
        <p:spPr>
          <a:xfrm>
            <a:off x="5093208" y="5102351"/>
            <a:ext cx="348386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1100" b="1" i="0">
                <a:solidFill>
                  <a:srgbClr val="004079"/>
                </a:solidFill>
                <a:latin typeface="Calibri"/>
              </a:rPr>
              <a:t>Hors obligation</a:t>
            </a:r>
          </a:p>
        </p:txBody>
      </p:sp>
      <p:sp>
        <p:nvSpPr>
          <p:cNvPr id="380" name="TextBox 379"/>
          <p:cNvSpPr txBox="1"/>
          <p:nvPr/>
        </p:nvSpPr>
        <p:spPr>
          <a:xfrm>
            <a:off x="5093208" y="5532119"/>
            <a:ext cx="3483863" cy="219456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900" b="1" i="0">
                <a:solidFill>
                  <a:srgbClr val="D8232A"/>
                </a:solidFill>
                <a:latin typeface="Calibri"/>
              </a:rPr>
              <a:t>Aucune DDR, aucun n° à conserver</a:t>
            </a:r>
          </a:p>
        </p:txBody>
      </p:sp>
      <p:sp>
        <p:nvSpPr>
          <p:cNvPr id="381" name="Rounded Rectangle 380"/>
          <p:cNvSpPr/>
          <p:nvPr/>
        </p:nvSpPr>
        <p:spPr>
          <a:xfrm>
            <a:off x="5120640" y="5724143"/>
            <a:ext cx="1920240" cy="219456"/>
          </a:xfrm>
          <a:prstGeom prst="roundRect">
            <a:avLst>
              <a:gd name="adj" fmla="val 50000"/>
            </a:avLst>
          </a:prstGeom>
          <a:solidFill>
            <a:srgbClr val="D82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2" name="TextBox 381"/>
          <p:cNvSpPr txBox="1"/>
          <p:nvPr/>
        </p:nvSpPr>
        <p:spPr>
          <a:xfrm>
            <a:off x="5120640" y="5724143"/>
            <a:ext cx="1920240" cy="219456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Pas de DDR</a:t>
            </a:r>
          </a:p>
        </p:txBody>
      </p:sp>
      <p:sp>
        <p:nvSpPr>
          <p:cNvPr id="383" name="TextBox 382"/>
          <p:cNvSpPr txBox="1"/>
          <p:nvPr/>
        </p:nvSpPr>
        <p:spPr>
          <a:xfrm>
            <a:off x="4224528" y="5353812"/>
            <a:ext cx="292608" cy="3657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/>
            <a:r>
              <a:rPr sz="1600" b="1" i="0">
                <a:solidFill>
                  <a:srgbClr val="5F6B76"/>
                </a:solidFill>
                <a:latin typeface="Calibri"/>
              </a:rPr>
              <a:t>✕</a:t>
            </a:r>
          </a:p>
        </p:txBody>
      </p:sp>
      <p:sp>
        <p:nvSpPr>
          <p:cNvPr id="384" name="Rounded Rectangle 383"/>
          <p:cNvSpPr/>
          <p:nvPr/>
        </p:nvSpPr>
        <p:spPr>
          <a:xfrm>
            <a:off x="457200" y="6126479"/>
            <a:ext cx="8229600" cy="420624"/>
          </a:xfrm>
          <a:prstGeom prst="roundRect">
            <a:avLst>
              <a:gd name="adj" fmla="val 15000"/>
            </a:avLst>
          </a:prstGeom>
          <a:solidFill>
            <a:srgbClr val="FFF6E5"/>
          </a:solidFill>
          <a:ln w="12700">
            <a:solidFill>
              <a:srgbClr val="F3D9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5" name="TextBox 384"/>
          <p:cNvSpPr txBox="1"/>
          <p:nvPr/>
        </p:nvSpPr>
        <p:spPr>
          <a:xfrm>
            <a:off x="548640" y="6126479"/>
            <a:ext cx="8046720" cy="420624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l"/>
            <a:r>
              <a:rPr sz="950" b="1" i="0">
                <a:solidFill>
                  <a:srgbClr val="004079"/>
                </a:solidFill>
                <a:latin typeface="Calibri"/>
              </a:rPr>
              <a:t>Régimes douaniers particuliers : </a:t>
            </a:r>
            <a:r>
              <a:rPr sz="950" b="0" i="0">
                <a:solidFill>
                  <a:srgbClr val="1A2733"/>
                </a:solidFill>
                <a:latin typeface="Calibri"/>
              </a:rPr>
              <a:t>entrepôt douanier, perfectionnement actif, admission temporaire… ne sont pas soumis au RDUE (FAQ de la Commission).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7FA"/>
        </a:solidFill>
      </p:bgPr>
    </p:bg>
    <p:spTree>
      <p:nvGrpSpPr>
        <p:cNvPr id="339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14"/>
          <p:cNvSpPr/>
          <p:nvPr/>
        </p:nvSpPr>
        <p:spPr>
          <a:xfrm>
            <a:off x="457200" y="6510528"/>
            <a:ext cx="5852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RDUE / EUDR  ·  Webinaire CCI Lyon Métropole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14"/>
          <p:cNvSpPr/>
          <p:nvPr/>
        </p:nvSpPr>
        <p:spPr>
          <a:xfrm>
            <a:off x="7955280" y="651052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13 / 34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14"/>
          <p:cNvSpPr/>
          <p:nvPr/>
        </p:nvSpPr>
        <p:spPr>
          <a:xfrm>
            <a:off x="7223760" y="292608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F337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DF337F"/>
                </a:solidFill>
                <a:latin typeface="Calibri"/>
                <a:ea typeface="Calibri"/>
                <a:cs typeface="Calibri"/>
                <a:sym typeface="Calibri"/>
              </a:rPr>
              <a:t>CCI</a:t>
            </a:r>
            <a:r>
              <a:rPr b="1" i="0" lang="en-US" sz="110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 LYON MÉTROPOLE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14"/>
          <p:cNvSpPr/>
          <p:nvPr/>
        </p:nvSpPr>
        <p:spPr>
          <a:xfrm>
            <a:off x="7223760" y="457200"/>
            <a:ext cx="1828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700"/>
              <a:buFont typeface="Calibri"/>
              <a:buNone/>
            </a:pPr>
            <a:r>
              <a:rPr b="0" i="1" lang="en-US" sz="7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Saint-Étienne Roanne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14"/>
          <p:cNvSpPr/>
          <p:nvPr/>
        </p:nvSpPr>
        <p:spPr>
          <a:xfrm>
            <a:off x="457200" y="384048"/>
            <a:ext cx="65836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4079"/>
              </a:buClr>
              <a:buSzPts val="2700"/>
              <a:buFont typeface="Calibri"/>
              <a:buNone/>
            </a:pPr>
            <a:r>
              <a:rPr b="1" i="0" lang="en-US" sz="270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Acteurs &amp; responsabilités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4"/>
          <p:cNvSpPr/>
          <p:nvPr/>
        </p:nvSpPr>
        <p:spPr>
          <a:xfrm>
            <a:off x="457200" y="987552"/>
            <a:ext cx="81381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Amont ou aval, le rôle — flux par flux — fixe le niveau d'obligation (définitions art. 2).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4"/>
          <p:cNvSpPr/>
          <p:nvPr/>
        </p:nvSpPr>
        <p:spPr>
          <a:xfrm>
            <a:off x="457200" y="1600200"/>
            <a:ext cx="2606040" cy="4023360"/>
          </a:xfrm>
          <a:prstGeom prst="roundRect">
            <a:avLst>
              <a:gd fmla="val 2807" name="adj"/>
            </a:avLst>
          </a:prstGeom>
          <a:solidFill>
            <a:srgbClr val="FFFFFF"/>
          </a:solidFill>
          <a:ln cap="flat" cmpd="sng" w="12700">
            <a:solidFill>
              <a:srgbClr val="E1E9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47" name="Google Shape;347;p14"/>
          <p:cNvSpPr/>
          <p:nvPr/>
        </p:nvSpPr>
        <p:spPr>
          <a:xfrm>
            <a:off x="457200" y="1600200"/>
            <a:ext cx="2606040" cy="822960"/>
          </a:xfrm>
          <a:prstGeom prst="roundRect">
            <a:avLst>
              <a:gd fmla="val 8889" name="adj"/>
            </a:avLst>
          </a:prstGeom>
          <a:solidFill>
            <a:srgbClr val="00407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48" name="Google Shape;348;p14"/>
          <p:cNvSpPr/>
          <p:nvPr/>
        </p:nvSpPr>
        <p:spPr>
          <a:xfrm>
            <a:off x="621792" y="1746504"/>
            <a:ext cx="530352" cy="530352"/>
          </a:xfrm>
          <a:prstGeom prst="ellipse">
            <a:avLst/>
          </a:prstGeom>
          <a:solidFill>
            <a:srgbClr val="063A68"/>
          </a:solidFill>
          <a:ln>
            <a:noFill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icons/download.png" id="349" name="Google Shape;349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9076" y="1873788"/>
            <a:ext cx="275783" cy="275783"/>
          </a:xfrm>
          <a:prstGeom prst="rect">
            <a:avLst/>
          </a:prstGeom>
          <a:noFill/>
          <a:ln>
            <a:noFill/>
          </a:ln>
        </p:spPr>
      </p:pic>
      <p:sp>
        <p:nvSpPr>
          <p:cNvPr id="350" name="Google Shape;350;p14"/>
          <p:cNvSpPr/>
          <p:nvPr/>
        </p:nvSpPr>
        <p:spPr>
          <a:xfrm>
            <a:off x="1234440" y="1600200"/>
            <a:ext cx="17830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Opérateur (amont)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14"/>
          <p:cNvSpPr/>
          <p:nvPr/>
        </p:nvSpPr>
        <p:spPr>
          <a:xfrm>
            <a:off x="777240" y="2514600"/>
            <a:ext cx="1965960" cy="256032"/>
          </a:xfrm>
          <a:prstGeom prst="roundRect">
            <a:avLst>
              <a:gd fmla="val 50000" name="adj"/>
            </a:avLst>
          </a:prstGeom>
          <a:solidFill>
            <a:srgbClr val="00407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52" name="Google Shape;352;p14"/>
          <p:cNvSpPr/>
          <p:nvPr/>
        </p:nvSpPr>
        <p:spPr>
          <a:xfrm>
            <a:off x="777240" y="2514600"/>
            <a:ext cx="19659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Calibri"/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art. 2 §15 · art. 4-11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14"/>
          <p:cNvSpPr/>
          <p:nvPr/>
        </p:nvSpPr>
        <p:spPr>
          <a:xfrm>
            <a:off x="457200" y="2843784"/>
            <a:ext cx="26060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4079"/>
              </a:buClr>
              <a:buSzPts val="850"/>
              <a:buFont typeface="Calibri"/>
              <a:buNone/>
            </a:pPr>
            <a:r>
              <a:rPr b="1" i="0" lang="en-US" sz="95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CHARGE MAXIMALE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14"/>
          <p:cNvSpPr/>
          <p:nvPr/>
        </p:nvSpPr>
        <p:spPr>
          <a:xfrm>
            <a:off x="658368" y="3154680"/>
            <a:ext cx="2240280" cy="2331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1A2733"/>
              </a:buClr>
              <a:buSzPts val="1000"/>
              <a:buFont typeface="Calibri"/>
              <a:buChar char="•"/>
            </a:pPr>
            <a:r>
              <a:rPr b="0" i="0" lang="en-US" sz="1150" u="none" cap="none" strike="noStrike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Met sur le marché UE en premier / exporte.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A2733"/>
              </a:buClr>
              <a:buSzPts val="1000"/>
              <a:buFont typeface="Calibri"/>
              <a:buChar char="•"/>
            </a:pPr>
            <a:r>
              <a:rPr b="0" i="0" lang="en-US" sz="1150" u="none" cap="none" strike="noStrike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Diligence complète (art. 8-11).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A2733"/>
              </a:buClr>
              <a:buSzPts val="1000"/>
              <a:buFont typeface="Calibri"/>
              <a:buChar char="•"/>
            </a:pPr>
            <a:r>
              <a:rPr b="0" i="0" lang="en-US" sz="1150" u="none" cap="none" strike="noStrike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Dépose la DDR (art. 4 &amp; 33).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A2733"/>
              </a:buClr>
              <a:buSzPts val="1000"/>
              <a:buFont typeface="Calibri"/>
              <a:buChar char="•"/>
            </a:pPr>
            <a:r>
              <a:rPr b="0" i="0" lang="en-US" sz="1150" u="none" cap="none" strike="noStrike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N° de référence en douane (C716).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14"/>
          <p:cNvSpPr/>
          <p:nvPr/>
        </p:nvSpPr>
        <p:spPr>
          <a:xfrm>
            <a:off x="3246120" y="1600200"/>
            <a:ext cx="2606040" cy="4023360"/>
          </a:xfrm>
          <a:prstGeom prst="roundRect">
            <a:avLst>
              <a:gd fmla="val 2807" name="adj"/>
            </a:avLst>
          </a:prstGeom>
          <a:solidFill>
            <a:srgbClr val="FFFFFF"/>
          </a:solidFill>
          <a:ln cap="flat" cmpd="sng" w="12700">
            <a:solidFill>
              <a:srgbClr val="E1E9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56" name="Google Shape;356;p14"/>
          <p:cNvSpPr/>
          <p:nvPr/>
        </p:nvSpPr>
        <p:spPr>
          <a:xfrm>
            <a:off x="3246120" y="1600200"/>
            <a:ext cx="2606040" cy="822960"/>
          </a:xfrm>
          <a:prstGeom prst="roundRect">
            <a:avLst>
              <a:gd fmla="val 8889" name="adj"/>
            </a:avLst>
          </a:prstGeom>
          <a:solidFill>
            <a:srgbClr val="0092D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57" name="Google Shape;357;p14"/>
          <p:cNvSpPr/>
          <p:nvPr/>
        </p:nvSpPr>
        <p:spPr>
          <a:xfrm>
            <a:off x="3410712" y="1746504"/>
            <a:ext cx="530352" cy="530352"/>
          </a:xfrm>
          <a:prstGeom prst="ellipse">
            <a:avLst/>
          </a:prstGeom>
          <a:solidFill>
            <a:srgbClr val="063A68"/>
          </a:solidFill>
          <a:ln>
            <a:noFill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icons/industry.png" id="358" name="Google Shape;358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537996" y="1873788"/>
            <a:ext cx="275783" cy="275783"/>
          </a:xfrm>
          <a:prstGeom prst="rect">
            <a:avLst/>
          </a:prstGeom>
          <a:noFill/>
          <a:ln>
            <a:noFill/>
          </a:ln>
        </p:spPr>
      </p:pic>
      <p:sp>
        <p:nvSpPr>
          <p:cNvPr id="359" name="Google Shape;359;p14"/>
          <p:cNvSpPr/>
          <p:nvPr/>
        </p:nvSpPr>
        <p:spPr>
          <a:xfrm>
            <a:off x="4023360" y="1600200"/>
            <a:ext cx="17830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Opérateur en aval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14"/>
          <p:cNvSpPr/>
          <p:nvPr/>
        </p:nvSpPr>
        <p:spPr>
          <a:xfrm>
            <a:off x="3566160" y="2514600"/>
            <a:ext cx="1965960" cy="256032"/>
          </a:xfrm>
          <a:prstGeom prst="roundRect">
            <a:avLst>
              <a:gd fmla="val 50000" name="adj"/>
            </a:avLst>
          </a:prstGeom>
          <a:solidFill>
            <a:srgbClr val="0092D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61" name="Google Shape;361;p14"/>
          <p:cNvSpPr/>
          <p:nvPr/>
        </p:nvSpPr>
        <p:spPr>
          <a:xfrm>
            <a:off x="3566160" y="2514600"/>
            <a:ext cx="19659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Calibri"/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art. 2 · règl. 2025/2650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14"/>
          <p:cNvSpPr/>
          <p:nvPr/>
        </p:nvSpPr>
        <p:spPr>
          <a:xfrm>
            <a:off x="3246120" y="2843784"/>
            <a:ext cx="26060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92D2"/>
              </a:buClr>
              <a:buSzPts val="850"/>
              <a:buFont typeface="Calibri"/>
              <a:buNone/>
            </a:pPr>
            <a:r>
              <a:rPr b="1" i="0" lang="en-US" sz="950" u="none" cap="none" strike="noStrike">
                <a:solidFill>
                  <a:srgbClr val="0092D2"/>
                </a:solidFill>
                <a:latin typeface="Calibri"/>
                <a:ea typeface="Calibri"/>
                <a:cs typeface="Calibri"/>
                <a:sym typeface="Calibri"/>
              </a:rPr>
              <a:t>CHARGE ALLÉGÉE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p14"/>
          <p:cNvSpPr/>
          <p:nvPr/>
        </p:nvSpPr>
        <p:spPr>
          <a:xfrm>
            <a:off x="3447288" y="3154680"/>
            <a:ext cx="2240280" cy="2331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1A2733"/>
              </a:buClr>
              <a:buSzPts val="1000"/>
              <a:buFont typeface="Calibri"/>
              <a:buChar char="•"/>
            </a:pPr>
            <a:r>
              <a:rPr b="0" i="0" lang="en-US" sz="1150" u="none" cap="none" strike="noStrike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Transforme un produit déjà mis sur le marché UE.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A2733"/>
              </a:buClr>
              <a:buSzPts val="1000"/>
              <a:buFont typeface="Calibri"/>
              <a:buChar char="•"/>
            </a:pPr>
            <a:r>
              <a:rPr b="0" i="0" lang="en-US" sz="1150" u="none" cap="none" strike="noStrike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Pas de diligence, pas de DDR à déposer.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A2733"/>
              </a:buClr>
              <a:buSzPts val="1000"/>
              <a:buFont typeface="Calibri"/>
              <a:buChar char="•"/>
            </a:pPr>
            <a:r>
              <a:rPr b="0" i="0" lang="en-US" sz="1150" u="none" cap="none" strike="noStrike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1er aval : collecte et conserve le n° de DDR amont (5 ans).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A2733"/>
              </a:buClr>
              <a:buSzPts val="1000"/>
              <a:buFont typeface="Calibri"/>
              <a:buChar char="•"/>
            </a:pPr>
            <a:r>
              <a:rPr b="0" i="0" lang="en-US" sz="1150" u="none" cap="none" strike="noStrike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Avals suivants : infos fournisseur seulement.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14"/>
          <p:cNvSpPr/>
          <p:nvPr/>
        </p:nvSpPr>
        <p:spPr>
          <a:xfrm>
            <a:off x="6035040" y="1600200"/>
            <a:ext cx="2606040" cy="4023360"/>
          </a:xfrm>
          <a:prstGeom prst="roundRect">
            <a:avLst>
              <a:gd fmla="val 2807" name="adj"/>
            </a:avLst>
          </a:prstGeom>
          <a:solidFill>
            <a:srgbClr val="FFFFFF"/>
          </a:solidFill>
          <a:ln cap="flat" cmpd="sng" w="12700">
            <a:solidFill>
              <a:srgbClr val="E1E9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65" name="Google Shape;365;p14"/>
          <p:cNvSpPr/>
          <p:nvPr/>
        </p:nvSpPr>
        <p:spPr>
          <a:xfrm>
            <a:off x="6035040" y="1600200"/>
            <a:ext cx="2606040" cy="822960"/>
          </a:xfrm>
          <a:prstGeom prst="roundRect">
            <a:avLst>
              <a:gd fmla="val 8889" name="adj"/>
            </a:avLst>
          </a:prstGeom>
          <a:solidFill>
            <a:srgbClr val="00A49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66" name="Google Shape;366;p14"/>
          <p:cNvSpPr/>
          <p:nvPr/>
        </p:nvSpPr>
        <p:spPr>
          <a:xfrm>
            <a:off x="6199632" y="1746504"/>
            <a:ext cx="530352" cy="530352"/>
          </a:xfrm>
          <a:prstGeom prst="ellipse">
            <a:avLst/>
          </a:prstGeom>
          <a:solidFill>
            <a:srgbClr val="063A68"/>
          </a:solidFill>
          <a:ln>
            <a:noFill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icons/store.png" id="367" name="Google Shape;367;p1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326916" y="1873788"/>
            <a:ext cx="275783" cy="275783"/>
          </a:xfrm>
          <a:prstGeom prst="rect">
            <a:avLst/>
          </a:prstGeom>
          <a:noFill/>
          <a:ln>
            <a:noFill/>
          </a:ln>
        </p:spPr>
      </p:pic>
      <p:sp>
        <p:nvSpPr>
          <p:cNvPr id="368" name="Google Shape;368;p14"/>
          <p:cNvSpPr/>
          <p:nvPr/>
        </p:nvSpPr>
        <p:spPr>
          <a:xfrm>
            <a:off x="6812280" y="1600200"/>
            <a:ext cx="17830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Commerçant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9" name="Google Shape;369;p14"/>
          <p:cNvSpPr/>
          <p:nvPr/>
        </p:nvSpPr>
        <p:spPr>
          <a:xfrm>
            <a:off x="6355080" y="2514600"/>
            <a:ext cx="1965960" cy="256032"/>
          </a:xfrm>
          <a:prstGeom prst="roundRect">
            <a:avLst>
              <a:gd fmla="val 50000" name="adj"/>
            </a:avLst>
          </a:prstGeom>
          <a:solidFill>
            <a:srgbClr val="00A49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70" name="Google Shape;370;p14"/>
          <p:cNvSpPr/>
          <p:nvPr/>
        </p:nvSpPr>
        <p:spPr>
          <a:xfrm>
            <a:off x="6355080" y="2514600"/>
            <a:ext cx="19659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Calibri"/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art. 2 §17 · art. 5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14"/>
          <p:cNvSpPr/>
          <p:nvPr/>
        </p:nvSpPr>
        <p:spPr>
          <a:xfrm>
            <a:off x="6035040" y="2843784"/>
            <a:ext cx="26060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A49F"/>
              </a:buClr>
              <a:buSzPts val="850"/>
              <a:buFont typeface="Calibri"/>
              <a:buNone/>
            </a:pPr>
            <a:r>
              <a:rPr b="1" i="0" lang="en-US" sz="950" u="none" cap="none" strike="noStrike">
                <a:solidFill>
                  <a:srgbClr val="00A49F"/>
                </a:solidFill>
                <a:latin typeface="Calibri"/>
                <a:ea typeface="Calibri"/>
                <a:cs typeface="Calibri"/>
                <a:sym typeface="Calibri"/>
              </a:rPr>
              <a:t>CHARGE MINIMALE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14"/>
          <p:cNvSpPr/>
          <p:nvPr/>
        </p:nvSpPr>
        <p:spPr>
          <a:xfrm>
            <a:off x="6236208" y="3154680"/>
            <a:ext cx="2240280" cy="2331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1A2733"/>
              </a:buClr>
              <a:buSzPts val="1000"/>
              <a:buFont typeface="Calibri"/>
              <a:buChar char="•"/>
            </a:pPr>
            <a:r>
              <a:rPr b="0" i="0" lang="en-US" sz="1150" u="none" cap="none" strike="noStrike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Met à disposition sans transformer.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A2733"/>
              </a:buClr>
              <a:buSzPts val="1000"/>
              <a:buFont typeface="Calibri"/>
              <a:buChar char="•"/>
            </a:pPr>
            <a:r>
              <a:rPr b="0" i="0" lang="en-US" sz="1150" u="none" cap="none" strike="noStrike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1er commerçant aval : conserve le n° de DDR.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A2733"/>
              </a:buClr>
              <a:buSzPts val="1000"/>
              <a:buFont typeface="Calibri"/>
              <a:buChar char="•"/>
            </a:pPr>
            <a:r>
              <a:rPr b="0" i="0" lang="en-US" sz="1150" u="none" cap="none" strike="noStrike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Suivants : nom, adresse, site du fournisseur.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A2733"/>
              </a:buClr>
              <a:buSzPts val="1000"/>
              <a:buFont typeface="Calibri"/>
              <a:buChar char="•"/>
            </a:pPr>
            <a:r>
              <a:rPr b="0" i="0" lang="en-US" sz="1150" u="none" cap="none" strike="noStrike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Enregistrement au SI si non-PME.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" name="Google Shape;373;p14"/>
          <p:cNvSpPr/>
          <p:nvPr/>
        </p:nvSpPr>
        <p:spPr>
          <a:xfrm>
            <a:off x="457200" y="57150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1050"/>
              <a:buFont typeface="Calibri"/>
              <a:buNone/>
            </a:pPr>
            <a:r>
              <a:rPr b="0" i="1" lang="en-US" sz="105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Le mandataire (art. 6), établi dans l'UE, peut déposer la DDR au nom de l'opérateur — qui reste responsable.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15"/>
          <p:cNvSpPr/>
          <p:nvPr/>
        </p:nvSpPr>
        <p:spPr>
          <a:xfrm>
            <a:off x="457200" y="6510528"/>
            <a:ext cx="5852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RDUE / EUDR  ·  Webinaire CCI Lyon Métropole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15"/>
          <p:cNvSpPr/>
          <p:nvPr/>
        </p:nvSpPr>
        <p:spPr>
          <a:xfrm>
            <a:off x="7955280" y="651052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14 / 34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" name="Google Shape;381;p15"/>
          <p:cNvSpPr/>
          <p:nvPr/>
        </p:nvSpPr>
        <p:spPr>
          <a:xfrm>
            <a:off x="7223760" y="292608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F337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DF337F"/>
                </a:solidFill>
                <a:latin typeface="Calibri"/>
                <a:ea typeface="Calibri"/>
                <a:cs typeface="Calibri"/>
                <a:sym typeface="Calibri"/>
              </a:rPr>
              <a:t>CCI</a:t>
            </a:r>
            <a:r>
              <a:rPr b="1" i="0" lang="en-US" sz="110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 LYON MÉTROPOLE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" name="Google Shape;382;p15"/>
          <p:cNvSpPr/>
          <p:nvPr/>
        </p:nvSpPr>
        <p:spPr>
          <a:xfrm>
            <a:off x="7223760" y="457200"/>
            <a:ext cx="1828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700"/>
              <a:buFont typeface="Calibri"/>
              <a:buNone/>
            </a:pPr>
            <a:r>
              <a:rPr b="0" i="1" lang="en-US" sz="7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Saint-Étienne Roanne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" name="Google Shape;383;p15"/>
          <p:cNvSpPr/>
          <p:nvPr/>
        </p:nvSpPr>
        <p:spPr>
          <a:xfrm>
            <a:off x="457200" y="384048"/>
            <a:ext cx="65836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4079"/>
              </a:buClr>
              <a:buSzPts val="2700"/>
              <a:buFont typeface="Calibri"/>
              <a:buNone/>
            </a:pPr>
            <a:r>
              <a:rPr b="1" i="0" lang="en-US" sz="270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Cas pratiques : quel rôle pour qui ?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15"/>
          <p:cNvSpPr/>
          <p:nvPr/>
        </p:nvSpPr>
        <p:spPr>
          <a:xfrm>
            <a:off x="457200" y="987552"/>
            <a:ext cx="81381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Opérateur, opérateur en aval ou commerçant ?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5" name="Google Shape;385;p15"/>
          <p:cNvSpPr/>
          <p:nvPr/>
        </p:nvSpPr>
        <p:spPr>
          <a:xfrm>
            <a:off x="457200" y="1600200"/>
            <a:ext cx="8229600" cy="1280160"/>
          </a:xfrm>
          <a:prstGeom prst="roundRect">
            <a:avLst>
              <a:gd fmla="val 5714" name="adj"/>
            </a:avLst>
          </a:prstGeom>
          <a:solidFill>
            <a:srgbClr val="FFFFFF"/>
          </a:solidFill>
          <a:ln cap="flat" cmpd="sng" w="12700">
            <a:solidFill>
              <a:srgbClr val="E1E9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86" name="Google Shape;386;p15"/>
          <p:cNvSpPr/>
          <p:nvPr/>
        </p:nvSpPr>
        <p:spPr>
          <a:xfrm>
            <a:off x="685800" y="1920240"/>
            <a:ext cx="640080" cy="640080"/>
          </a:xfrm>
          <a:prstGeom prst="ellipse">
            <a:avLst/>
          </a:prstGeom>
          <a:solidFill>
            <a:srgbClr val="004079"/>
          </a:solidFill>
          <a:ln>
            <a:noFill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icons/download.png" id="387" name="Google Shape;38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9419" y="2073859"/>
            <a:ext cx="332842" cy="332842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15"/>
          <p:cNvSpPr/>
          <p:nvPr/>
        </p:nvSpPr>
        <p:spPr>
          <a:xfrm>
            <a:off x="658368" y="2532888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Cas 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" name="Google Shape;389;p15"/>
          <p:cNvSpPr/>
          <p:nvPr/>
        </p:nvSpPr>
        <p:spPr>
          <a:xfrm>
            <a:off x="1554480" y="1783080"/>
            <a:ext cx="512064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733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Un négociant importe des fèves de cacao du Ghana et les revend à un chocolatier français.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" name="Google Shape;390;p15"/>
          <p:cNvSpPr/>
          <p:nvPr/>
        </p:nvSpPr>
        <p:spPr>
          <a:xfrm>
            <a:off x="6858000" y="1984248"/>
            <a:ext cx="1691640" cy="512064"/>
          </a:xfrm>
          <a:prstGeom prst="roundRect">
            <a:avLst>
              <a:gd fmla="val 14286" name="adj"/>
            </a:avLst>
          </a:prstGeom>
          <a:solidFill>
            <a:srgbClr val="00407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91" name="Google Shape;391;p15"/>
          <p:cNvSpPr/>
          <p:nvPr/>
        </p:nvSpPr>
        <p:spPr>
          <a:xfrm>
            <a:off x="6858000" y="1984248"/>
            <a:ext cx="169164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Opérateur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15"/>
          <p:cNvSpPr/>
          <p:nvPr/>
        </p:nvSpPr>
        <p:spPr>
          <a:xfrm>
            <a:off x="457200" y="3017520"/>
            <a:ext cx="8229600" cy="1280160"/>
          </a:xfrm>
          <a:prstGeom prst="roundRect">
            <a:avLst>
              <a:gd fmla="val 5714" name="adj"/>
            </a:avLst>
          </a:prstGeom>
          <a:solidFill>
            <a:srgbClr val="FFFFFF"/>
          </a:solidFill>
          <a:ln cap="flat" cmpd="sng" w="12700">
            <a:solidFill>
              <a:srgbClr val="E1E9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93" name="Google Shape;393;p15"/>
          <p:cNvSpPr/>
          <p:nvPr/>
        </p:nvSpPr>
        <p:spPr>
          <a:xfrm>
            <a:off x="685800" y="3337560"/>
            <a:ext cx="640080" cy="640080"/>
          </a:xfrm>
          <a:prstGeom prst="ellipse">
            <a:avLst/>
          </a:prstGeom>
          <a:solidFill>
            <a:srgbClr val="0092D2"/>
          </a:solidFill>
          <a:ln>
            <a:noFill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icons/industry.png" id="394" name="Google Shape;394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39419" y="3491179"/>
            <a:ext cx="332842" cy="332842"/>
          </a:xfrm>
          <a:prstGeom prst="rect">
            <a:avLst/>
          </a:prstGeom>
          <a:noFill/>
          <a:ln>
            <a:noFill/>
          </a:ln>
        </p:spPr>
      </p:pic>
      <p:sp>
        <p:nvSpPr>
          <p:cNvPr id="395" name="Google Shape;395;p15"/>
          <p:cNvSpPr/>
          <p:nvPr/>
        </p:nvSpPr>
        <p:spPr>
          <a:xfrm>
            <a:off x="658368" y="3950208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Cas 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" name="Google Shape;396;p15"/>
          <p:cNvSpPr/>
          <p:nvPr/>
        </p:nvSpPr>
        <p:spPr>
          <a:xfrm>
            <a:off x="1554480" y="3200400"/>
            <a:ext cx="512064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733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Un fabricant de meubles achète du contreplaqué déjà déclaré (DDR déposée) et fabrique des meubles.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p15"/>
          <p:cNvSpPr/>
          <p:nvPr/>
        </p:nvSpPr>
        <p:spPr>
          <a:xfrm>
            <a:off x="6858000" y="3401568"/>
            <a:ext cx="1691640" cy="512064"/>
          </a:xfrm>
          <a:prstGeom prst="roundRect">
            <a:avLst>
              <a:gd fmla="val 14286" name="adj"/>
            </a:avLst>
          </a:prstGeom>
          <a:solidFill>
            <a:srgbClr val="0092D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98" name="Google Shape;398;p15"/>
          <p:cNvSpPr/>
          <p:nvPr/>
        </p:nvSpPr>
        <p:spPr>
          <a:xfrm>
            <a:off x="6858000" y="3401568"/>
            <a:ext cx="169164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Opérateur en aval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" name="Google Shape;399;p15"/>
          <p:cNvSpPr/>
          <p:nvPr/>
        </p:nvSpPr>
        <p:spPr>
          <a:xfrm>
            <a:off x="457200" y="4434840"/>
            <a:ext cx="8229600" cy="1280160"/>
          </a:xfrm>
          <a:prstGeom prst="roundRect">
            <a:avLst>
              <a:gd fmla="val 5714" name="adj"/>
            </a:avLst>
          </a:prstGeom>
          <a:solidFill>
            <a:srgbClr val="FFFFFF"/>
          </a:solidFill>
          <a:ln cap="flat" cmpd="sng" w="12700">
            <a:solidFill>
              <a:srgbClr val="E1E9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00" name="Google Shape;400;p15"/>
          <p:cNvSpPr/>
          <p:nvPr/>
        </p:nvSpPr>
        <p:spPr>
          <a:xfrm>
            <a:off x="685800" y="4754880"/>
            <a:ext cx="640080" cy="640080"/>
          </a:xfrm>
          <a:prstGeom prst="ellipse">
            <a:avLst/>
          </a:prstGeom>
          <a:solidFill>
            <a:srgbClr val="00A49F"/>
          </a:solidFill>
          <a:ln>
            <a:noFill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icons/store.png" id="401" name="Google Shape;401;p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39419" y="4908499"/>
            <a:ext cx="332842" cy="332842"/>
          </a:xfrm>
          <a:prstGeom prst="rect">
            <a:avLst/>
          </a:prstGeom>
          <a:noFill/>
          <a:ln>
            <a:noFill/>
          </a:ln>
        </p:spPr>
      </p:pic>
      <p:sp>
        <p:nvSpPr>
          <p:cNvPr id="402" name="Google Shape;402;p15"/>
          <p:cNvSpPr/>
          <p:nvPr/>
        </p:nvSpPr>
        <p:spPr>
          <a:xfrm>
            <a:off x="658368" y="5367528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Cas 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" name="Google Shape;403;p15"/>
          <p:cNvSpPr/>
          <p:nvPr/>
        </p:nvSpPr>
        <p:spPr>
          <a:xfrm>
            <a:off x="1554480" y="4617720"/>
            <a:ext cx="512064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733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Une enseigne achète en France des meubles déjà couverts et les revend en magasin.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" name="Google Shape;404;p15"/>
          <p:cNvSpPr/>
          <p:nvPr/>
        </p:nvSpPr>
        <p:spPr>
          <a:xfrm>
            <a:off x="6858000" y="4818888"/>
            <a:ext cx="1691640" cy="512064"/>
          </a:xfrm>
          <a:prstGeom prst="roundRect">
            <a:avLst>
              <a:gd fmla="val 14286" name="adj"/>
            </a:avLst>
          </a:prstGeom>
          <a:solidFill>
            <a:srgbClr val="00A49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05" name="Google Shape;405;p15"/>
          <p:cNvSpPr/>
          <p:nvPr/>
        </p:nvSpPr>
        <p:spPr>
          <a:xfrm>
            <a:off x="6858000" y="4818888"/>
            <a:ext cx="169164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Commerçant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7FA"/>
        </a:solidFill>
      </p:bgPr>
    </p:bg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p27"/>
          <p:cNvSpPr/>
          <p:nvPr/>
        </p:nvSpPr>
        <p:spPr>
          <a:xfrm>
            <a:off x="457200" y="6510528"/>
            <a:ext cx="5852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RDUE / EUDR  ·  Webinaire CCI Lyon Métropole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0" name="Google Shape;730;p27"/>
          <p:cNvSpPr/>
          <p:nvPr/>
        </p:nvSpPr>
        <p:spPr>
          <a:xfrm>
            <a:off x="7955280" y="651052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15 / 34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1" name="Google Shape;731;p27"/>
          <p:cNvSpPr/>
          <p:nvPr/>
        </p:nvSpPr>
        <p:spPr>
          <a:xfrm>
            <a:off x="7223760" y="292608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F337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DF337F"/>
                </a:solidFill>
                <a:latin typeface="Calibri"/>
                <a:ea typeface="Calibri"/>
                <a:cs typeface="Calibri"/>
                <a:sym typeface="Calibri"/>
              </a:rPr>
              <a:t>CCI</a:t>
            </a:r>
            <a:r>
              <a:rPr b="1" i="0" lang="en-US" sz="110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 LYON MÉTROPOLE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2" name="Google Shape;732;p27"/>
          <p:cNvSpPr/>
          <p:nvPr/>
        </p:nvSpPr>
        <p:spPr>
          <a:xfrm>
            <a:off x="7223760" y="457200"/>
            <a:ext cx="1828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700"/>
              <a:buFont typeface="Calibri"/>
              <a:buNone/>
            </a:pPr>
            <a:r>
              <a:rPr b="0" i="1" lang="en-US" sz="7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Saint-Étienne Roanne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3" name="Google Shape;733;p27"/>
          <p:cNvSpPr/>
          <p:nvPr/>
        </p:nvSpPr>
        <p:spPr>
          <a:xfrm>
            <a:off x="457200" y="384048"/>
            <a:ext cx="65836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4079"/>
              </a:buClr>
              <a:buSzPts val="2700"/>
              <a:buFont typeface="Calibri"/>
              <a:buNone/>
            </a:pPr>
            <a:r>
              <a:rPr b="1" i="0" lang="en-US" sz="270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Précisions clés — FAQ Commission v5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4" name="Google Shape;734;p27"/>
          <p:cNvSpPr/>
          <p:nvPr/>
        </p:nvSpPr>
        <p:spPr>
          <a:xfrm>
            <a:off x="457200" y="987552"/>
            <a:ext cx="81381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Ce que la 5ᵉ édition de la FAQ (avril 2026) confirme ou clarifie — n° de question à contrôler sur la v5.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5" name="Google Shape;735;p27"/>
          <p:cNvSpPr/>
          <p:nvPr/>
        </p:nvSpPr>
        <p:spPr>
          <a:xfrm>
            <a:off x="457200" y="1554480"/>
            <a:ext cx="3977640" cy="1965960"/>
          </a:xfrm>
          <a:prstGeom prst="roundRect">
            <a:avLst>
              <a:gd fmla="val 3721" name="adj"/>
            </a:avLst>
          </a:prstGeom>
          <a:solidFill>
            <a:srgbClr val="FFFFFF"/>
          </a:solidFill>
          <a:ln cap="flat" cmpd="sng" w="12700">
            <a:solidFill>
              <a:srgbClr val="E1E9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736" name="Google Shape;736;p27"/>
          <p:cNvSpPr/>
          <p:nvPr/>
        </p:nvSpPr>
        <p:spPr>
          <a:xfrm>
            <a:off x="658368" y="1810512"/>
            <a:ext cx="640080" cy="640080"/>
          </a:xfrm>
          <a:prstGeom prst="ellipse">
            <a:avLst/>
          </a:prstGeom>
          <a:solidFill>
            <a:srgbClr val="004079"/>
          </a:solidFill>
          <a:ln>
            <a:noFill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icons/cart.png" id="737" name="Google Shape;737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1987" y="1964131"/>
            <a:ext cx="332842" cy="332842"/>
          </a:xfrm>
          <a:prstGeom prst="rect">
            <a:avLst/>
          </a:prstGeom>
          <a:noFill/>
          <a:ln>
            <a:noFill/>
          </a:ln>
        </p:spPr>
      </p:pic>
      <p:sp>
        <p:nvSpPr>
          <p:cNvPr id="738" name="Google Shape;738;p27"/>
          <p:cNvSpPr/>
          <p:nvPr/>
        </p:nvSpPr>
        <p:spPr>
          <a:xfrm>
            <a:off x="1463040" y="1810512"/>
            <a:ext cx="28346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4079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Le e-commerce est couvert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9" name="Google Shape;739;p27"/>
          <p:cNvSpPr/>
          <p:nvPr/>
        </p:nvSpPr>
        <p:spPr>
          <a:xfrm>
            <a:off x="713232" y="2487168"/>
            <a:ext cx="35204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733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Ventes en ligne (B2B &amp; B2C), places de marché : opérateur/aval/commerçant selon le rôle. Usage privé C2C exclu.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0" name="Google Shape;740;p27"/>
          <p:cNvSpPr/>
          <p:nvPr/>
        </p:nvSpPr>
        <p:spPr>
          <a:xfrm>
            <a:off x="713232" y="3154680"/>
            <a:ext cx="1280160" cy="256032"/>
          </a:xfrm>
          <a:prstGeom prst="roundRect">
            <a:avLst>
              <a:gd fmla="val 50000" name="adj"/>
            </a:avLst>
          </a:prstGeom>
          <a:solidFill>
            <a:srgbClr val="00407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741" name="Google Shape;741;p27"/>
          <p:cNvSpPr/>
          <p:nvPr/>
        </p:nvSpPr>
        <p:spPr>
          <a:xfrm>
            <a:off x="713232" y="3154680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Calibri"/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FAQ 3.17 à 3.19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2" name="Google Shape;742;p27"/>
          <p:cNvSpPr/>
          <p:nvPr/>
        </p:nvSpPr>
        <p:spPr>
          <a:xfrm>
            <a:off x="4617720" y="1554480"/>
            <a:ext cx="3977640" cy="1965960"/>
          </a:xfrm>
          <a:prstGeom prst="roundRect">
            <a:avLst>
              <a:gd fmla="val 3721" name="adj"/>
            </a:avLst>
          </a:prstGeom>
          <a:solidFill>
            <a:srgbClr val="FFFFFF"/>
          </a:solidFill>
          <a:ln cap="flat" cmpd="sng" w="12700">
            <a:solidFill>
              <a:srgbClr val="E1E9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743" name="Google Shape;743;p27"/>
          <p:cNvSpPr/>
          <p:nvPr/>
        </p:nvSpPr>
        <p:spPr>
          <a:xfrm>
            <a:off x="4818888" y="1810512"/>
            <a:ext cx="640080" cy="640080"/>
          </a:xfrm>
          <a:prstGeom prst="ellipse">
            <a:avLst/>
          </a:prstGeom>
          <a:solidFill>
            <a:srgbClr val="D8232A"/>
          </a:solidFill>
          <a:ln>
            <a:noFill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icons/ban.png" id="744" name="Google Shape;744;p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972507" y="1964131"/>
            <a:ext cx="332842" cy="332842"/>
          </a:xfrm>
          <a:prstGeom prst="rect">
            <a:avLst/>
          </a:prstGeom>
          <a:noFill/>
          <a:ln>
            <a:noFill/>
          </a:ln>
        </p:spPr>
      </p:pic>
      <p:sp>
        <p:nvSpPr>
          <p:cNvPr id="745" name="Google Shape;745;p27"/>
          <p:cNvSpPr/>
          <p:nvPr/>
        </p:nvSpPr>
        <p:spPr>
          <a:xfrm>
            <a:off x="5623560" y="1810512"/>
            <a:ext cx="28346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4079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Pas de dilution possible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6" name="Google Shape;746;p27"/>
          <p:cNvSpPr/>
          <p:nvPr/>
        </p:nvSpPr>
        <p:spPr>
          <a:xfrm>
            <a:off x="4873752" y="2487168"/>
            <a:ext cx="35204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733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Un lot mélangé avec une part non conforme, non isolable, devient non conforme en entier.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7" name="Google Shape;747;p27"/>
          <p:cNvSpPr/>
          <p:nvPr/>
        </p:nvSpPr>
        <p:spPr>
          <a:xfrm>
            <a:off x="4873752" y="3154680"/>
            <a:ext cx="1280160" cy="256032"/>
          </a:xfrm>
          <a:prstGeom prst="roundRect">
            <a:avLst>
              <a:gd fmla="val 50000" name="adj"/>
            </a:avLst>
          </a:prstGeom>
          <a:solidFill>
            <a:srgbClr val="D8232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748" name="Google Shape;748;p27"/>
          <p:cNvSpPr/>
          <p:nvPr/>
        </p:nvSpPr>
        <p:spPr>
          <a:xfrm>
            <a:off x="4873752" y="3154680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Calibri"/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FAQ 1.4 &amp; 1.5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9" name="Google Shape;749;p27"/>
          <p:cNvSpPr/>
          <p:nvPr/>
        </p:nvSpPr>
        <p:spPr>
          <a:xfrm>
            <a:off x="457200" y="3703320"/>
            <a:ext cx="3977640" cy="1965960"/>
          </a:xfrm>
          <a:prstGeom prst="roundRect">
            <a:avLst>
              <a:gd fmla="val 3721" name="adj"/>
            </a:avLst>
          </a:prstGeom>
          <a:solidFill>
            <a:srgbClr val="FFFFFF"/>
          </a:solidFill>
          <a:ln cap="flat" cmpd="sng" w="12700">
            <a:solidFill>
              <a:srgbClr val="E1E9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750" name="Google Shape;750;p27"/>
          <p:cNvSpPr/>
          <p:nvPr/>
        </p:nvSpPr>
        <p:spPr>
          <a:xfrm>
            <a:off x="658368" y="3959352"/>
            <a:ext cx="640080" cy="640080"/>
          </a:xfrm>
          <a:prstGeom prst="ellipse">
            <a:avLst/>
          </a:prstGeom>
          <a:solidFill>
            <a:srgbClr val="00A49F"/>
          </a:solidFill>
          <a:ln>
            <a:noFill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icons/cubes.png" id="751" name="Google Shape;751;p2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11987" y="4112971"/>
            <a:ext cx="332842" cy="332842"/>
          </a:xfrm>
          <a:prstGeom prst="rect">
            <a:avLst/>
          </a:prstGeom>
          <a:noFill/>
          <a:ln>
            <a:noFill/>
          </a:ln>
        </p:spPr>
      </p:pic>
      <p:sp>
        <p:nvSpPr>
          <p:cNvPr id="752" name="Google Shape;752;p27"/>
          <p:cNvSpPr/>
          <p:nvPr/>
        </p:nvSpPr>
        <p:spPr>
          <a:xfrm>
            <a:off x="1463040" y="3959352"/>
            <a:ext cx="28346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4079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Produits composés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3" name="Google Shape;753;p27"/>
          <p:cNvSpPr/>
          <p:nvPr/>
        </p:nvSpPr>
        <p:spPr>
          <a:xfrm>
            <a:off x="713232" y="4636008"/>
            <a:ext cx="35204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733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Produit multi-matières : diligence sur chaque matière de base en cause.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4" name="Google Shape;754;p27"/>
          <p:cNvSpPr/>
          <p:nvPr/>
        </p:nvSpPr>
        <p:spPr>
          <a:xfrm>
            <a:off x="713232" y="5303520"/>
            <a:ext cx="1280160" cy="256032"/>
          </a:xfrm>
          <a:prstGeom prst="roundRect">
            <a:avLst>
              <a:gd fmla="val 50000" name="adj"/>
            </a:avLst>
          </a:prstGeom>
          <a:solidFill>
            <a:srgbClr val="00A49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755" name="Google Shape;755;p27"/>
          <p:cNvSpPr/>
          <p:nvPr/>
        </p:nvSpPr>
        <p:spPr>
          <a:xfrm>
            <a:off x="713232" y="5303520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Calibri"/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FAQ 1.3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6" name="Google Shape;756;p27"/>
          <p:cNvSpPr/>
          <p:nvPr/>
        </p:nvSpPr>
        <p:spPr>
          <a:xfrm>
            <a:off x="4617720" y="3703320"/>
            <a:ext cx="3977640" cy="1965960"/>
          </a:xfrm>
          <a:prstGeom prst="roundRect">
            <a:avLst>
              <a:gd fmla="val 3721" name="adj"/>
            </a:avLst>
          </a:prstGeom>
          <a:solidFill>
            <a:srgbClr val="FFFFFF"/>
          </a:solidFill>
          <a:ln cap="flat" cmpd="sng" w="12700">
            <a:solidFill>
              <a:srgbClr val="E1E9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757" name="Google Shape;757;p27"/>
          <p:cNvSpPr/>
          <p:nvPr/>
        </p:nvSpPr>
        <p:spPr>
          <a:xfrm>
            <a:off x="4818888" y="3959352"/>
            <a:ext cx="640080" cy="640080"/>
          </a:xfrm>
          <a:prstGeom prst="ellipse">
            <a:avLst/>
          </a:prstGeom>
          <a:solidFill>
            <a:srgbClr val="0092D2"/>
          </a:solidFill>
          <a:ln>
            <a:noFill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icons/layers.png" id="758" name="Google Shape;758;p2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972507" y="4112971"/>
            <a:ext cx="332842" cy="332842"/>
          </a:xfrm>
          <a:prstGeom prst="rect">
            <a:avLst/>
          </a:prstGeom>
          <a:noFill/>
          <a:ln>
            <a:noFill/>
          </a:ln>
        </p:spPr>
      </p:pic>
      <p:sp>
        <p:nvSpPr>
          <p:cNvPr id="759" name="Google Shape;759;p27"/>
          <p:cNvSpPr/>
          <p:nvPr/>
        </p:nvSpPr>
        <p:spPr>
          <a:xfrm>
            <a:off x="5623560" y="3959352"/>
            <a:ext cx="28346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4079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Un compte, plusieurs rôles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0" name="Google Shape;760;p27"/>
          <p:cNvSpPr/>
          <p:nvPr/>
        </p:nvSpPr>
        <p:spPr>
          <a:xfrm>
            <a:off x="4873752" y="4636008"/>
            <a:ext cx="35204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733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Dans le système d'information, un même compte porte opérateur / aval / commerçant / mandataire.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1" name="Google Shape;761;p27"/>
          <p:cNvSpPr/>
          <p:nvPr/>
        </p:nvSpPr>
        <p:spPr>
          <a:xfrm>
            <a:off x="4873752" y="5303520"/>
            <a:ext cx="1280160" cy="256032"/>
          </a:xfrm>
          <a:prstGeom prst="roundRect">
            <a:avLst>
              <a:gd fmla="val 50000" name="adj"/>
            </a:avLst>
          </a:prstGeom>
          <a:solidFill>
            <a:srgbClr val="0092D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762" name="Google Shape;762;p27"/>
          <p:cNvSpPr/>
          <p:nvPr/>
        </p:nvSpPr>
        <p:spPr>
          <a:xfrm>
            <a:off x="4873752" y="5303520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Calibri"/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FAQ 7.29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4079"/>
        </a:solidFill>
      </p:bgPr>
    </p:bg>
    <p:spTree>
      <p:nvGrpSpPr>
        <p:cNvPr id="433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p17"/>
          <p:cNvSpPr/>
          <p:nvPr/>
        </p:nvSpPr>
        <p:spPr>
          <a:xfrm>
            <a:off x="7040880" y="292608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F337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DF337F"/>
                </a:solidFill>
                <a:latin typeface="Calibri"/>
                <a:ea typeface="Calibri"/>
                <a:cs typeface="Calibri"/>
                <a:sym typeface="Calibri"/>
              </a:rPr>
              <a:t>CCI</a:t>
            </a:r>
            <a:r>
              <a:rPr b="1" i="0" lang="en-US" sz="110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 LYON MÉTROPOLE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5" name="Google Shape;435;p17"/>
          <p:cNvSpPr/>
          <p:nvPr/>
        </p:nvSpPr>
        <p:spPr>
          <a:xfrm>
            <a:off x="7040880" y="457200"/>
            <a:ext cx="1828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700"/>
              <a:buFont typeface="Calibri"/>
              <a:buNone/>
            </a:pPr>
            <a:r>
              <a:rPr b="0" i="1" lang="en-US" sz="7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Saint-Étienne Roanne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17"/>
          <p:cNvSpPr/>
          <p:nvPr/>
        </p:nvSpPr>
        <p:spPr>
          <a:xfrm>
            <a:off x="-1463040" y="3840480"/>
            <a:ext cx="4572000" cy="4572000"/>
          </a:xfrm>
          <a:prstGeom prst="ellipse">
            <a:avLst/>
          </a:prstGeom>
          <a:solidFill>
            <a:srgbClr val="00305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37" name="Google Shape;437;p17"/>
          <p:cNvSpPr/>
          <p:nvPr/>
        </p:nvSpPr>
        <p:spPr>
          <a:xfrm>
            <a:off x="640080" y="1417320"/>
            <a:ext cx="5943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F337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DF337F"/>
                </a:solidFill>
                <a:latin typeface="Calibri"/>
                <a:ea typeface="Calibri"/>
                <a:cs typeface="Calibri"/>
                <a:sym typeface="Calibri"/>
              </a:rPr>
              <a:t>PARTIE II</a:t>
            </a:r>
            <a:r>
              <a:rPr b="1" i="0" lang="en-US" sz="1400" u="none" cap="none" strike="noStrike">
                <a:solidFill>
                  <a:srgbClr val="9FC4E0"/>
                </a:solidFill>
                <a:latin typeface="Calibri"/>
                <a:ea typeface="Calibri"/>
                <a:cs typeface="Calibri"/>
                <a:sym typeface="Calibri"/>
              </a:rPr>
              <a:t>    ·    30 min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" name="Google Shape;438;p17"/>
          <p:cNvSpPr/>
          <p:nvPr/>
        </p:nvSpPr>
        <p:spPr>
          <a:xfrm>
            <a:off x="594360" y="1828800"/>
            <a:ext cx="54864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400"/>
              <a:buFont typeface="Calibri"/>
              <a:buNone/>
            </a:pPr>
            <a:r>
              <a:rPr b="1" i="0" lang="en-US" sz="3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La diligence raisonnée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9" name="Google Shape;439;p17"/>
          <p:cNvSpPr/>
          <p:nvPr/>
        </p:nvSpPr>
        <p:spPr>
          <a:xfrm>
            <a:off x="685800" y="3566160"/>
            <a:ext cx="5486400" cy="2560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E6F0F8"/>
              </a:buClr>
              <a:buSzPts val="1400"/>
              <a:buFont typeface="Calibri"/>
              <a:buChar char="•"/>
            </a:pPr>
            <a:r>
              <a:rPr b="0" i="0" lang="en-US" sz="1400" u="none" cap="none" strike="noStrike">
                <a:solidFill>
                  <a:srgbClr val="E6F0F8"/>
                </a:solidFill>
                <a:latin typeface="Calibri"/>
                <a:ea typeface="Calibri"/>
                <a:cs typeface="Calibri"/>
                <a:sym typeface="Calibri"/>
              </a:rPr>
              <a:t>Le système de diligence raisonnée (SDR)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900"/>
              </a:spcBef>
              <a:spcAft>
                <a:spcPts val="0"/>
              </a:spcAft>
              <a:buClr>
                <a:srgbClr val="E6F0F8"/>
              </a:buClr>
              <a:buSzPts val="1400"/>
              <a:buFont typeface="Calibri"/>
              <a:buChar char="•"/>
            </a:pPr>
            <a:r>
              <a:rPr b="0" i="0" lang="en-US" sz="1400" u="none" cap="none" strike="noStrike">
                <a:solidFill>
                  <a:srgbClr val="E6F0F8"/>
                </a:solidFill>
                <a:latin typeface="Calibri"/>
                <a:ea typeface="Calibri"/>
                <a:cs typeface="Calibri"/>
                <a:sym typeface="Calibri"/>
              </a:rPr>
              <a:t>La démarche en 3 étapes (recueil, évaluation, atténuation)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900"/>
              </a:spcBef>
              <a:spcAft>
                <a:spcPts val="0"/>
              </a:spcAft>
              <a:buClr>
                <a:srgbClr val="E6F0F8"/>
              </a:buClr>
              <a:buSzPts val="1400"/>
              <a:buFont typeface="Calibri"/>
              <a:buChar char="•"/>
            </a:pPr>
            <a:r>
              <a:rPr b="0" i="0" lang="en-US" sz="1400" u="none" cap="none" strike="noStrike">
                <a:solidFill>
                  <a:srgbClr val="E6F0F8"/>
                </a:solidFill>
                <a:latin typeface="Calibri"/>
                <a:ea typeface="Calibri"/>
                <a:cs typeface="Calibri"/>
                <a:sym typeface="Calibri"/>
              </a:rPr>
              <a:t>La diligence simplifiée (pays à risque faible)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900"/>
              </a:spcBef>
              <a:spcAft>
                <a:spcPts val="0"/>
              </a:spcAft>
              <a:buClr>
                <a:srgbClr val="E6F0F8"/>
              </a:buClr>
              <a:buSzPts val="1400"/>
              <a:buFont typeface="Calibri"/>
              <a:buChar char="•"/>
            </a:pPr>
            <a:r>
              <a:rPr b="0" i="0" lang="en-US" sz="1400" u="none" cap="none" strike="noStrike">
                <a:solidFill>
                  <a:srgbClr val="E6F0F8"/>
                </a:solidFill>
                <a:latin typeface="Calibri"/>
                <a:ea typeface="Calibri"/>
                <a:cs typeface="Calibri"/>
                <a:sym typeface="Calibri"/>
              </a:rPr>
              <a:t>Le réexamen annuel du SDR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" name="Google Shape;440;p17"/>
          <p:cNvSpPr/>
          <p:nvPr/>
        </p:nvSpPr>
        <p:spPr>
          <a:xfrm>
            <a:off x="6446520" y="1645920"/>
            <a:ext cx="2240280" cy="731520"/>
          </a:xfrm>
          <a:prstGeom prst="roundRect">
            <a:avLst>
              <a:gd fmla="val 7500" name="adj"/>
            </a:avLst>
          </a:prstGeom>
          <a:solidFill>
            <a:srgbClr val="063A6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41" name="Google Shape;441;p17"/>
          <p:cNvSpPr/>
          <p:nvPr/>
        </p:nvSpPr>
        <p:spPr>
          <a:xfrm>
            <a:off x="6583680" y="1773936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FB4DB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7FB4DB"/>
                </a:solidFill>
                <a:latin typeface="Calibri"/>
                <a:ea typeface="Calibri"/>
                <a:cs typeface="Calibri"/>
                <a:sym typeface="Calibri"/>
              </a:rPr>
              <a:t>IN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2" name="Google Shape;442;p17"/>
          <p:cNvSpPr/>
          <p:nvPr/>
        </p:nvSpPr>
        <p:spPr>
          <a:xfrm>
            <a:off x="7086600" y="1700784"/>
            <a:ext cx="150876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FE0EE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FE0EE"/>
                </a:solidFill>
                <a:latin typeface="Calibri"/>
                <a:ea typeface="Calibri"/>
                <a:cs typeface="Calibri"/>
                <a:sym typeface="Calibri"/>
              </a:rPr>
              <a:t>Contexte &amp; enjeux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3" name="Google Shape;443;p17"/>
          <p:cNvSpPr/>
          <p:nvPr/>
        </p:nvSpPr>
        <p:spPr>
          <a:xfrm>
            <a:off x="6446520" y="2514600"/>
            <a:ext cx="2240280" cy="731520"/>
          </a:xfrm>
          <a:prstGeom prst="roundRect">
            <a:avLst>
              <a:gd fmla="val 7500" name="adj"/>
            </a:avLst>
          </a:prstGeom>
          <a:solidFill>
            <a:srgbClr val="063A6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44" name="Google Shape;444;p17"/>
          <p:cNvSpPr/>
          <p:nvPr/>
        </p:nvSpPr>
        <p:spPr>
          <a:xfrm>
            <a:off x="6583680" y="2642616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FB4DB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7FB4DB"/>
                </a:solidFill>
                <a:latin typeface="Calibri"/>
                <a:ea typeface="Calibri"/>
                <a:cs typeface="Calibri"/>
                <a:sym typeface="Calibri"/>
              </a:rPr>
              <a:t>I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5" name="Google Shape;445;p17"/>
          <p:cNvSpPr/>
          <p:nvPr/>
        </p:nvSpPr>
        <p:spPr>
          <a:xfrm>
            <a:off x="7086600" y="2569464"/>
            <a:ext cx="150876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FE0EE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FE0EE"/>
                </a:solidFill>
                <a:latin typeface="Calibri"/>
                <a:ea typeface="Calibri"/>
                <a:cs typeface="Calibri"/>
                <a:sym typeface="Calibri"/>
              </a:rPr>
              <a:t>Êtes-vous concernés ?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6" name="Google Shape;446;p17"/>
          <p:cNvSpPr/>
          <p:nvPr/>
        </p:nvSpPr>
        <p:spPr>
          <a:xfrm>
            <a:off x="6446520" y="3383280"/>
            <a:ext cx="2240280" cy="731520"/>
          </a:xfrm>
          <a:prstGeom prst="roundRect">
            <a:avLst>
              <a:gd fmla="val 7500" name="adj"/>
            </a:avLst>
          </a:prstGeom>
          <a:solidFill>
            <a:srgbClr val="DF337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47" name="Google Shape;447;p17"/>
          <p:cNvSpPr/>
          <p:nvPr/>
        </p:nvSpPr>
        <p:spPr>
          <a:xfrm>
            <a:off x="6583680" y="3511296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II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17"/>
          <p:cNvSpPr/>
          <p:nvPr/>
        </p:nvSpPr>
        <p:spPr>
          <a:xfrm>
            <a:off x="7086600" y="3438144"/>
            <a:ext cx="150876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La diligence raisonnée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9" name="Google Shape;449;p17"/>
          <p:cNvSpPr/>
          <p:nvPr/>
        </p:nvSpPr>
        <p:spPr>
          <a:xfrm>
            <a:off x="6446520" y="4251960"/>
            <a:ext cx="2240280" cy="731520"/>
          </a:xfrm>
          <a:prstGeom prst="roundRect">
            <a:avLst>
              <a:gd fmla="val 7500" name="adj"/>
            </a:avLst>
          </a:prstGeom>
          <a:solidFill>
            <a:srgbClr val="063A6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50" name="Google Shape;450;p17"/>
          <p:cNvSpPr/>
          <p:nvPr/>
        </p:nvSpPr>
        <p:spPr>
          <a:xfrm>
            <a:off x="6583680" y="4379976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FB4DB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7FB4DB"/>
                </a:solidFill>
                <a:latin typeface="Calibri"/>
                <a:ea typeface="Calibri"/>
                <a:cs typeface="Calibri"/>
                <a:sym typeface="Calibri"/>
              </a:rPr>
              <a:t>III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" name="Google Shape;451;p17"/>
          <p:cNvSpPr/>
          <p:nvPr/>
        </p:nvSpPr>
        <p:spPr>
          <a:xfrm>
            <a:off x="7086600" y="4306824"/>
            <a:ext cx="150876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FE0EE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FE0EE"/>
                </a:solidFill>
                <a:latin typeface="Calibri"/>
                <a:ea typeface="Calibri"/>
                <a:cs typeface="Calibri"/>
                <a:sym typeface="Calibri"/>
              </a:rPr>
              <a:t>Mise en œuvre &amp; formalités douanières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" name="Google Shape;452;p17"/>
          <p:cNvSpPr/>
          <p:nvPr/>
        </p:nvSpPr>
        <p:spPr>
          <a:xfrm>
            <a:off x="6446520" y="5120640"/>
            <a:ext cx="2240280" cy="731520"/>
          </a:xfrm>
          <a:prstGeom prst="roundRect">
            <a:avLst>
              <a:gd fmla="val 7500" name="adj"/>
            </a:avLst>
          </a:prstGeom>
          <a:solidFill>
            <a:srgbClr val="063A6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53" name="Google Shape;453;p17"/>
          <p:cNvSpPr/>
          <p:nvPr/>
        </p:nvSpPr>
        <p:spPr>
          <a:xfrm>
            <a:off x="6583680" y="5248656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FB4DB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7FB4DB"/>
                </a:solidFill>
                <a:latin typeface="Calibri"/>
                <a:ea typeface="Calibri"/>
                <a:cs typeface="Calibri"/>
                <a:sym typeface="Calibri"/>
              </a:rPr>
              <a:t>IV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4" name="Google Shape;454;p17"/>
          <p:cNvSpPr/>
          <p:nvPr/>
        </p:nvSpPr>
        <p:spPr>
          <a:xfrm>
            <a:off x="7086600" y="5175504"/>
            <a:ext cx="150876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FE0EE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FE0EE"/>
                </a:solidFill>
                <a:latin typeface="Calibri"/>
                <a:ea typeface="Calibri"/>
                <a:cs typeface="Calibri"/>
                <a:sym typeface="Calibri"/>
              </a:rPr>
              <a:t>Bonnes pratiques &amp; conseils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7FA"/>
        </a:solidFill>
      </p:bgPr>
    </p:bg>
    <p:spTree>
      <p:nvGrpSpPr>
        <p:cNvPr id="459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p18"/>
          <p:cNvSpPr/>
          <p:nvPr/>
        </p:nvSpPr>
        <p:spPr>
          <a:xfrm>
            <a:off x="457200" y="6510528"/>
            <a:ext cx="5852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RDUE / EUDR  ·  Webinaire CCI Lyon Métropole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1" name="Google Shape;461;p18"/>
          <p:cNvSpPr/>
          <p:nvPr/>
        </p:nvSpPr>
        <p:spPr>
          <a:xfrm>
            <a:off x="7955280" y="651052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17 / 34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2" name="Google Shape;462;p18"/>
          <p:cNvSpPr/>
          <p:nvPr/>
        </p:nvSpPr>
        <p:spPr>
          <a:xfrm>
            <a:off x="7223760" y="292608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F337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DF337F"/>
                </a:solidFill>
                <a:latin typeface="Calibri"/>
                <a:ea typeface="Calibri"/>
                <a:cs typeface="Calibri"/>
                <a:sym typeface="Calibri"/>
              </a:rPr>
              <a:t>CCI</a:t>
            </a:r>
            <a:r>
              <a:rPr b="1" i="0" lang="en-US" sz="110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 LYON MÉTROPOLE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3" name="Google Shape;463;p18"/>
          <p:cNvSpPr/>
          <p:nvPr/>
        </p:nvSpPr>
        <p:spPr>
          <a:xfrm>
            <a:off x="7223760" y="457200"/>
            <a:ext cx="1828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700"/>
              <a:buFont typeface="Calibri"/>
              <a:buNone/>
            </a:pPr>
            <a:r>
              <a:rPr b="0" i="1" lang="en-US" sz="7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Saint-Étienne Roanne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4" name="Google Shape;464;p18"/>
          <p:cNvSpPr/>
          <p:nvPr/>
        </p:nvSpPr>
        <p:spPr>
          <a:xfrm>
            <a:off x="457200" y="384048"/>
            <a:ext cx="65836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4079"/>
              </a:buClr>
              <a:buSzPts val="2700"/>
              <a:buFont typeface="Calibri"/>
              <a:buNone/>
            </a:pPr>
            <a:r>
              <a:rPr b="1" i="0" lang="en-US" sz="270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Le système de diligence raisonnée (SDR)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5" name="Google Shape;465;p18"/>
          <p:cNvSpPr/>
          <p:nvPr/>
        </p:nvSpPr>
        <p:spPr>
          <a:xfrm>
            <a:off x="457200" y="987552"/>
            <a:ext cx="81381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Une obligation permanente, pas un acte ponctuel (art. 12).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6" name="Google Shape;466;p18"/>
          <p:cNvSpPr/>
          <p:nvPr/>
        </p:nvSpPr>
        <p:spPr>
          <a:xfrm>
            <a:off x="457200" y="1554480"/>
            <a:ext cx="5029200" cy="4023360"/>
          </a:xfrm>
          <a:prstGeom prst="roundRect">
            <a:avLst>
              <a:gd fmla="val 1818" name="adj"/>
            </a:avLst>
          </a:prstGeom>
          <a:solidFill>
            <a:srgbClr val="FFFFFF"/>
          </a:solidFill>
          <a:ln cap="flat" cmpd="sng" w="12700">
            <a:solidFill>
              <a:srgbClr val="E1E9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67" name="Google Shape;467;p18"/>
          <p:cNvSpPr/>
          <p:nvPr/>
        </p:nvSpPr>
        <p:spPr>
          <a:xfrm>
            <a:off x="685800" y="1783080"/>
            <a:ext cx="4572000" cy="3657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4079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Ce que c'est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Clr>
                <a:srgbClr val="1A2733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Un ensemble de procédures internes prouvant la légalité et l'absence de déforestation de vos produits.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Clr>
                <a:srgbClr val="004079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Ce qu'il impose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A2733"/>
              </a:buClr>
              <a:buSzPts val="1200"/>
              <a:buFont typeface="Calibri"/>
              <a:buChar char="•"/>
            </a:pPr>
            <a:r>
              <a:rPr b="0" i="0" lang="en-US" sz="1200" u="none" cap="none" strike="noStrike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Documenter la démarche et conserver les preuves 5 ans.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600"/>
              </a:spcBef>
              <a:spcAft>
                <a:spcPts val="0"/>
              </a:spcAft>
              <a:buClr>
                <a:srgbClr val="1A2733"/>
              </a:buClr>
              <a:buSzPts val="1200"/>
              <a:buFont typeface="Calibri"/>
              <a:buChar char="•"/>
            </a:pPr>
            <a:r>
              <a:rPr b="0" i="0" lang="en-US" sz="1200" u="none" cap="none" strike="noStrike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Réexaminer le SDR au moins une fois par an.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600"/>
              </a:spcBef>
              <a:spcAft>
                <a:spcPts val="0"/>
              </a:spcAft>
              <a:buClr>
                <a:srgbClr val="1A2733"/>
              </a:buClr>
              <a:buSzPts val="1200"/>
              <a:buFont typeface="Calibri"/>
              <a:buChar char="•"/>
            </a:pPr>
            <a:r>
              <a:rPr b="0" i="0" lang="en-US" sz="1200" u="none" cap="none" strike="noStrike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Rapport annuel public pour les entreprises non-PME.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8" name="Google Shape;468;p18"/>
          <p:cNvSpPr/>
          <p:nvPr/>
        </p:nvSpPr>
        <p:spPr>
          <a:xfrm>
            <a:off x="5669280" y="1554480"/>
            <a:ext cx="3017520" cy="4023360"/>
          </a:xfrm>
          <a:prstGeom prst="roundRect">
            <a:avLst>
              <a:gd fmla="val 2424" name="adj"/>
            </a:avLst>
          </a:prstGeom>
          <a:solidFill>
            <a:srgbClr val="004079"/>
          </a:solidFill>
          <a:ln cap="flat" cmpd="sng" w="12700">
            <a:solidFill>
              <a:srgbClr val="E1E9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69" name="Google Shape;469;p18"/>
          <p:cNvSpPr/>
          <p:nvPr/>
        </p:nvSpPr>
        <p:spPr>
          <a:xfrm>
            <a:off x="6812280" y="1828800"/>
            <a:ext cx="731520" cy="731520"/>
          </a:xfrm>
          <a:prstGeom prst="ellipse">
            <a:avLst/>
          </a:prstGeom>
          <a:solidFill>
            <a:srgbClr val="DF337F"/>
          </a:solidFill>
          <a:ln>
            <a:noFill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icons/recycle.png" id="470" name="Google Shape;470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987845" y="2004365"/>
            <a:ext cx="380390" cy="380390"/>
          </a:xfrm>
          <a:prstGeom prst="rect">
            <a:avLst/>
          </a:prstGeom>
          <a:noFill/>
          <a:ln>
            <a:noFill/>
          </a:ln>
        </p:spPr>
      </p:pic>
      <p:sp>
        <p:nvSpPr>
          <p:cNvPr id="471" name="Google Shape;471;p18"/>
          <p:cNvSpPr/>
          <p:nvPr/>
        </p:nvSpPr>
        <p:spPr>
          <a:xfrm>
            <a:off x="5806440" y="2697480"/>
            <a:ext cx="27432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Réexamen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au moins 1 fois / an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2" name="Google Shape;472;p18"/>
          <p:cNvSpPr/>
          <p:nvPr/>
        </p:nvSpPr>
        <p:spPr>
          <a:xfrm>
            <a:off x="5852160" y="3520440"/>
            <a:ext cx="265176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FE0EE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CFE0EE"/>
                </a:solidFill>
                <a:latin typeface="Calibri"/>
                <a:ea typeface="Calibri"/>
                <a:cs typeface="Calibri"/>
                <a:sym typeface="Calibri"/>
              </a:rPr>
              <a:t>Recueil → Évaluation → Atténuation, revus régulièrement.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3" name="Google Shape;473;p18"/>
          <p:cNvSpPr/>
          <p:nvPr/>
        </p:nvSpPr>
        <p:spPr>
          <a:xfrm>
            <a:off x="6537960" y="5029200"/>
            <a:ext cx="1280160" cy="256032"/>
          </a:xfrm>
          <a:prstGeom prst="roundRect">
            <a:avLst>
              <a:gd fmla="val 50000" name="adj"/>
            </a:avLst>
          </a:prstGeom>
          <a:solidFill>
            <a:srgbClr val="DF337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74" name="Google Shape;474;p18"/>
          <p:cNvSpPr/>
          <p:nvPr/>
        </p:nvSpPr>
        <p:spPr>
          <a:xfrm>
            <a:off x="6537960" y="5029200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Calibri"/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ART. 12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19"/>
          <p:cNvSpPr/>
          <p:nvPr/>
        </p:nvSpPr>
        <p:spPr>
          <a:xfrm>
            <a:off x="457200" y="6510528"/>
            <a:ext cx="5852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RDUE / EUDR  ·  Webinaire CCI Lyon Métropole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1" name="Google Shape;481;p19"/>
          <p:cNvSpPr/>
          <p:nvPr/>
        </p:nvSpPr>
        <p:spPr>
          <a:xfrm>
            <a:off x="7955280" y="651052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18 / 34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" name="Google Shape;482;p19"/>
          <p:cNvSpPr/>
          <p:nvPr/>
        </p:nvSpPr>
        <p:spPr>
          <a:xfrm>
            <a:off x="7223760" y="292608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F337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DF337F"/>
                </a:solidFill>
                <a:latin typeface="Calibri"/>
                <a:ea typeface="Calibri"/>
                <a:cs typeface="Calibri"/>
                <a:sym typeface="Calibri"/>
              </a:rPr>
              <a:t>CCI</a:t>
            </a:r>
            <a:r>
              <a:rPr b="1" i="0" lang="en-US" sz="110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 LYON MÉTROPOLE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3" name="Google Shape;483;p19"/>
          <p:cNvSpPr/>
          <p:nvPr/>
        </p:nvSpPr>
        <p:spPr>
          <a:xfrm>
            <a:off x="7223760" y="457200"/>
            <a:ext cx="1828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700"/>
              <a:buFont typeface="Calibri"/>
              <a:buNone/>
            </a:pPr>
            <a:r>
              <a:rPr b="0" i="1" lang="en-US" sz="7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Saint-Étienne Roanne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4" name="Google Shape;484;p19"/>
          <p:cNvSpPr/>
          <p:nvPr/>
        </p:nvSpPr>
        <p:spPr>
          <a:xfrm>
            <a:off x="457200" y="384048"/>
            <a:ext cx="65836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4079"/>
              </a:buClr>
              <a:buSzPts val="2700"/>
              <a:buFont typeface="Calibri"/>
              <a:buNone/>
            </a:pPr>
            <a:r>
              <a:rPr b="1" i="0" lang="en-US" sz="270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La diligence raisonnée en 3 étapes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5" name="Google Shape;485;p19"/>
          <p:cNvSpPr/>
          <p:nvPr/>
        </p:nvSpPr>
        <p:spPr>
          <a:xfrm>
            <a:off x="457200" y="987552"/>
            <a:ext cx="81381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Art. 8 à 11 du règlement.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6" name="Google Shape;486;p19"/>
          <p:cNvSpPr/>
          <p:nvPr/>
        </p:nvSpPr>
        <p:spPr>
          <a:xfrm>
            <a:off x="457200" y="1554480"/>
            <a:ext cx="2606040" cy="2651760"/>
          </a:xfrm>
          <a:prstGeom prst="roundRect">
            <a:avLst>
              <a:gd fmla="val 2807" name="adj"/>
            </a:avLst>
          </a:prstGeom>
          <a:solidFill>
            <a:srgbClr val="FFFFFF"/>
          </a:solidFill>
          <a:ln cap="flat" cmpd="sng" w="12700">
            <a:solidFill>
              <a:srgbClr val="E1E9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87" name="Google Shape;487;p19"/>
          <p:cNvSpPr/>
          <p:nvPr/>
        </p:nvSpPr>
        <p:spPr>
          <a:xfrm>
            <a:off x="658368" y="1783080"/>
            <a:ext cx="658368" cy="658368"/>
          </a:xfrm>
          <a:prstGeom prst="ellipse">
            <a:avLst/>
          </a:prstGeom>
          <a:solidFill>
            <a:srgbClr val="004079"/>
          </a:solidFill>
          <a:ln>
            <a:noFill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icons/search.png" id="488" name="Google Shape;488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6376" y="1941088"/>
            <a:ext cx="342351" cy="342351"/>
          </a:xfrm>
          <a:prstGeom prst="rect">
            <a:avLst/>
          </a:prstGeom>
          <a:noFill/>
          <a:ln>
            <a:noFill/>
          </a:ln>
        </p:spPr>
      </p:pic>
      <p:sp>
        <p:nvSpPr>
          <p:cNvPr id="489" name="Google Shape;489;p19"/>
          <p:cNvSpPr/>
          <p:nvPr/>
        </p:nvSpPr>
        <p:spPr>
          <a:xfrm>
            <a:off x="2377440" y="1737360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D8E2EC"/>
              </a:buClr>
              <a:buSzPts val="3000"/>
              <a:buFont typeface="Calibri"/>
              <a:buNone/>
            </a:pPr>
            <a:r>
              <a:rPr b="1" i="0" lang="en-US" sz="3000" u="none" cap="none" strike="noStrike">
                <a:solidFill>
                  <a:srgbClr val="D8E2EC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0" name="Google Shape;490;p19"/>
          <p:cNvSpPr/>
          <p:nvPr/>
        </p:nvSpPr>
        <p:spPr>
          <a:xfrm>
            <a:off x="658368" y="2560320"/>
            <a:ext cx="22402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4079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Recueil d'informations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1" name="Google Shape;491;p19"/>
          <p:cNvSpPr/>
          <p:nvPr/>
        </p:nvSpPr>
        <p:spPr>
          <a:xfrm>
            <a:off x="658368" y="3017520"/>
            <a:ext cx="224028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733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Produit, quantité, pays, fournisseurs, géolocalisation des parcelles, dates de production, preuves de légalité.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2" name="Google Shape;492;p19"/>
          <p:cNvSpPr/>
          <p:nvPr/>
        </p:nvSpPr>
        <p:spPr>
          <a:xfrm>
            <a:off x="658368" y="3840480"/>
            <a:ext cx="822960" cy="256032"/>
          </a:xfrm>
          <a:prstGeom prst="roundRect">
            <a:avLst>
              <a:gd fmla="val 50000" name="adj"/>
            </a:avLst>
          </a:prstGeom>
          <a:solidFill>
            <a:srgbClr val="00407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93" name="Google Shape;493;p19"/>
          <p:cNvSpPr/>
          <p:nvPr/>
        </p:nvSpPr>
        <p:spPr>
          <a:xfrm>
            <a:off x="658368" y="3840480"/>
            <a:ext cx="8229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Calibri"/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art. 9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4" name="Google Shape;494;p19"/>
          <p:cNvSpPr/>
          <p:nvPr/>
        </p:nvSpPr>
        <p:spPr>
          <a:xfrm>
            <a:off x="3035808" y="2423160"/>
            <a:ext cx="2743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4079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5" name="Google Shape;495;p19"/>
          <p:cNvSpPr/>
          <p:nvPr/>
        </p:nvSpPr>
        <p:spPr>
          <a:xfrm>
            <a:off x="3246120" y="1554480"/>
            <a:ext cx="2606040" cy="2651760"/>
          </a:xfrm>
          <a:prstGeom prst="roundRect">
            <a:avLst>
              <a:gd fmla="val 2807" name="adj"/>
            </a:avLst>
          </a:prstGeom>
          <a:solidFill>
            <a:srgbClr val="FFFFFF"/>
          </a:solidFill>
          <a:ln cap="flat" cmpd="sng" w="12700">
            <a:solidFill>
              <a:srgbClr val="E1E9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96" name="Google Shape;496;p19"/>
          <p:cNvSpPr/>
          <p:nvPr/>
        </p:nvSpPr>
        <p:spPr>
          <a:xfrm>
            <a:off x="3447288" y="1783080"/>
            <a:ext cx="658368" cy="658368"/>
          </a:xfrm>
          <a:prstGeom prst="ellipse">
            <a:avLst/>
          </a:prstGeom>
          <a:solidFill>
            <a:srgbClr val="0092D2"/>
          </a:solidFill>
          <a:ln>
            <a:noFill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icons/chart.png" id="497" name="Google Shape;497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605296" y="1941088"/>
            <a:ext cx="342351" cy="342351"/>
          </a:xfrm>
          <a:prstGeom prst="rect">
            <a:avLst/>
          </a:prstGeom>
          <a:noFill/>
          <a:ln>
            <a:noFill/>
          </a:ln>
        </p:spPr>
      </p:pic>
      <p:sp>
        <p:nvSpPr>
          <p:cNvPr id="498" name="Google Shape;498;p19"/>
          <p:cNvSpPr/>
          <p:nvPr/>
        </p:nvSpPr>
        <p:spPr>
          <a:xfrm>
            <a:off x="5166360" y="1737360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D8E2EC"/>
              </a:buClr>
              <a:buSzPts val="3000"/>
              <a:buFont typeface="Calibri"/>
              <a:buNone/>
            </a:pPr>
            <a:r>
              <a:rPr b="1" i="0" lang="en-US" sz="3000" u="none" cap="none" strike="noStrike">
                <a:solidFill>
                  <a:srgbClr val="D8E2EC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9" name="Google Shape;499;p19"/>
          <p:cNvSpPr/>
          <p:nvPr/>
        </p:nvSpPr>
        <p:spPr>
          <a:xfrm>
            <a:off x="3447288" y="2560320"/>
            <a:ext cx="22402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4079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Évaluation du risque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0" name="Google Shape;500;p19"/>
          <p:cNvSpPr/>
          <p:nvPr/>
        </p:nvSpPr>
        <p:spPr>
          <a:xfrm>
            <a:off x="3447288" y="3017520"/>
            <a:ext cx="224028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733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Selon la zone de production, la complexité de la chaîne, la présence de forêts.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1" name="Google Shape;501;p19"/>
          <p:cNvSpPr/>
          <p:nvPr/>
        </p:nvSpPr>
        <p:spPr>
          <a:xfrm>
            <a:off x="3447288" y="3840480"/>
            <a:ext cx="822960" cy="256032"/>
          </a:xfrm>
          <a:prstGeom prst="roundRect">
            <a:avLst>
              <a:gd fmla="val 50000" name="adj"/>
            </a:avLst>
          </a:prstGeom>
          <a:solidFill>
            <a:srgbClr val="0092D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502" name="Google Shape;502;p19"/>
          <p:cNvSpPr/>
          <p:nvPr/>
        </p:nvSpPr>
        <p:spPr>
          <a:xfrm>
            <a:off x="3447288" y="3840480"/>
            <a:ext cx="8229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Calibri"/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art. 10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3" name="Google Shape;503;p19"/>
          <p:cNvSpPr/>
          <p:nvPr/>
        </p:nvSpPr>
        <p:spPr>
          <a:xfrm>
            <a:off x="5824728" y="2423160"/>
            <a:ext cx="2743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92D2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rgbClr val="0092D2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4" name="Google Shape;504;p19"/>
          <p:cNvSpPr/>
          <p:nvPr/>
        </p:nvSpPr>
        <p:spPr>
          <a:xfrm>
            <a:off x="6035040" y="1554480"/>
            <a:ext cx="2606040" cy="2651760"/>
          </a:xfrm>
          <a:prstGeom prst="roundRect">
            <a:avLst>
              <a:gd fmla="val 2807" name="adj"/>
            </a:avLst>
          </a:prstGeom>
          <a:solidFill>
            <a:srgbClr val="FFFFFF"/>
          </a:solidFill>
          <a:ln cap="flat" cmpd="sng" w="12700">
            <a:solidFill>
              <a:srgbClr val="E1E9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505" name="Google Shape;505;p19"/>
          <p:cNvSpPr/>
          <p:nvPr/>
        </p:nvSpPr>
        <p:spPr>
          <a:xfrm>
            <a:off x="6236208" y="1783080"/>
            <a:ext cx="658368" cy="658368"/>
          </a:xfrm>
          <a:prstGeom prst="ellipse">
            <a:avLst/>
          </a:prstGeom>
          <a:solidFill>
            <a:srgbClr val="00A49F"/>
          </a:solidFill>
          <a:ln>
            <a:noFill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icons/shield.png" id="506" name="Google Shape;506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394216" y="1941088"/>
            <a:ext cx="342351" cy="342351"/>
          </a:xfrm>
          <a:prstGeom prst="rect">
            <a:avLst/>
          </a:prstGeom>
          <a:noFill/>
          <a:ln>
            <a:noFill/>
          </a:ln>
        </p:spPr>
      </p:pic>
      <p:sp>
        <p:nvSpPr>
          <p:cNvPr id="507" name="Google Shape;507;p19"/>
          <p:cNvSpPr/>
          <p:nvPr/>
        </p:nvSpPr>
        <p:spPr>
          <a:xfrm>
            <a:off x="7955280" y="1737360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D8E2EC"/>
              </a:buClr>
              <a:buSzPts val="3000"/>
              <a:buFont typeface="Calibri"/>
              <a:buNone/>
            </a:pPr>
            <a:r>
              <a:rPr b="1" i="0" lang="en-US" sz="3000" u="none" cap="none" strike="noStrike">
                <a:solidFill>
                  <a:srgbClr val="D8E2EC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8" name="Google Shape;508;p19"/>
          <p:cNvSpPr/>
          <p:nvPr/>
        </p:nvSpPr>
        <p:spPr>
          <a:xfrm>
            <a:off x="6236208" y="2560320"/>
            <a:ext cx="22402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4079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Atténuation du risque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9" name="Google Shape;509;p19"/>
          <p:cNvSpPr/>
          <p:nvPr/>
        </p:nvSpPr>
        <p:spPr>
          <a:xfrm>
            <a:off x="6236208" y="3017520"/>
            <a:ext cx="224028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733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Mesures correctives, audits ou enquêtes si un risque est identifié.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0" name="Google Shape;510;p19"/>
          <p:cNvSpPr/>
          <p:nvPr/>
        </p:nvSpPr>
        <p:spPr>
          <a:xfrm>
            <a:off x="6236208" y="3840480"/>
            <a:ext cx="822960" cy="256032"/>
          </a:xfrm>
          <a:prstGeom prst="roundRect">
            <a:avLst>
              <a:gd fmla="val 50000" name="adj"/>
            </a:avLst>
          </a:prstGeom>
          <a:solidFill>
            <a:srgbClr val="00A49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511" name="Google Shape;511;p19"/>
          <p:cNvSpPr/>
          <p:nvPr/>
        </p:nvSpPr>
        <p:spPr>
          <a:xfrm>
            <a:off x="6236208" y="3840480"/>
            <a:ext cx="8229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Calibri"/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art. 11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2" name="Google Shape;512;p19"/>
          <p:cNvSpPr/>
          <p:nvPr/>
        </p:nvSpPr>
        <p:spPr>
          <a:xfrm>
            <a:off x="457200" y="4526280"/>
            <a:ext cx="8229600" cy="1097280"/>
          </a:xfrm>
          <a:prstGeom prst="roundRect">
            <a:avLst>
              <a:gd fmla="val 6667" name="adj"/>
            </a:avLst>
          </a:prstGeom>
          <a:solidFill>
            <a:srgbClr val="004079"/>
          </a:solidFill>
          <a:ln cap="flat" cmpd="sng" w="12700">
            <a:solidFill>
              <a:srgbClr val="E1E9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513" name="Google Shape;513;p19"/>
          <p:cNvSpPr/>
          <p:nvPr/>
        </p:nvSpPr>
        <p:spPr>
          <a:xfrm>
            <a:off x="731520" y="4754880"/>
            <a:ext cx="640080" cy="640080"/>
          </a:xfrm>
          <a:prstGeom prst="ellipse">
            <a:avLst/>
          </a:prstGeom>
          <a:solidFill>
            <a:srgbClr val="00A49F"/>
          </a:solidFill>
          <a:ln>
            <a:noFill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icons/seedling.png" id="514" name="Google Shape;514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85139" y="4908499"/>
            <a:ext cx="332842" cy="332842"/>
          </a:xfrm>
          <a:prstGeom prst="rect">
            <a:avLst/>
          </a:prstGeom>
          <a:noFill/>
          <a:ln>
            <a:noFill/>
          </a:ln>
        </p:spPr>
      </p:pic>
      <p:sp>
        <p:nvSpPr>
          <p:cNvPr id="515" name="Google Shape;515;p19"/>
          <p:cNvSpPr/>
          <p:nvPr/>
        </p:nvSpPr>
        <p:spPr>
          <a:xfrm>
            <a:off x="1645920" y="4617720"/>
            <a:ext cx="67665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Le vrai chantier : la donnée amont.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6" name="Google Shape;516;p19"/>
          <p:cNvSpPr/>
          <p:nvPr/>
        </p:nvSpPr>
        <p:spPr>
          <a:xfrm>
            <a:off x="1645920" y="5029200"/>
            <a:ext cx="67665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FE0EE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CFE0EE"/>
                </a:solidFill>
                <a:latin typeface="Calibri"/>
                <a:ea typeface="Calibri"/>
                <a:cs typeface="Calibri"/>
                <a:sym typeface="Calibri"/>
              </a:rPr>
              <a:t>Géolocalisation des parcelles et preuves : l'effort le plus lourd, à lancer dès maintenant.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2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Google Shape;522;p20"/>
          <p:cNvSpPr/>
          <p:nvPr/>
        </p:nvSpPr>
        <p:spPr>
          <a:xfrm>
            <a:off x="457200" y="6510528"/>
            <a:ext cx="5852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RDUE / EUDR  ·  Webinaire CCI Lyon Métropole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3" name="Google Shape;523;p20"/>
          <p:cNvSpPr/>
          <p:nvPr/>
        </p:nvSpPr>
        <p:spPr>
          <a:xfrm>
            <a:off x="7955280" y="651052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19 / 34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4" name="Google Shape;524;p20"/>
          <p:cNvSpPr/>
          <p:nvPr/>
        </p:nvSpPr>
        <p:spPr>
          <a:xfrm>
            <a:off x="7223760" y="292608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F337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DF337F"/>
                </a:solidFill>
                <a:latin typeface="Calibri"/>
                <a:ea typeface="Calibri"/>
                <a:cs typeface="Calibri"/>
                <a:sym typeface="Calibri"/>
              </a:rPr>
              <a:t>CCI</a:t>
            </a:r>
            <a:r>
              <a:rPr b="1" i="0" lang="en-US" sz="110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 LYON MÉTROPOLE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5" name="Google Shape;525;p20"/>
          <p:cNvSpPr/>
          <p:nvPr/>
        </p:nvSpPr>
        <p:spPr>
          <a:xfrm>
            <a:off x="7223760" y="457200"/>
            <a:ext cx="1828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700"/>
              <a:buFont typeface="Calibri"/>
              <a:buNone/>
            </a:pPr>
            <a:r>
              <a:rPr b="0" i="1" lang="en-US" sz="7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Saint-Étienne Roanne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6" name="Google Shape;526;p20"/>
          <p:cNvSpPr/>
          <p:nvPr/>
        </p:nvSpPr>
        <p:spPr>
          <a:xfrm>
            <a:off x="457200" y="384048"/>
            <a:ext cx="65836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4079"/>
              </a:buClr>
              <a:buSzPts val="2700"/>
              <a:buFont typeface="Calibri"/>
              <a:buNone/>
            </a:pPr>
            <a:r>
              <a:rPr b="1" i="0" lang="en-US" sz="270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Diligence simplifiée : le rôle du pays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7" name="Google Shape;527;p20"/>
          <p:cNvSpPr/>
          <p:nvPr/>
        </p:nvSpPr>
        <p:spPr>
          <a:xfrm>
            <a:off x="457200" y="987552"/>
            <a:ext cx="81381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Le pays de production module la diligence (art. 29) — liste du 22/05/2025, révision annoncée.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8" name="Google Shape;528;p20"/>
          <p:cNvSpPr/>
          <p:nvPr/>
        </p:nvSpPr>
        <p:spPr>
          <a:xfrm>
            <a:off x="457200" y="1600200"/>
            <a:ext cx="8229600" cy="1234440"/>
          </a:xfrm>
          <a:prstGeom prst="roundRect">
            <a:avLst>
              <a:gd fmla="val 5926" name="adj"/>
            </a:avLst>
          </a:prstGeom>
          <a:solidFill>
            <a:srgbClr val="FFFFFF"/>
          </a:solidFill>
          <a:ln cap="flat" cmpd="sng" w="12700">
            <a:solidFill>
              <a:srgbClr val="E1E9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529" name="Google Shape;529;p20"/>
          <p:cNvSpPr/>
          <p:nvPr/>
        </p:nvSpPr>
        <p:spPr>
          <a:xfrm>
            <a:off x="457200" y="1600200"/>
            <a:ext cx="2011680" cy="1234440"/>
          </a:xfrm>
          <a:prstGeom prst="roundRect">
            <a:avLst>
              <a:gd fmla="val 5926" name="adj"/>
            </a:avLst>
          </a:prstGeom>
          <a:solidFill>
            <a:srgbClr val="00A49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530" name="Google Shape;530;p20"/>
          <p:cNvSpPr/>
          <p:nvPr/>
        </p:nvSpPr>
        <p:spPr>
          <a:xfrm>
            <a:off x="457200" y="1737360"/>
            <a:ext cx="20116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400"/>
              <a:buFont typeface="Calibri"/>
              <a:buNone/>
            </a:pPr>
            <a:r>
              <a:rPr b="1" i="0" lang="en-US" sz="3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140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1" name="Google Shape;531;p20"/>
          <p:cNvSpPr/>
          <p:nvPr/>
        </p:nvSpPr>
        <p:spPr>
          <a:xfrm>
            <a:off x="457200" y="2423160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RISQUE FAIBLE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2" name="Google Shape;532;p20"/>
          <p:cNvSpPr/>
          <p:nvPr/>
        </p:nvSpPr>
        <p:spPr>
          <a:xfrm>
            <a:off x="2697480" y="1746504"/>
            <a:ext cx="58064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4079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pays (dont toute l'UE)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3" name="Google Shape;533;p20"/>
          <p:cNvSpPr/>
          <p:nvPr/>
        </p:nvSpPr>
        <p:spPr>
          <a:xfrm>
            <a:off x="2697480" y="2148840"/>
            <a:ext cx="58064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A49F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00A49F"/>
                </a:solidFill>
                <a:latin typeface="Calibri"/>
                <a:ea typeface="Calibri"/>
                <a:cs typeface="Calibri"/>
                <a:sym typeface="Calibri"/>
              </a:rPr>
              <a:t>Diligence : </a:t>
            </a:r>
            <a:r>
              <a:rPr b="0" i="0" lang="en-US" sz="1150" u="none" cap="none" strike="noStrike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Diligence simplifiée — l'avantage stratégique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4" name="Google Shape;534;p20"/>
          <p:cNvSpPr/>
          <p:nvPr/>
        </p:nvSpPr>
        <p:spPr>
          <a:xfrm>
            <a:off x="2697480" y="2468880"/>
            <a:ext cx="58064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A49F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00A49F"/>
                </a:solidFill>
                <a:latin typeface="Calibri"/>
                <a:ea typeface="Calibri"/>
                <a:cs typeface="Calibri"/>
                <a:sym typeface="Calibri"/>
              </a:rPr>
              <a:t>Contrôles : </a:t>
            </a:r>
            <a:r>
              <a:rPr b="0" i="0" lang="en-US" sz="1150" u="none" cap="none" strike="noStrike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1 %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5" name="Google Shape;535;p20"/>
          <p:cNvSpPr/>
          <p:nvPr/>
        </p:nvSpPr>
        <p:spPr>
          <a:xfrm>
            <a:off x="457200" y="2971800"/>
            <a:ext cx="8229600" cy="1234440"/>
          </a:xfrm>
          <a:prstGeom prst="roundRect">
            <a:avLst>
              <a:gd fmla="val 5926" name="adj"/>
            </a:avLst>
          </a:prstGeom>
          <a:solidFill>
            <a:srgbClr val="FFFFFF"/>
          </a:solidFill>
          <a:ln cap="flat" cmpd="sng" w="12700">
            <a:solidFill>
              <a:srgbClr val="E1E9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536" name="Google Shape;536;p20"/>
          <p:cNvSpPr/>
          <p:nvPr/>
        </p:nvSpPr>
        <p:spPr>
          <a:xfrm>
            <a:off x="457200" y="2971800"/>
            <a:ext cx="2011680" cy="1234440"/>
          </a:xfrm>
          <a:prstGeom prst="roundRect">
            <a:avLst>
              <a:gd fmla="val 5926" name="adj"/>
            </a:avLst>
          </a:prstGeom>
          <a:solidFill>
            <a:srgbClr val="F187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537" name="Google Shape;537;p20"/>
          <p:cNvSpPr/>
          <p:nvPr/>
        </p:nvSpPr>
        <p:spPr>
          <a:xfrm>
            <a:off x="457200" y="3108960"/>
            <a:ext cx="20116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400"/>
              <a:buFont typeface="Calibri"/>
              <a:buNone/>
            </a:pPr>
            <a:r>
              <a:rPr b="1" i="0" lang="en-US" sz="3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~50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8" name="Google Shape;538;p20"/>
          <p:cNvSpPr/>
          <p:nvPr/>
        </p:nvSpPr>
        <p:spPr>
          <a:xfrm>
            <a:off x="457200" y="3794760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RISQUE STANDARD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9" name="Google Shape;539;p20"/>
          <p:cNvSpPr/>
          <p:nvPr/>
        </p:nvSpPr>
        <p:spPr>
          <a:xfrm>
            <a:off x="2697480" y="3118104"/>
            <a:ext cx="58064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4079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pays (Brésil, Indonésie, Malaisie…)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0" name="Google Shape;540;p20"/>
          <p:cNvSpPr/>
          <p:nvPr/>
        </p:nvSpPr>
        <p:spPr>
          <a:xfrm>
            <a:off x="2697480" y="3520440"/>
            <a:ext cx="58064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18700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F18700"/>
                </a:solidFill>
                <a:latin typeface="Calibri"/>
                <a:ea typeface="Calibri"/>
                <a:cs typeface="Calibri"/>
                <a:sym typeface="Calibri"/>
              </a:rPr>
              <a:t>Diligence : </a:t>
            </a:r>
            <a:r>
              <a:rPr b="0" i="0" lang="en-US" sz="1150" u="none" cap="none" strike="noStrike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Diligence raisonnée complète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1" name="Google Shape;541;p20"/>
          <p:cNvSpPr/>
          <p:nvPr/>
        </p:nvSpPr>
        <p:spPr>
          <a:xfrm>
            <a:off x="2697480" y="3840480"/>
            <a:ext cx="58064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18700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F18700"/>
                </a:solidFill>
                <a:latin typeface="Calibri"/>
                <a:ea typeface="Calibri"/>
                <a:cs typeface="Calibri"/>
                <a:sym typeface="Calibri"/>
              </a:rPr>
              <a:t>Contrôles : </a:t>
            </a:r>
            <a:r>
              <a:rPr b="0" i="0" lang="en-US" sz="1150" u="none" cap="none" strike="noStrike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3 %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2" name="Google Shape;542;p20"/>
          <p:cNvSpPr/>
          <p:nvPr/>
        </p:nvSpPr>
        <p:spPr>
          <a:xfrm>
            <a:off x="457200" y="4343400"/>
            <a:ext cx="8229600" cy="1234440"/>
          </a:xfrm>
          <a:prstGeom prst="roundRect">
            <a:avLst>
              <a:gd fmla="val 5926" name="adj"/>
            </a:avLst>
          </a:prstGeom>
          <a:solidFill>
            <a:srgbClr val="FFFFFF"/>
          </a:solidFill>
          <a:ln cap="flat" cmpd="sng" w="12700">
            <a:solidFill>
              <a:srgbClr val="E1E9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543" name="Google Shape;543;p20"/>
          <p:cNvSpPr/>
          <p:nvPr/>
        </p:nvSpPr>
        <p:spPr>
          <a:xfrm>
            <a:off x="457200" y="4343400"/>
            <a:ext cx="2011680" cy="1234440"/>
          </a:xfrm>
          <a:prstGeom prst="roundRect">
            <a:avLst>
              <a:gd fmla="val 5926" name="adj"/>
            </a:avLst>
          </a:prstGeom>
          <a:solidFill>
            <a:srgbClr val="D8232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544" name="Google Shape;544;p20"/>
          <p:cNvSpPr/>
          <p:nvPr/>
        </p:nvSpPr>
        <p:spPr>
          <a:xfrm>
            <a:off x="457200" y="4480560"/>
            <a:ext cx="20116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400"/>
              <a:buFont typeface="Calibri"/>
              <a:buNone/>
            </a:pPr>
            <a:r>
              <a:rPr b="1" i="0" lang="en-US" sz="3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5" name="Google Shape;545;p20"/>
          <p:cNvSpPr/>
          <p:nvPr/>
        </p:nvSpPr>
        <p:spPr>
          <a:xfrm>
            <a:off x="457200" y="5166360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RISQUE ÉLEVÉ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6" name="Google Shape;546;p20"/>
          <p:cNvSpPr/>
          <p:nvPr/>
        </p:nvSpPr>
        <p:spPr>
          <a:xfrm>
            <a:off x="2697480" y="4489704"/>
            <a:ext cx="58064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4079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Biélorussie · Corée du Nord · Birmanie · Russie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7" name="Google Shape;547;p20"/>
          <p:cNvSpPr/>
          <p:nvPr/>
        </p:nvSpPr>
        <p:spPr>
          <a:xfrm>
            <a:off x="2697480" y="4892040"/>
            <a:ext cx="58064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8232A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D8232A"/>
                </a:solidFill>
                <a:latin typeface="Calibri"/>
                <a:ea typeface="Calibri"/>
                <a:cs typeface="Calibri"/>
                <a:sym typeface="Calibri"/>
              </a:rPr>
              <a:t>Diligence : </a:t>
            </a:r>
            <a:r>
              <a:rPr b="0" i="0" lang="en-US" sz="1150" u="none" cap="none" strike="noStrike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Vigilance renforcée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8" name="Google Shape;548;p20"/>
          <p:cNvSpPr/>
          <p:nvPr/>
        </p:nvSpPr>
        <p:spPr>
          <a:xfrm>
            <a:off x="2697480" y="5212080"/>
            <a:ext cx="58064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8232A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D8232A"/>
                </a:solidFill>
                <a:latin typeface="Calibri"/>
                <a:ea typeface="Calibri"/>
                <a:cs typeface="Calibri"/>
                <a:sym typeface="Calibri"/>
              </a:rPr>
              <a:t>Contrôles : </a:t>
            </a:r>
            <a:r>
              <a:rPr b="0" i="0" lang="en-US" sz="1150" u="none" cap="none" strike="noStrike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9 % (+ 9 % des quantités)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53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Google Shape;554;p21"/>
          <p:cNvSpPr/>
          <p:nvPr/>
        </p:nvSpPr>
        <p:spPr>
          <a:xfrm>
            <a:off x="457200" y="6510528"/>
            <a:ext cx="5852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RDUE / EUDR  ·  Webinaire CCI Lyon Métropole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5" name="Google Shape;555;p21"/>
          <p:cNvSpPr/>
          <p:nvPr/>
        </p:nvSpPr>
        <p:spPr>
          <a:xfrm>
            <a:off x="7955280" y="651052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20 / 34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6" name="Google Shape;556;p21"/>
          <p:cNvSpPr/>
          <p:nvPr/>
        </p:nvSpPr>
        <p:spPr>
          <a:xfrm>
            <a:off x="7223760" y="292608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F337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DF337F"/>
                </a:solidFill>
                <a:latin typeface="Calibri"/>
                <a:ea typeface="Calibri"/>
                <a:cs typeface="Calibri"/>
                <a:sym typeface="Calibri"/>
              </a:rPr>
              <a:t>CCI</a:t>
            </a:r>
            <a:r>
              <a:rPr b="1" i="0" lang="en-US" sz="110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 LYON MÉTROPOLE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7" name="Google Shape;557;p21"/>
          <p:cNvSpPr/>
          <p:nvPr/>
        </p:nvSpPr>
        <p:spPr>
          <a:xfrm>
            <a:off x="7223760" y="457200"/>
            <a:ext cx="1828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700"/>
              <a:buFont typeface="Calibri"/>
              <a:buNone/>
            </a:pPr>
            <a:r>
              <a:rPr b="0" i="1" lang="en-US" sz="7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Saint-Étienne Roanne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8" name="TextBox 557"/>
          <p:cNvSpPr txBox="1"/>
          <p:nvPr/>
        </p:nvSpPr>
        <p:spPr>
          <a:xfrm>
            <a:off x="457200" y="384048"/>
            <a:ext cx="6583680" cy="640080"/>
          </a:xfrm>
          <a:prstGeom prst="rect">
            <a:avLst/>
          </a:prstGeom>
          <a:noFill/>
        </p:spPr>
        <p:txBody>
          <a:bodyPr wrap="square" lIns="118872" rIns="118872" tIns="27432" bIns="27432" anchor="ctr">
            <a:spAutoFit/>
          </a:bodyPr>
          <a:lstStyle/>
          <a:p>
            <a:pPr algn="l"/>
            <a:r>
              <a:rPr sz="2700" b="1" i="0">
                <a:solidFill>
                  <a:srgbClr val="004079"/>
                </a:solidFill>
                <a:latin typeface="Calibri"/>
              </a:rPr>
              <a:t>Le parcours de diligence raisonnée</a:t>
            </a:r>
          </a:p>
        </p:txBody>
      </p:sp>
      <p:sp>
        <p:nvSpPr>
          <p:cNvPr id="559" name="TextBox 558"/>
          <p:cNvSpPr txBox="1"/>
          <p:nvPr/>
        </p:nvSpPr>
        <p:spPr>
          <a:xfrm>
            <a:off x="457200" y="987552"/>
            <a:ext cx="8138160" cy="365760"/>
          </a:xfrm>
          <a:prstGeom prst="rect">
            <a:avLst/>
          </a:prstGeom>
          <a:noFill/>
        </p:spPr>
        <p:txBody>
          <a:bodyPr wrap="square" lIns="118872" rIns="118872" tIns="27432" bIns="27432" anchor="ctr">
            <a:spAutoFit/>
          </a:bodyPr>
          <a:lstStyle/>
          <a:p>
            <a:pPr algn="l"/>
            <a:r>
              <a:rPr sz="1300" b="0" i="0">
                <a:solidFill>
                  <a:srgbClr val="5F6B76"/>
                </a:solidFill>
                <a:latin typeface="Calibri"/>
              </a:rPr>
              <a:t>Le parcours obligatoire, article par article (art. 8 à 13 du règlement).</a:t>
            </a:r>
          </a:p>
        </p:txBody>
      </p:sp>
      <p:sp>
        <p:nvSpPr>
          <p:cNvPr id="560" name="Rounded Rectangle 559"/>
          <p:cNvSpPr/>
          <p:nvPr/>
        </p:nvSpPr>
        <p:spPr>
          <a:xfrm>
            <a:off x="457200" y="1463040"/>
            <a:ext cx="822960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1E9F0"/>
            </a:solidFill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1" name="Rounded Rectangle 560"/>
          <p:cNvSpPr/>
          <p:nvPr/>
        </p:nvSpPr>
        <p:spPr>
          <a:xfrm>
            <a:off x="594360" y="1572768"/>
            <a:ext cx="329184" cy="329184"/>
          </a:xfrm>
          <a:prstGeom prst="roundRect">
            <a:avLst>
              <a:gd name="adj" fmla="val 50000"/>
            </a:avLst>
          </a:prstGeom>
          <a:solidFill>
            <a:srgbClr val="0040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2" name="TextBox 561"/>
          <p:cNvSpPr txBox="1"/>
          <p:nvPr/>
        </p:nvSpPr>
        <p:spPr>
          <a:xfrm>
            <a:off x="594360" y="1572768"/>
            <a:ext cx="329184" cy="329184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63" name="TextBox 562"/>
          <p:cNvSpPr txBox="1"/>
          <p:nvPr/>
        </p:nvSpPr>
        <p:spPr>
          <a:xfrm>
            <a:off x="1005840" y="1536192"/>
            <a:ext cx="4572000" cy="384048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l"/>
            <a:r>
              <a:rPr sz="1300" b="1" i="0">
                <a:solidFill>
                  <a:srgbClr val="004079"/>
                </a:solidFill>
                <a:latin typeface="Calibri"/>
              </a:rPr>
              <a:t>Collecte des informations</a:t>
            </a:r>
          </a:p>
        </p:txBody>
      </p:sp>
      <p:sp>
        <p:nvSpPr>
          <p:cNvPr id="564" name="Rounded Rectangle 563"/>
          <p:cNvSpPr/>
          <p:nvPr/>
        </p:nvSpPr>
        <p:spPr>
          <a:xfrm>
            <a:off x="7589520" y="160020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D82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5" name="TextBox 564"/>
          <p:cNvSpPr txBox="1"/>
          <p:nvPr/>
        </p:nvSpPr>
        <p:spPr>
          <a:xfrm>
            <a:off x="7589520" y="1600200"/>
            <a:ext cx="960120" cy="256032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ARTICLE 9</a:t>
            </a:r>
          </a:p>
        </p:txBody>
      </p:sp>
      <p:sp>
        <p:nvSpPr>
          <p:cNvPr id="566" name="TextBox 565"/>
          <p:cNvSpPr txBox="1"/>
          <p:nvPr/>
        </p:nvSpPr>
        <p:spPr>
          <a:xfrm>
            <a:off x="685800" y="1920240"/>
            <a:ext cx="3840480" cy="566928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 marL="171450" indent="-171450">
              <a:buClr>
                <a:srgbClr val="004079"/>
              </a:buClr>
              <a:buChar char="•"/>
            </a:pPr>
            <a:r>
              <a:rPr sz="950" b="0" i="0">
                <a:solidFill>
                  <a:srgbClr val="1A2733"/>
                </a:solidFill>
                <a:latin typeface="Calibri"/>
              </a:rPr>
              <a:t>Description, nom commercial, type de produit</a:t>
            </a:r>
          </a:p>
          <a:p>
            <a:pPr algn="l" marL="171450" indent="-171450">
              <a:buClr>
                <a:srgbClr val="004079"/>
              </a:buClr>
              <a:buChar char="•"/>
            </a:pPr>
            <a:r>
              <a:rPr sz="950" b="0" i="0">
                <a:solidFill>
                  <a:srgbClr val="1A2733"/>
                </a:solidFill>
                <a:latin typeface="Calibri"/>
              </a:rPr>
              <a:t>Quantités et pays (zones) de production</a:t>
            </a:r>
          </a:p>
          <a:p>
            <a:pPr algn="l" marL="171450" indent="-171450">
              <a:buClr>
                <a:srgbClr val="004079"/>
              </a:buClr>
              <a:buChar char="•"/>
            </a:pPr>
            <a:r>
              <a:rPr sz="950" b="0" i="0">
                <a:solidFill>
                  <a:srgbClr val="1A2733"/>
                </a:solidFill>
                <a:latin typeface="Calibri"/>
              </a:rPr>
              <a:t>Fournisseurs et clients (nom, adresse)</a:t>
            </a:r>
          </a:p>
        </p:txBody>
      </p:sp>
      <p:sp>
        <p:nvSpPr>
          <p:cNvPr id="567" name="TextBox 566"/>
          <p:cNvSpPr txBox="1"/>
          <p:nvPr/>
        </p:nvSpPr>
        <p:spPr>
          <a:xfrm>
            <a:off x="4572000" y="1920240"/>
            <a:ext cx="4023360" cy="566928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 marL="171450" indent="-171450">
              <a:buClr>
                <a:srgbClr val="004079"/>
              </a:buClr>
              <a:buChar char="•"/>
            </a:pPr>
            <a:r>
              <a:rPr sz="950" b="1" i="0">
                <a:solidFill>
                  <a:srgbClr val="1A2733"/>
                </a:solidFill>
                <a:latin typeface="Calibri"/>
              </a:rPr>
              <a:t>Géolocalisation de toutes les parcelles</a:t>
            </a:r>
          </a:p>
          <a:p>
            <a:pPr algn="l" marL="171450" indent="-171450">
              <a:buClr>
                <a:srgbClr val="004079"/>
              </a:buClr>
              <a:buChar char="•"/>
            </a:pPr>
            <a:r>
              <a:rPr sz="950" b="0" i="0">
                <a:solidFill>
                  <a:srgbClr val="1A2733"/>
                </a:solidFill>
                <a:latin typeface="Calibri"/>
              </a:rPr>
              <a:t>Date ou période de production</a:t>
            </a:r>
          </a:p>
          <a:p>
            <a:pPr algn="l" marL="171450" indent="-171450">
              <a:buClr>
                <a:srgbClr val="004079"/>
              </a:buClr>
              <a:buChar char="•"/>
            </a:pPr>
            <a:r>
              <a:rPr sz="950" b="0" i="0">
                <a:solidFill>
                  <a:srgbClr val="1A2733"/>
                </a:solidFill>
                <a:latin typeface="Calibri"/>
              </a:rPr>
              <a:t>Preuves de légalité et de « zéro déforestation »</a:t>
            </a:r>
          </a:p>
        </p:txBody>
      </p:sp>
      <p:sp>
        <p:nvSpPr>
          <p:cNvPr id="568" name="Isosceles Triangle 567"/>
          <p:cNvSpPr/>
          <p:nvPr/>
        </p:nvSpPr>
        <p:spPr>
          <a:xfrm rot="10800000">
            <a:off x="6126480" y="2578608"/>
            <a:ext cx="256032" cy="201168"/>
          </a:xfrm>
          <a:prstGeom prst="triangle">
            <a:avLst/>
          </a:prstGeom>
          <a:solidFill>
            <a:srgbClr val="0040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9" name="Rounded Rectangle 568"/>
          <p:cNvSpPr/>
          <p:nvPr/>
        </p:nvSpPr>
        <p:spPr>
          <a:xfrm>
            <a:off x="3840480" y="2834640"/>
            <a:ext cx="4846320" cy="566928"/>
          </a:xfrm>
          <a:prstGeom prst="roundRect">
            <a:avLst>
              <a:gd name="adj" fmla="val 15000"/>
            </a:avLst>
          </a:prstGeom>
          <a:solidFill>
            <a:srgbClr val="1E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0" name="TextBox 569"/>
          <p:cNvSpPr txBox="1"/>
          <p:nvPr/>
        </p:nvSpPr>
        <p:spPr>
          <a:xfrm>
            <a:off x="3931920" y="2834640"/>
            <a:ext cx="4663440" cy="566928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Pays de production à risque standard ou élevé ?</a:t>
            </a:r>
          </a:p>
          <a:p>
            <a:pPr algn="ctr"/>
            <a:r>
              <a:rPr sz="900" b="0" i="0">
                <a:solidFill>
                  <a:srgbClr val="D7EBDD"/>
                </a:solidFill>
                <a:latin typeface="Calibri"/>
              </a:rPr>
              <a:t>classification des pays (benchmarking, art. 29)</a:t>
            </a:r>
          </a:p>
        </p:txBody>
      </p:sp>
      <p:sp>
        <p:nvSpPr>
          <p:cNvPr id="571" name="TextBox 570"/>
          <p:cNvSpPr txBox="1"/>
          <p:nvPr/>
        </p:nvSpPr>
        <p:spPr>
          <a:xfrm>
            <a:off x="3401568" y="2926080"/>
            <a:ext cx="457200" cy="384048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/>
            <a:r>
              <a:rPr sz="950" b="1" i="0">
                <a:solidFill>
                  <a:srgbClr val="1E6B3A"/>
                </a:solidFill>
                <a:latin typeface="Calibri"/>
              </a:rPr>
              <a:t>NON</a:t>
            </a:r>
          </a:p>
        </p:txBody>
      </p:sp>
      <p:sp>
        <p:nvSpPr>
          <p:cNvPr id="572" name="Left Arrow 571"/>
          <p:cNvSpPr/>
          <p:nvPr/>
        </p:nvSpPr>
        <p:spPr>
          <a:xfrm>
            <a:off x="3520440" y="3246120"/>
            <a:ext cx="292608" cy="237744"/>
          </a:xfrm>
          <a:prstGeom prst="leftArrow">
            <a:avLst/>
          </a:prstGeom>
          <a:solidFill>
            <a:srgbClr val="1E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3" name="Rounded Rectangle 572"/>
          <p:cNvSpPr/>
          <p:nvPr/>
        </p:nvSpPr>
        <p:spPr>
          <a:xfrm>
            <a:off x="457200" y="2834640"/>
            <a:ext cx="3017520" cy="1783080"/>
          </a:xfrm>
          <a:prstGeom prst="roundRect">
            <a:avLst>
              <a:gd name="adj" fmla="val 6000"/>
            </a:avLst>
          </a:prstGeom>
          <a:solidFill>
            <a:srgbClr val="E6F0F8"/>
          </a:solidFill>
          <a:ln w="12700">
            <a:solidFill>
              <a:srgbClr val="0092D2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4" name="Rounded Rectangle 573"/>
          <p:cNvSpPr/>
          <p:nvPr/>
        </p:nvSpPr>
        <p:spPr>
          <a:xfrm>
            <a:off x="594360" y="2944368"/>
            <a:ext cx="1737360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5" name="TextBox 574"/>
          <p:cNvSpPr txBox="1"/>
          <p:nvPr/>
        </p:nvSpPr>
        <p:spPr>
          <a:xfrm>
            <a:off x="594360" y="2944368"/>
            <a:ext cx="1737360" cy="237744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/>
            <a:r>
              <a:rPr sz="850" b="1" i="0">
                <a:solidFill>
                  <a:srgbClr val="004079"/>
                </a:solidFill>
                <a:latin typeface="Calibri"/>
              </a:rPr>
              <a:t>pays à risque faible</a:t>
            </a:r>
          </a:p>
        </p:txBody>
      </p:sp>
      <p:sp>
        <p:nvSpPr>
          <p:cNvPr id="576" name="TextBox 575"/>
          <p:cNvSpPr txBox="1"/>
          <p:nvPr/>
        </p:nvSpPr>
        <p:spPr>
          <a:xfrm>
            <a:off x="594360" y="3246120"/>
            <a:ext cx="274320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1200" b="1" i="0">
                <a:solidFill>
                  <a:srgbClr val="004079"/>
                </a:solidFill>
                <a:latin typeface="Calibri"/>
              </a:rPr>
              <a:t>Diligence raisonnée simplifiée</a:t>
            </a:r>
          </a:p>
        </p:txBody>
      </p:sp>
      <p:sp>
        <p:nvSpPr>
          <p:cNvPr id="577" name="TextBox 576"/>
          <p:cNvSpPr txBox="1"/>
          <p:nvPr/>
        </p:nvSpPr>
        <p:spPr>
          <a:xfrm>
            <a:off x="594360" y="3584448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950" b="1" i="0">
                <a:solidFill>
                  <a:srgbClr val="1A2733"/>
                </a:solidFill>
                <a:latin typeface="Calibri"/>
              </a:rPr>
              <a:t>Seule l'étape 1 est exigée. </a:t>
            </a:r>
            <a:r>
              <a:rPr sz="950" b="0" i="0">
                <a:solidFill>
                  <a:srgbClr val="1A2733"/>
                </a:solidFill>
                <a:latin typeface="Calibri"/>
              </a:rPr>
              <a:t>L'opérateur n'est pas tenu à l'évaluation ni à l'atténuation du risque (art. 10 et 11).</a:t>
            </a:r>
          </a:p>
        </p:txBody>
      </p:sp>
      <p:sp>
        <p:nvSpPr>
          <p:cNvPr id="578" name="Rounded Rectangle 577"/>
          <p:cNvSpPr/>
          <p:nvPr/>
        </p:nvSpPr>
        <p:spPr>
          <a:xfrm>
            <a:off x="2331720" y="4279392"/>
            <a:ext cx="1005840" cy="237744"/>
          </a:xfrm>
          <a:prstGeom prst="roundRect">
            <a:avLst>
              <a:gd name="adj" fmla="val 50000"/>
            </a:avLst>
          </a:prstGeom>
          <a:solidFill>
            <a:srgbClr val="D82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9" name="TextBox 578"/>
          <p:cNvSpPr txBox="1"/>
          <p:nvPr/>
        </p:nvSpPr>
        <p:spPr>
          <a:xfrm>
            <a:off x="2331720" y="4279392"/>
            <a:ext cx="1005840" cy="237744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ARTICLE 13</a:t>
            </a:r>
          </a:p>
        </p:txBody>
      </p:sp>
      <p:sp>
        <p:nvSpPr>
          <p:cNvPr id="580" name="TextBox 579"/>
          <p:cNvSpPr txBox="1"/>
          <p:nvPr/>
        </p:nvSpPr>
        <p:spPr>
          <a:xfrm>
            <a:off x="3840480" y="3429000"/>
            <a:ext cx="4572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/>
            <a:r>
              <a:rPr sz="950" b="1" i="0">
                <a:solidFill>
                  <a:srgbClr val="1E6B3A"/>
                </a:solidFill>
                <a:latin typeface="Calibri"/>
              </a:rPr>
              <a:t>OUI</a:t>
            </a:r>
          </a:p>
        </p:txBody>
      </p:sp>
      <p:sp>
        <p:nvSpPr>
          <p:cNvPr id="581" name="Isosceles Triangle 580"/>
          <p:cNvSpPr/>
          <p:nvPr/>
        </p:nvSpPr>
        <p:spPr>
          <a:xfrm rot="10800000">
            <a:off x="6126480" y="3456432"/>
            <a:ext cx="256032" cy="201168"/>
          </a:xfrm>
          <a:prstGeom prst="triangle">
            <a:avLst/>
          </a:prstGeom>
          <a:solidFill>
            <a:srgbClr val="1E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2" name="Rounded Rectangle 581"/>
          <p:cNvSpPr/>
          <p:nvPr/>
        </p:nvSpPr>
        <p:spPr>
          <a:xfrm>
            <a:off x="3840480" y="3703320"/>
            <a:ext cx="233172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92D2"/>
            </a:solidFill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3" name="Rounded Rectangle 582"/>
          <p:cNvSpPr/>
          <p:nvPr/>
        </p:nvSpPr>
        <p:spPr>
          <a:xfrm>
            <a:off x="3950208" y="3794760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0092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4" name="TextBox 583"/>
          <p:cNvSpPr txBox="1"/>
          <p:nvPr/>
        </p:nvSpPr>
        <p:spPr>
          <a:xfrm>
            <a:off x="3950208" y="3794760"/>
            <a:ext cx="27432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585" name="TextBox 584"/>
          <p:cNvSpPr txBox="1"/>
          <p:nvPr/>
        </p:nvSpPr>
        <p:spPr>
          <a:xfrm>
            <a:off x="4279392" y="3767328"/>
            <a:ext cx="1828800" cy="329184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l"/>
            <a:r>
              <a:rPr sz="1150" b="1" i="0">
                <a:solidFill>
                  <a:srgbClr val="004079"/>
                </a:solidFill>
                <a:latin typeface="Calibri"/>
              </a:rPr>
              <a:t>Évaluation du risque</a:t>
            </a:r>
          </a:p>
        </p:txBody>
      </p:sp>
      <p:sp>
        <p:nvSpPr>
          <p:cNvPr id="586" name="TextBox 585"/>
          <p:cNvSpPr txBox="1"/>
          <p:nvPr/>
        </p:nvSpPr>
        <p:spPr>
          <a:xfrm>
            <a:off x="3931920" y="4114800"/>
            <a:ext cx="2148840" cy="7772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 marL="171450" indent="-171450">
              <a:buClr>
                <a:srgbClr val="004079"/>
              </a:buClr>
              <a:buChar char="•"/>
            </a:pPr>
            <a:r>
              <a:rPr sz="850" b="0" i="0">
                <a:solidFill>
                  <a:srgbClr val="1A2733"/>
                </a:solidFill>
                <a:latin typeface="Calibri"/>
              </a:rPr>
              <a:t>Vérifier et analyser les informations (critères de l'art. 10)</a:t>
            </a:r>
          </a:p>
          <a:p>
            <a:pPr algn="l" marL="171450" indent="-171450">
              <a:buClr>
                <a:srgbClr val="004079"/>
              </a:buClr>
              <a:buChar char="•"/>
            </a:pPr>
            <a:r>
              <a:rPr sz="850" b="0" i="0">
                <a:solidFill>
                  <a:srgbClr val="1A2733"/>
                </a:solidFill>
                <a:latin typeface="Calibri"/>
              </a:rPr>
              <a:t>Réexamen au moins une fois par an</a:t>
            </a:r>
          </a:p>
          <a:p>
            <a:pPr algn="l" marL="171450" indent="-171450">
              <a:buClr>
                <a:srgbClr val="004079"/>
              </a:buClr>
              <a:buChar char="•"/>
            </a:pPr>
            <a:r>
              <a:rPr sz="850" b="0" i="0">
                <a:solidFill>
                  <a:srgbClr val="1A2733"/>
                </a:solidFill>
                <a:latin typeface="Calibri"/>
              </a:rPr>
              <a:t>Pas de mise sur le marché si le risque n'est pas nul ou négligeable</a:t>
            </a:r>
          </a:p>
        </p:txBody>
      </p:sp>
      <p:sp>
        <p:nvSpPr>
          <p:cNvPr id="587" name="Rounded Rectangle 586"/>
          <p:cNvSpPr/>
          <p:nvPr/>
        </p:nvSpPr>
        <p:spPr>
          <a:xfrm>
            <a:off x="5166360" y="4846320"/>
            <a:ext cx="914400" cy="219456"/>
          </a:xfrm>
          <a:prstGeom prst="roundRect">
            <a:avLst>
              <a:gd name="adj" fmla="val 50000"/>
            </a:avLst>
          </a:prstGeom>
          <a:solidFill>
            <a:srgbClr val="D82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8" name="TextBox 587"/>
          <p:cNvSpPr txBox="1"/>
          <p:nvPr/>
        </p:nvSpPr>
        <p:spPr>
          <a:xfrm>
            <a:off x="5166360" y="4846320"/>
            <a:ext cx="914400" cy="219456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ARTICLE 10</a:t>
            </a:r>
          </a:p>
        </p:txBody>
      </p:sp>
      <p:sp>
        <p:nvSpPr>
          <p:cNvPr id="589" name="Rounded Rectangle 588"/>
          <p:cNvSpPr/>
          <p:nvPr/>
        </p:nvSpPr>
        <p:spPr>
          <a:xfrm>
            <a:off x="6355080" y="3703320"/>
            <a:ext cx="233172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F18700"/>
            </a:solidFill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0" name="Rounded Rectangle 589"/>
          <p:cNvSpPr/>
          <p:nvPr/>
        </p:nvSpPr>
        <p:spPr>
          <a:xfrm>
            <a:off x="6464808" y="3794760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F18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1" name="TextBox 590"/>
          <p:cNvSpPr txBox="1"/>
          <p:nvPr/>
        </p:nvSpPr>
        <p:spPr>
          <a:xfrm>
            <a:off x="6464808" y="3794760"/>
            <a:ext cx="27432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592" name="TextBox 591"/>
          <p:cNvSpPr txBox="1"/>
          <p:nvPr/>
        </p:nvSpPr>
        <p:spPr>
          <a:xfrm>
            <a:off x="6793992" y="3767328"/>
            <a:ext cx="1828800" cy="329184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l"/>
            <a:r>
              <a:rPr sz="1150" b="1" i="0">
                <a:solidFill>
                  <a:srgbClr val="004079"/>
                </a:solidFill>
                <a:latin typeface="Calibri"/>
              </a:rPr>
              <a:t>Atténuation du risque</a:t>
            </a:r>
          </a:p>
        </p:txBody>
      </p:sp>
      <p:sp>
        <p:nvSpPr>
          <p:cNvPr id="593" name="TextBox 592"/>
          <p:cNvSpPr txBox="1"/>
          <p:nvPr/>
        </p:nvSpPr>
        <p:spPr>
          <a:xfrm>
            <a:off x="6446520" y="4114800"/>
            <a:ext cx="2148840" cy="7772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 marL="171450" indent="-171450">
              <a:buClr>
                <a:srgbClr val="004079"/>
              </a:buClr>
              <a:buChar char="•"/>
            </a:pPr>
            <a:r>
              <a:rPr sz="850" b="0" i="0">
                <a:solidFill>
                  <a:srgbClr val="1A2733"/>
                </a:solidFill>
                <a:latin typeface="Calibri"/>
              </a:rPr>
              <a:t>Informations, données ou documents complémentaires</a:t>
            </a:r>
          </a:p>
          <a:p>
            <a:pPr algn="l" marL="171450" indent="-171450">
              <a:buClr>
                <a:srgbClr val="004079"/>
              </a:buClr>
              <a:buChar char="•"/>
            </a:pPr>
            <a:r>
              <a:rPr sz="850" b="0" i="0">
                <a:solidFill>
                  <a:srgbClr val="1A2733"/>
                </a:solidFill>
                <a:latin typeface="Calibri"/>
              </a:rPr>
              <a:t>Audits ou enquêtes indépendants</a:t>
            </a:r>
          </a:p>
          <a:p>
            <a:pPr algn="l" marL="171450" indent="-171450">
              <a:buClr>
                <a:srgbClr val="004079"/>
              </a:buClr>
              <a:buChar char="•"/>
            </a:pPr>
            <a:r>
              <a:rPr sz="850" b="0" i="0">
                <a:solidFill>
                  <a:srgbClr val="1A2733"/>
                </a:solidFill>
                <a:latin typeface="Calibri"/>
              </a:rPr>
              <a:t>Procédures et contrôles proportionnés</a:t>
            </a:r>
          </a:p>
        </p:txBody>
      </p:sp>
      <p:sp>
        <p:nvSpPr>
          <p:cNvPr id="594" name="Rounded Rectangle 593"/>
          <p:cNvSpPr/>
          <p:nvPr/>
        </p:nvSpPr>
        <p:spPr>
          <a:xfrm>
            <a:off x="7680960" y="4846320"/>
            <a:ext cx="914400" cy="219456"/>
          </a:xfrm>
          <a:prstGeom prst="roundRect">
            <a:avLst>
              <a:gd name="adj" fmla="val 50000"/>
            </a:avLst>
          </a:prstGeom>
          <a:solidFill>
            <a:srgbClr val="D82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5" name="TextBox 594"/>
          <p:cNvSpPr txBox="1"/>
          <p:nvPr/>
        </p:nvSpPr>
        <p:spPr>
          <a:xfrm>
            <a:off x="7680960" y="4846320"/>
            <a:ext cx="914400" cy="219456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ARTICLE 11</a:t>
            </a:r>
          </a:p>
        </p:txBody>
      </p:sp>
      <p:sp>
        <p:nvSpPr>
          <p:cNvPr id="596" name="Rounded Rectangle 595"/>
          <p:cNvSpPr/>
          <p:nvPr/>
        </p:nvSpPr>
        <p:spPr>
          <a:xfrm>
            <a:off x="3840480" y="5257800"/>
            <a:ext cx="2331720" cy="384048"/>
          </a:xfrm>
          <a:prstGeom prst="roundRect">
            <a:avLst>
              <a:gd name="adj" fmla="val 30000"/>
            </a:avLst>
          </a:prstGeom>
          <a:solidFill>
            <a:srgbClr val="E3F5F3"/>
          </a:solidFill>
          <a:ln w="12700">
            <a:solidFill>
              <a:srgbClr val="00A4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7" name="TextBox 596"/>
          <p:cNvSpPr txBox="1"/>
          <p:nvPr/>
        </p:nvSpPr>
        <p:spPr>
          <a:xfrm>
            <a:off x="3840480" y="5257800"/>
            <a:ext cx="2331720" cy="384048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/>
            <a:r>
              <a:rPr sz="1000" b="1" i="0">
                <a:solidFill>
                  <a:srgbClr val="00A49F"/>
                </a:solidFill>
                <a:latin typeface="Calibri"/>
              </a:rPr>
              <a:t>Risque nul ou négligeable</a:t>
            </a:r>
          </a:p>
        </p:txBody>
      </p:sp>
      <p:sp>
        <p:nvSpPr>
          <p:cNvPr id="598" name="Rounded Rectangle 597"/>
          <p:cNvSpPr/>
          <p:nvPr/>
        </p:nvSpPr>
        <p:spPr>
          <a:xfrm>
            <a:off x="6355080" y="5257800"/>
            <a:ext cx="2331720" cy="384048"/>
          </a:xfrm>
          <a:prstGeom prst="roundRect">
            <a:avLst>
              <a:gd name="adj" fmla="val 30000"/>
            </a:avLst>
          </a:prstGeom>
          <a:solidFill>
            <a:srgbClr val="FDECEC"/>
          </a:solidFill>
          <a:ln w="12700">
            <a:solidFill>
              <a:srgbClr val="D823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9" name="TextBox 598"/>
          <p:cNvSpPr txBox="1"/>
          <p:nvPr/>
        </p:nvSpPr>
        <p:spPr>
          <a:xfrm>
            <a:off x="6355080" y="5257800"/>
            <a:ext cx="2331720" cy="384048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/>
            <a:r>
              <a:rPr sz="1000" b="1" i="0">
                <a:solidFill>
                  <a:srgbClr val="D8232A"/>
                </a:solidFill>
                <a:latin typeface="Calibri"/>
              </a:rPr>
              <a:t>Risque non négligeable : STOP (art. 3)</a:t>
            </a:r>
          </a:p>
        </p:txBody>
      </p:sp>
      <p:sp>
        <p:nvSpPr>
          <p:cNvPr id="600" name="Isosceles Triangle 599"/>
          <p:cNvSpPr/>
          <p:nvPr/>
        </p:nvSpPr>
        <p:spPr>
          <a:xfrm rot="10800000">
            <a:off x="4882896" y="5669280"/>
            <a:ext cx="256032" cy="201168"/>
          </a:xfrm>
          <a:prstGeom prst="triangle">
            <a:avLst/>
          </a:prstGeom>
          <a:solidFill>
            <a:srgbClr val="00A4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1" name="Connector 600"/>
          <p:cNvCxnSpPr/>
          <p:nvPr/>
        </p:nvCxnSpPr>
        <p:spPr>
          <a:xfrm>
            <a:off x="1956816" y="4617720"/>
            <a:ext cx="0" cy="960120"/>
          </a:xfrm>
          <a:prstGeom prst="line">
            <a:avLst/>
          </a:prstGeom>
          <a:ln w="28575">
            <a:solidFill>
              <a:srgbClr val="0092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2" name="Isosceles Triangle 601"/>
          <p:cNvSpPr/>
          <p:nvPr/>
        </p:nvSpPr>
        <p:spPr>
          <a:xfrm rot="10800000">
            <a:off x="1828800" y="5577840"/>
            <a:ext cx="256032" cy="201168"/>
          </a:xfrm>
          <a:prstGeom prst="triangle">
            <a:avLst/>
          </a:prstGeom>
          <a:solidFill>
            <a:srgbClr val="0092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3" name="Rounded Rectangle 602"/>
          <p:cNvSpPr/>
          <p:nvPr/>
        </p:nvSpPr>
        <p:spPr>
          <a:xfrm>
            <a:off x="457200" y="5806440"/>
            <a:ext cx="8229600" cy="566928"/>
          </a:xfrm>
          <a:prstGeom prst="roundRect">
            <a:avLst>
              <a:gd name="adj" fmla="val 8000"/>
            </a:avLst>
          </a:prstGeom>
          <a:solidFill>
            <a:srgbClr val="0040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4" name="TextBox 603"/>
          <p:cNvSpPr txBox="1"/>
          <p:nvPr/>
        </p:nvSpPr>
        <p:spPr>
          <a:xfrm>
            <a:off x="594360" y="5806440"/>
            <a:ext cx="6858000" cy="566928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Déclaration de diligence raisonnée</a:t>
            </a:r>
          </a:p>
          <a:p>
            <a:pPr algn="l"/>
            <a:r>
              <a:rPr sz="900" b="0" i="0">
                <a:solidFill>
                  <a:srgbClr val="CFE0EE"/>
                </a:solidFill>
                <a:latin typeface="Calibri"/>
              </a:rPr>
              <a:t>Déposée dans le système d'information avant la mise sur le marché ou l'export → n° de référence en douane (C716) et au 1er client aval.</a:t>
            </a:r>
          </a:p>
        </p:txBody>
      </p:sp>
      <p:sp>
        <p:nvSpPr>
          <p:cNvPr id="605" name="Rounded Rectangle 604"/>
          <p:cNvSpPr/>
          <p:nvPr/>
        </p:nvSpPr>
        <p:spPr>
          <a:xfrm>
            <a:off x="7543800" y="5961888"/>
            <a:ext cx="10058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6" name="TextBox 605"/>
          <p:cNvSpPr txBox="1"/>
          <p:nvPr/>
        </p:nvSpPr>
        <p:spPr>
          <a:xfrm>
            <a:off x="7543800" y="5961888"/>
            <a:ext cx="1005840" cy="256032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/>
            <a:r>
              <a:rPr sz="850" b="1" i="0">
                <a:solidFill>
                  <a:srgbClr val="004079"/>
                </a:solidFill>
                <a:latin typeface="Calibri"/>
              </a:rPr>
              <a:t>ART. 4 &amp; 12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4079"/>
        </a:solidFill>
      </p:bgPr>
    </p:bg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24"/>
          <p:cNvSpPr/>
          <p:nvPr/>
        </p:nvSpPr>
        <p:spPr>
          <a:xfrm>
            <a:off x="7040880" y="292608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F337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DF337F"/>
                </a:solidFill>
                <a:latin typeface="Calibri"/>
                <a:ea typeface="Calibri"/>
                <a:cs typeface="Calibri"/>
                <a:sym typeface="Calibri"/>
              </a:rPr>
              <a:t>CCI</a:t>
            </a:r>
            <a:r>
              <a:rPr b="1" i="0" lang="en-US" sz="110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 LYON MÉTROPOLE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2" name="Google Shape;642;p24"/>
          <p:cNvSpPr/>
          <p:nvPr/>
        </p:nvSpPr>
        <p:spPr>
          <a:xfrm>
            <a:off x="7040880" y="457200"/>
            <a:ext cx="1828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700"/>
              <a:buFont typeface="Calibri"/>
              <a:buNone/>
            </a:pPr>
            <a:r>
              <a:rPr b="0" i="1" lang="en-US" sz="7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Saint-Étienne Roanne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3" name="Google Shape;643;p24"/>
          <p:cNvSpPr/>
          <p:nvPr/>
        </p:nvSpPr>
        <p:spPr>
          <a:xfrm>
            <a:off x="-1463040" y="3840480"/>
            <a:ext cx="4572000" cy="4572000"/>
          </a:xfrm>
          <a:prstGeom prst="ellipse">
            <a:avLst/>
          </a:prstGeom>
          <a:solidFill>
            <a:srgbClr val="00305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644" name="Google Shape;644;p24"/>
          <p:cNvSpPr/>
          <p:nvPr/>
        </p:nvSpPr>
        <p:spPr>
          <a:xfrm>
            <a:off x="640080" y="1417320"/>
            <a:ext cx="5943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F337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DF337F"/>
                </a:solidFill>
                <a:latin typeface="Calibri"/>
                <a:ea typeface="Calibri"/>
                <a:cs typeface="Calibri"/>
                <a:sym typeface="Calibri"/>
              </a:rPr>
              <a:t>PARTIE III</a:t>
            </a:r>
            <a:r>
              <a:rPr b="1" i="0" lang="en-US" sz="1400" u="none" cap="none" strike="noStrike">
                <a:solidFill>
                  <a:srgbClr val="9FC4E0"/>
                </a:solidFill>
                <a:latin typeface="Calibri"/>
                <a:ea typeface="Calibri"/>
                <a:cs typeface="Calibri"/>
                <a:sym typeface="Calibri"/>
              </a:rPr>
              <a:t>    ·    20 min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5" name="Google Shape;645;p24"/>
          <p:cNvSpPr/>
          <p:nvPr/>
        </p:nvSpPr>
        <p:spPr>
          <a:xfrm>
            <a:off x="594360" y="1828800"/>
            <a:ext cx="54864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400"/>
              <a:buFont typeface="Calibri"/>
              <a:buNone/>
            </a:pPr>
            <a:r>
              <a:rPr b="1" i="0" lang="en-US" sz="3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Mise en œuvre &amp; formalités douanières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6" name="Google Shape;646;p24"/>
          <p:cNvSpPr/>
          <p:nvPr/>
        </p:nvSpPr>
        <p:spPr>
          <a:xfrm>
            <a:off x="685800" y="3566160"/>
            <a:ext cx="5486400" cy="2560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E6F0F8"/>
              </a:buClr>
              <a:buSzPts val="1400"/>
              <a:buFont typeface="Calibri"/>
              <a:buChar char="•"/>
            </a:pPr>
            <a:r>
              <a:rPr b="0" i="0" lang="en-US" sz="1400" u="none" cap="none" strike="noStrike">
                <a:solidFill>
                  <a:srgbClr val="E6F0F8"/>
                </a:solidFill>
                <a:latin typeface="Calibri"/>
                <a:ea typeface="Calibri"/>
                <a:cs typeface="Calibri"/>
                <a:sym typeface="Calibri"/>
              </a:rPr>
              <a:t>L'outil TRACES-NT &amp; le compte EU Login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900"/>
              </a:spcBef>
              <a:spcAft>
                <a:spcPts val="0"/>
              </a:spcAft>
              <a:buClr>
                <a:srgbClr val="E6F0F8"/>
              </a:buClr>
              <a:buSzPts val="1400"/>
              <a:buFont typeface="Calibri"/>
              <a:buChar char="•"/>
            </a:pPr>
            <a:r>
              <a:rPr b="0" i="0" lang="en-US" sz="1400" u="none" cap="none" strike="noStrike">
                <a:solidFill>
                  <a:srgbClr val="E6F0F8"/>
                </a:solidFill>
                <a:latin typeface="Calibri"/>
                <a:ea typeface="Calibri"/>
                <a:cs typeface="Calibri"/>
                <a:sym typeface="Calibri"/>
              </a:rPr>
              <a:t>La déclaration de diligence raisonnée (DDR) → n° de référence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900"/>
              </a:spcBef>
              <a:spcAft>
                <a:spcPts val="0"/>
              </a:spcAft>
              <a:buClr>
                <a:srgbClr val="E6F0F8"/>
              </a:buClr>
              <a:buSzPts val="1400"/>
              <a:buFont typeface="Calibri"/>
              <a:buChar char="•"/>
            </a:pPr>
            <a:r>
              <a:rPr b="0" i="0" lang="en-US" sz="1400" u="none" cap="none" strike="noStrike">
                <a:solidFill>
                  <a:srgbClr val="E6F0F8"/>
                </a:solidFill>
                <a:latin typeface="Calibri"/>
                <a:ea typeface="Calibri"/>
                <a:cs typeface="Calibri"/>
                <a:sym typeface="Calibri"/>
              </a:rPr>
              <a:t>Déclarer en douane (Delta) : codes C716 / C717 / Y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900"/>
              </a:spcBef>
              <a:spcAft>
                <a:spcPts val="0"/>
              </a:spcAft>
              <a:buClr>
                <a:srgbClr val="E6F0F8"/>
              </a:buClr>
              <a:buSzPts val="1400"/>
              <a:buFont typeface="Calibri"/>
              <a:buChar char="•"/>
            </a:pPr>
            <a:r>
              <a:rPr b="0" i="0" lang="en-US" sz="1400" u="none" cap="none" strike="noStrike">
                <a:solidFill>
                  <a:srgbClr val="E6F0F8"/>
                </a:solidFill>
                <a:latin typeface="Calibri"/>
                <a:ea typeface="Calibri"/>
                <a:cs typeface="Calibri"/>
                <a:sym typeface="Calibri"/>
              </a:rPr>
              <a:t>La transmission amont / aval du n° de DDR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7" name="Google Shape;647;p24"/>
          <p:cNvSpPr/>
          <p:nvPr/>
        </p:nvSpPr>
        <p:spPr>
          <a:xfrm>
            <a:off x="6446520" y="1645920"/>
            <a:ext cx="2240280" cy="731520"/>
          </a:xfrm>
          <a:prstGeom prst="roundRect">
            <a:avLst>
              <a:gd fmla="val 7500" name="adj"/>
            </a:avLst>
          </a:prstGeom>
          <a:solidFill>
            <a:srgbClr val="063A6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648" name="Google Shape;648;p24"/>
          <p:cNvSpPr/>
          <p:nvPr/>
        </p:nvSpPr>
        <p:spPr>
          <a:xfrm>
            <a:off x="6583680" y="1773936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FB4DB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7FB4DB"/>
                </a:solidFill>
                <a:latin typeface="Calibri"/>
                <a:ea typeface="Calibri"/>
                <a:cs typeface="Calibri"/>
                <a:sym typeface="Calibri"/>
              </a:rPr>
              <a:t>IN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9" name="Google Shape;649;p24"/>
          <p:cNvSpPr/>
          <p:nvPr/>
        </p:nvSpPr>
        <p:spPr>
          <a:xfrm>
            <a:off x="7086600" y="1700784"/>
            <a:ext cx="150876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FE0EE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FE0EE"/>
                </a:solidFill>
                <a:latin typeface="Calibri"/>
                <a:ea typeface="Calibri"/>
                <a:cs typeface="Calibri"/>
                <a:sym typeface="Calibri"/>
              </a:rPr>
              <a:t>Contexte &amp; enjeux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0" name="Google Shape;650;p24"/>
          <p:cNvSpPr/>
          <p:nvPr/>
        </p:nvSpPr>
        <p:spPr>
          <a:xfrm>
            <a:off x="6446520" y="2514600"/>
            <a:ext cx="2240280" cy="731520"/>
          </a:xfrm>
          <a:prstGeom prst="roundRect">
            <a:avLst>
              <a:gd fmla="val 7500" name="adj"/>
            </a:avLst>
          </a:prstGeom>
          <a:solidFill>
            <a:srgbClr val="063A6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651" name="Google Shape;651;p24"/>
          <p:cNvSpPr/>
          <p:nvPr/>
        </p:nvSpPr>
        <p:spPr>
          <a:xfrm>
            <a:off x="6583680" y="2642616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FB4DB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7FB4DB"/>
                </a:solidFill>
                <a:latin typeface="Calibri"/>
                <a:ea typeface="Calibri"/>
                <a:cs typeface="Calibri"/>
                <a:sym typeface="Calibri"/>
              </a:rPr>
              <a:t>I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2" name="Google Shape;652;p24"/>
          <p:cNvSpPr/>
          <p:nvPr/>
        </p:nvSpPr>
        <p:spPr>
          <a:xfrm>
            <a:off x="7086600" y="2569464"/>
            <a:ext cx="150876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FE0EE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FE0EE"/>
                </a:solidFill>
                <a:latin typeface="Calibri"/>
                <a:ea typeface="Calibri"/>
                <a:cs typeface="Calibri"/>
                <a:sym typeface="Calibri"/>
              </a:rPr>
              <a:t>Êtes-vous concernés ?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3" name="Google Shape;653;p24"/>
          <p:cNvSpPr/>
          <p:nvPr/>
        </p:nvSpPr>
        <p:spPr>
          <a:xfrm>
            <a:off x="6446520" y="3383280"/>
            <a:ext cx="2240280" cy="731520"/>
          </a:xfrm>
          <a:prstGeom prst="roundRect">
            <a:avLst>
              <a:gd fmla="val 7500" name="adj"/>
            </a:avLst>
          </a:prstGeom>
          <a:solidFill>
            <a:srgbClr val="063A6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654" name="Google Shape;654;p24"/>
          <p:cNvSpPr/>
          <p:nvPr/>
        </p:nvSpPr>
        <p:spPr>
          <a:xfrm>
            <a:off x="6583680" y="3511296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FB4DB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7FB4DB"/>
                </a:solidFill>
                <a:latin typeface="Calibri"/>
                <a:ea typeface="Calibri"/>
                <a:cs typeface="Calibri"/>
                <a:sym typeface="Calibri"/>
              </a:rPr>
              <a:t>II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5" name="Google Shape;655;p24"/>
          <p:cNvSpPr/>
          <p:nvPr/>
        </p:nvSpPr>
        <p:spPr>
          <a:xfrm>
            <a:off x="7086600" y="3438144"/>
            <a:ext cx="150876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FE0EE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FE0EE"/>
                </a:solidFill>
                <a:latin typeface="Calibri"/>
                <a:ea typeface="Calibri"/>
                <a:cs typeface="Calibri"/>
                <a:sym typeface="Calibri"/>
              </a:rPr>
              <a:t>La diligence raisonnée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6" name="Google Shape;656;p24"/>
          <p:cNvSpPr/>
          <p:nvPr/>
        </p:nvSpPr>
        <p:spPr>
          <a:xfrm>
            <a:off x="6446520" y="4251960"/>
            <a:ext cx="2240280" cy="731520"/>
          </a:xfrm>
          <a:prstGeom prst="roundRect">
            <a:avLst>
              <a:gd fmla="val 7500" name="adj"/>
            </a:avLst>
          </a:prstGeom>
          <a:solidFill>
            <a:srgbClr val="DF337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657" name="Google Shape;657;p24"/>
          <p:cNvSpPr/>
          <p:nvPr/>
        </p:nvSpPr>
        <p:spPr>
          <a:xfrm>
            <a:off x="6583680" y="4379976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III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8" name="Google Shape;658;p24"/>
          <p:cNvSpPr/>
          <p:nvPr/>
        </p:nvSpPr>
        <p:spPr>
          <a:xfrm>
            <a:off x="7086600" y="4306824"/>
            <a:ext cx="150876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Mise en œuvre &amp; formalités douanières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9" name="Google Shape;659;p24"/>
          <p:cNvSpPr/>
          <p:nvPr/>
        </p:nvSpPr>
        <p:spPr>
          <a:xfrm>
            <a:off x="6446520" y="5120640"/>
            <a:ext cx="2240280" cy="731520"/>
          </a:xfrm>
          <a:prstGeom prst="roundRect">
            <a:avLst>
              <a:gd fmla="val 7500" name="adj"/>
            </a:avLst>
          </a:prstGeom>
          <a:solidFill>
            <a:srgbClr val="063A6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660" name="Google Shape;660;p24"/>
          <p:cNvSpPr/>
          <p:nvPr/>
        </p:nvSpPr>
        <p:spPr>
          <a:xfrm>
            <a:off x="6583680" y="5248656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FB4DB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7FB4DB"/>
                </a:solidFill>
                <a:latin typeface="Calibri"/>
                <a:ea typeface="Calibri"/>
                <a:cs typeface="Calibri"/>
                <a:sym typeface="Calibri"/>
              </a:rPr>
              <a:t>IV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1" name="Google Shape;661;p24"/>
          <p:cNvSpPr/>
          <p:nvPr/>
        </p:nvSpPr>
        <p:spPr>
          <a:xfrm>
            <a:off x="7086600" y="5175504"/>
            <a:ext cx="150876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FE0EE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FE0EE"/>
                </a:solidFill>
                <a:latin typeface="Calibri"/>
                <a:ea typeface="Calibri"/>
                <a:cs typeface="Calibri"/>
                <a:sym typeface="Calibri"/>
              </a:rPr>
              <a:t>Bonnes pratiques &amp; conseils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7FA"/>
        </a:solidFill>
      </p:bgPr>
    </p:bg>
    <p:spTree>
      <p:nvGrpSpPr>
        <p:cNvPr id="666" name="Shape 6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" name="Google Shape;667;p25"/>
          <p:cNvSpPr/>
          <p:nvPr/>
        </p:nvSpPr>
        <p:spPr>
          <a:xfrm>
            <a:off x="457200" y="6510528"/>
            <a:ext cx="5852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RDUE / EUDR  ·  Webinaire CCI Lyon Métropole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8" name="Google Shape;668;p25"/>
          <p:cNvSpPr/>
          <p:nvPr/>
        </p:nvSpPr>
        <p:spPr>
          <a:xfrm>
            <a:off x="7955280" y="651052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22 / 34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9" name="Google Shape;669;p25"/>
          <p:cNvSpPr/>
          <p:nvPr/>
        </p:nvSpPr>
        <p:spPr>
          <a:xfrm>
            <a:off x="7223760" y="292608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F337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DF337F"/>
                </a:solidFill>
                <a:latin typeface="Calibri"/>
                <a:ea typeface="Calibri"/>
                <a:cs typeface="Calibri"/>
                <a:sym typeface="Calibri"/>
              </a:rPr>
              <a:t>CCI</a:t>
            </a:r>
            <a:r>
              <a:rPr b="1" i="0" lang="en-US" sz="110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 LYON MÉTROPOLE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0" name="Google Shape;670;p25"/>
          <p:cNvSpPr/>
          <p:nvPr/>
        </p:nvSpPr>
        <p:spPr>
          <a:xfrm>
            <a:off x="7223760" y="457200"/>
            <a:ext cx="1828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700"/>
              <a:buFont typeface="Calibri"/>
              <a:buNone/>
            </a:pPr>
            <a:r>
              <a:rPr b="0" i="1" lang="en-US" sz="7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Saint-Étienne Roanne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1" name="Google Shape;671;p25"/>
          <p:cNvSpPr/>
          <p:nvPr/>
        </p:nvSpPr>
        <p:spPr>
          <a:xfrm>
            <a:off x="457200" y="384048"/>
            <a:ext cx="65836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4079"/>
              </a:buClr>
              <a:buSzPts val="2700"/>
              <a:buFont typeface="Calibri"/>
              <a:buNone/>
            </a:pPr>
            <a:r>
              <a:rPr b="1" i="0" lang="en-US" sz="270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Le système d'information RDUE &amp; EU Login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2" name="Google Shape;672;p25"/>
          <p:cNvSpPr/>
          <p:nvPr/>
        </p:nvSpPr>
        <p:spPr>
          <a:xfrm>
            <a:off x="457200" y="987552"/>
            <a:ext cx="81381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Enregistrer la DDR pour obtenir un numéro de référence.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3" name="Google Shape;673;p25"/>
          <p:cNvSpPr/>
          <p:nvPr/>
        </p:nvSpPr>
        <p:spPr>
          <a:xfrm>
            <a:off x="457200" y="1554480"/>
            <a:ext cx="3200400" cy="4023360"/>
          </a:xfrm>
          <a:prstGeom prst="roundRect">
            <a:avLst>
              <a:gd fmla="val 2286" name="adj"/>
            </a:avLst>
          </a:prstGeom>
          <a:solidFill>
            <a:srgbClr val="004079"/>
          </a:solidFill>
          <a:ln cap="flat" cmpd="sng" w="12700">
            <a:solidFill>
              <a:srgbClr val="E1E9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674" name="Google Shape;674;p25"/>
          <p:cNvSpPr/>
          <p:nvPr/>
        </p:nvSpPr>
        <p:spPr>
          <a:xfrm>
            <a:off x="1645920" y="1828800"/>
            <a:ext cx="822960" cy="822960"/>
          </a:xfrm>
          <a:prstGeom prst="ellipse">
            <a:avLst/>
          </a:prstGeom>
          <a:solidFill>
            <a:srgbClr val="DF337F"/>
          </a:solidFill>
          <a:ln>
            <a:noFill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icons/key.png" id="675" name="Google Shape;675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843430" y="2026310"/>
            <a:ext cx="427939" cy="427939"/>
          </a:xfrm>
          <a:prstGeom prst="rect">
            <a:avLst/>
          </a:prstGeom>
          <a:noFill/>
          <a:ln>
            <a:noFill/>
          </a:ln>
        </p:spPr>
      </p:pic>
      <p:sp>
        <p:nvSpPr>
          <p:cNvPr id="676" name="Google Shape;676;p25"/>
          <p:cNvSpPr/>
          <p:nvPr/>
        </p:nvSpPr>
        <p:spPr>
          <a:xfrm>
            <a:off x="457200" y="269748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Prérequis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7" name="Google Shape;677;p25"/>
          <p:cNvSpPr/>
          <p:nvPr/>
        </p:nvSpPr>
        <p:spPr>
          <a:xfrm>
            <a:off x="640080" y="3108960"/>
            <a:ext cx="283464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FE0EE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CFE0EE"/>
                </a:solidFill>
                <a:latin typeface="Calibri"/>
                <a:ea typeface="Calibri"/>
                <a:cs typeface="Calibri"/>
                <a:sym typeface="Calibri"/>
              </a:rPr>
              <a:t>Créer un compte EU Login, puis s'enregistrer dans le système d'information RDUE (rouvert fin juin 2026).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8" name="Google Shape;678;p25"/>
          <p:cNvSpPr/>
          <p:nvPr/>
        </p:nvSpPr>
        <p:spPr>
          <a:xfrm>
            <a:off x="1234440" y="4572000"/>
            <a:ext cx="1645920" cy="256032"/>
          </a:xfrm>
          <a:prstGeom prst="roundRect">
            <a:avLst>
              <a:gd fmla="val 50000" name="adj"/>
            </a:avLst>
          </a:prstGeom>
          <a:solidFill>
            <a:srgbClr val="DF337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679" name="Google Shape;679;p25"/>
          <p:cNvSpPr/>
          <p:nvPr/>
        </p:nvSpPr>
        <p:spPr>
          <a:xfrm>
            <a:off x="1234440" y="4572000"/>
            <a:ext cx="1645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Calibri"/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dès maintenant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0" name="Google Shape;680;p25"/>
          <p:cNvSpPr/>
          <p:nvPr/>
        </p:nvSpPr>
        <p:spPr>
          <a:xfrm>
            <a:off x="3931920" y="1554480"/>
            <a:ext cx="4754880" cy="4023360"/>
          </a:xfrm>
          <a:prstGeom prst="roundRect">
            <a:avLst>
              <a:gd fmla="val 1818" name="adj"/>
            </a:avLst>
          </a:prstGeom>
          <a:solidFill>
            <a:srgbClr val="FFFFFF"/>
          </a:solidFill>
          <a:ln cap="flat" cmpd="sng" w="12700">
            <a:solidFill>
              <a:srgbClr val="E1E9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681" name="Google Shape;681;p25"/>
          <p:cNvSpPr/>
          <p:nvPr/>
        </p:nvSpPr>
        <p:spPr>
          <a:xfrm>
            <a:off x="4114800" y="1691640"/>
            <a:ext cx="43891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4079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La DDR dans le système d'information (TRACES) — à saisir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2" name="Google Shape;682;p25"/>
          <p:cNvSpPr/>
          <p:nvPr/>
        </p:nvSpPr>
        <p:spPr>
          <a:xfrm>
            <a:off x="4206240" y="2148840"/>
            <a:ext cx="4206240" cy="2651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1A2733"/>
              </a:buClr>
              <a:buSzPts val="1150"/>
              <a:buFont typeface="Calibri"/>
              <a:buChar char="•"/>
            </a:pPr>
            <a:r>
              <a:rPr b="0" i="0" lang="en-US" sz="1150" u="none" cap="none" strike="noStrike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N° EORI de l'opérateur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A2733"/>
              </a:buClr>
              <a:buSzPts val="1150"/>
              <a:buFont typeface="Calibri"/>
              <a:buChar char="•"/>
            </a:pPr>
            <a:r>
              <a:rPr b="0" i="0" lang="en-US" sz="1150" u="none" cap="none" strike="noStrike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Code du système harmonisé (SH)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A2733"/>
              </a:buClr>
              <a:buSzPts val="1150"/>
              <a:buFont typeface="Calibri"/>
              <a:buChar char="•"/>
            </a:pPr>
            <a:r>
              <a:rPr b="0" i="0" lang="en-US" sz="1150" u="none" cap="none" strike="noStrike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Description libre (nom commercial)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A2733"/>
              </a:buClr>
              <a:buSzPts val="1150"/>
              <a:buFont typeface="Calibri"/>
              <a:buChar char="•"/>
            </a:pPr>
            <a:r>
              <a:rPr b="0" i="0" lang="en-US" sz="1150" u="none" cap="none" strike="noStrike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Quantité (mise sur le marché / export)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A2733"/>
              </a:buClr>
              <a:buSzPts val="1150"/>
              <a:buFont typeface="Calibri"/>
              <a:buChar char="•"/>
            </a:pPr>
            <a:r>
              <a:rPr b="0" i="0" lang="en-US" sz="1150" u="none" cap="none" strike="noStrike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Pays de production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A2733"/>
              </a:buClr>
              <a:buSzPts val="1150"/>
              <a:buFont typeface="Calibri"/>
              <a:buChar char="•"/>
            </a:pPr>
            <a:r>
              <a:rPr b="0" i="0" lang="en-US" sz="1150" u="none" cap="none" strike="noStrike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Géolocalisation de toutes les parcelles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A2733"/>
              </a:buClr>
              <a:buSzPts val="1150"/>
              <a:buFont typeface="Calibri"/>
              <a:buChar char="•"/>
            </a:pPr>
            <a:r>
              <a:rPr b="0" i="0" lang="en-US" sz="1150" u="none" cap="none" strike="noStrike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Attestation de conformité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3" name="Google Shape;683;p25"/>
          <p:cNvSpPr/>
          <p:nvPr/>
        </p:nvSpPr>
        <p:spPr>
          <a:xfrm>
            <a:off x="4114800" y="4892040"/>
            <a:ext cx="4389120" cy="566928"/>
          </a:xfrm>
          <a:prstGeom prst="roundRect">
            <a:avLst>
              <a:gd fmla="val 12903" name="adj"/>
            </a:avLst>
          </a:prstGeom>
          <a:solidFill>
            <a:srgbClr val="00A49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684" name="Google Shape;684;p25"/>
          <p:cNvSpPr/>
          <p:nvPr/>
        </p:nvSpPr>
        <p:spPr>
          <a:xfrm>
            <a:off x="4114800" y="4892040"/>
            <a:ext cx="43891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→ Génération du NUMÉRO DE RÉFÉRENCE DDR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89" name="Shape 6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0" name="Google Shape;690;p26"/>
          <p:cNvSpPr/>
          <p:nvPr/>
        </p:nvSpPr>
        <p:spPr>
          <a:xfrm>
            <a:off x="457200" y="6510528"/>
            <a:ext cx="5852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RDUE / EUDR  ·  Webinaire CCI Lyon Métropole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1" name="Google Shape;691;p26"/>
          <p:cNvSpPr/>
          <p:nvPr/>
        </p:nvSpPr>
        <p:spPr>
          <a:xfrm>
            <a:off x="7955280" y="651052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23 / 34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2" name="Google Shape;692;p26"/>
          <p:cNvSpPr/>
          <p:nvPr/>
        </p:nvSpPr>
        <p:spPr>
          <a:xfrm>
            <a:off x="7223760" y="292608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F337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DF337F"/>
                </a:solidFill>
                <a:latin typeface="Calibri"/>
                <a:ea typeface="Calibri"/>
                <a:cs typeface="Calibri"/>
                <a:sym typeface="Calibri"/>
              </a:rPr>
              <a:t>CCI</a:t>
            </a:r>
            <a:r>
              <a:rPr b="1" i="0" lang="en-US" sz="110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 LYON MÉTROPOLE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3" name="Google Shape;693;p26"/>
          <p:cNvSpPr/>
          <p:nvPr/>
        </p:nvSpPr>
        <p:spPr>
          <a:xfrm>
            <a:off x="7223760" y="457200"/>
            <a:ext cx="1828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700"/>
              <a:buFont typeface="Calibri"/>
              <a:buNone/>
            </a:pPr>
            <a:r>
              <a:rPr b="0" i="1" lang="en-US" sz="7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Saint-Étienne Roanne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4" name="Google Shape;694;p26"/>
          <p:cNvSpPr/>
          <p:nvPr/>
        </p:nvSpPr>
        <p:spPr>
          <a:xfrm>
            <a:off x="457200" y="384048"/>
            <a:ext cx="65836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4079"/>
              </a:buClr>
              <a:buSzPts val="2700"/>
              <a:buFont typeface="Calibri"/>
              <a:buNone/>
            </a:pPr>
            <a:r>
              <a:rPr b="1" i="0" lang="en-US" sz="270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Déclarer en douane (Delta)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5" name="Google Shape;695;p26"/>
          <p:cNvSpPr/>
          <p:nvPr/>
        </p:nvSpPr>
        <p:spPr>
          <a:xfrm>
            <a:off x="457200" y="987552"/>
            <a:ext cx="81381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Le numéro de DDR se reporte dans la déclaration douanière (Delta), avant mainlevée.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6" name="Google Shape;696;p26"/>
          <p:cNvSpPr/>
          <p:nvPr/>
        </p:nvSpPr>
        <p:spPr>
          <a:xfrm>
            <a:off x="457200" y="1508760"/>
            <a:ext cx="4023360" cy="1828800"/>
          </a:xfrm>
          <a:prstGeom prst="roundRect">
            <a:avLst>
              <a:gd fmla="val 4000" name="adj"/>
            </a:avLst>
          </a:prstGeom>
          <a:solidFill>
            <a:srgbClr val="EAF2F8"/>
          </a:solidFill>
          <a:ln cap="flat" cmpd="sng" w="12700">
            <a:solidFill>
              <a:srgbClr val="E1E9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697" name="Google Shape;697;p26"/>
          <p:cNvSpPr/>
          <p:nvPr/>
        </p:nvSpPr>
        <p:spPr>
          <a:xfrm>
            <a:off x="640080" y="1645920"/>
            <a:ext cx="3657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4079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Cas n°1 — produit concerné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8" name="Google Shape;698;p26"/>
          <p:cNvSpPr/>
          <p:nvPr/>
        </p:nvSpPr>
        <p:spPr>
          <a:xfrm>
            <a:off x="640080" y="2103120"/>
            <a:ext cx="914400" cy="457200"/>
          </a:xfrm>
          <a:prstGeom prst="roundRect">
            <a:avLst>
              <a:gd fmla="val 12000" name="adj"/>
            </a:avLst>
          </a:prstGeom>
          <a:solidFill>
            <a:srgbClr val="00407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699" name="Google Shape;699;p26"/>
          <p:cNvSpPr/>
          <p:nvPr/>
        </p:nvSpPr>
        <p:spPr>
          <a:xfrm>
            <a:off x="640080" y="2103120"/>
            <a:ext cx="914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C716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0" name="Google Shape;700;p26"/>
          <p:cNvSpPr/>
          <p:nvPr/>
        </p:nvSpPr>
        <p:spPr>
          <a:xfrm>
            <a:off x="1691640" y="2103120"/>
            <a:ext cx="26517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733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Opérateur : code C716 + son numéro de DDR.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1" name="Google Shape;701;p26"/>
          <p:cNvSpPr/>
          <p:nvPr/>
        </p:nvSpPr>
        <p:spPr>
          <a:xfrm>
            <a:off x="640080" y="2697480"/>
            <a:ext cx="914400" cy="457200"/>
          </a:xfrm>
          <a:prstGeom prst="roundRect">
            <a:avLst>
              <a:gd fmla="val 12000" name="adj"/>
            </a:avLst>
          </a:prstGeom>
          <a:solidFill>
            <a:srgbClr val="0092D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702" name="Google Shape;702;p26"/>
          <p:cNvSpPr/>
          <p:nvPr/>
        </p:nvSpPr>
        <p:spPr>
          <a:xfrm>
            <a:off x="640080" y="2697480"/>
            <a:ext cx="914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C717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3" name="Google Shape;703;p26"/>
          <p:cNvSpPr/>
          <p:nvPr/>
        </p:nvSpPr>
        <p:spPr>
          <a:xfrm>
            <a:off x="1691640" y="2651760"/>
            <a:ext cx="26517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733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PME aval (DDR amont existante) : C717 + n° de DDR du fournisseur — à confirmer sur la fiche douane 2026.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4" name="Google Shape;704;p26"/>
          <p:cNvSpPr/>
          <p:nvPr/>
        </p:nvSpPr>
        <p:spPr>
          <a:xfrm>
            <a:off x="4663440" y="1508760"/>
            <a:ext cx="4023360" cy="1828800"/>
          </a:xfrm>
          <a:prstGeom prst="roundRect">
            <a:avLst>
              <a:gd fmla="val 4000" name="adj"/>
            </a:avLst>
          </a:prstGeom>
          <a:solidFill>
            <a:srgbClr val="EAF2F8"/>
          </a:solidFill>
          <a:ln cap="flat" cmpd="sng" w="12700">
            <a:solidFill>
              <a:srgbClr val="E1E9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705" name="Google Shape;705;p26"/>
          <p:cNvSpPr/>
          <p:nvPr/>
        </p:nvSpPr>
        <p:spPr>
          <a:xfrm>
            <a:off x="4846320" y="1645920"/>
            <a:ext cx="3657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4079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Cas n°2 — exemptions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6" name="Google Shape;706;p26"/>
          <p:cNvSpPr/>
          <p:nvPr/>
        </p:nvSpPr>
        <p:spPr>
          <a:xfrm>
            <a:off x="4846320" y="2084832"/>
            <a:ext cx="777240" cy="384048"/>
          </a:xfrm>
          <a:prstGeom prst="roundRect">
            <a:avLst>
              <a:gd fmla="val 11905" name="adj"/>
            </a:avLst>
          </a:prstGeom>
          <a:solidFill>
            <a:srgbClr val="5F6B7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707" name="Google Shape;707;p26"/>
          <p:cNvSpPr/>
          <p:nvPr/>
        </p:nvSpPr>
        <p:spPr>
          <a:xfrm>
            <a:off x="4846320" y="2084832"/>
            <a:ext cx="7772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Y129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8" name="Google Shape;708;p26"/>
          <p:cNvSpPr/>
          <p:nvPr/>
        </p:nvSpPr>
        <p:spPr>
          <a:xfrm>
            <a:off x="5687568" y="2084832"/>
            <a:ext cx="10515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733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hors champ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9" name="Google Shape;709;p26"/>
          <p:cNvSpPr/>
          <p:nvPr/>
        </p:nvSpPr>
        <p:spPr>
          <a:xfrm>
            <a:off x="6812280" y="2084832"/>
            <a:ext cx="777240" cy="384048"/>
          </a:xfrm>
          <a:prstGeom prst="roundRect">
            <a:avLst>
              <a:gd fmla="val 11905" name="adj"/>
            </a:avLst>
          </a:prstGeom>
          <a:solidFill>
            <a:srgbClr val="5F6B7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710" name="Google Shape;710;p26"/>
          <p:cNvSpPr/>
          <p:nvPr/>
        </p:nvSpPr>
        <p:spPr>
          <a:xfrm>
            <a:off x="6812280" y="2084832"/>
            <a:ext cx="7772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Y132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1" name="Google Shape;711;p26"/>
          <p:cNvSpPr/>
          <p:nvPr/>
        </p:nvSpPr>
        <p:spPr>
          <a:xfrm>
            <a:off x="7653528" y="2084832"/>
            <a:ext cx="10515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733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avant 29/06/2023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2" name="Google Shape;712;p26"/>
          <p:cNvSpPr/>
          <p:nvPr/>
        </p:nvSpPr>
        <p:spPr>
          <a:xfrm>
            <a:off x="4846320" y="2651760"/>
            <a:ext cx="777240" cy="384048"/>
          </a:xfrm>
          <a:prstGeom prst="roundRect">
            <a:avLst>
              <a:gd fmla="val 11905" name="adj"/>
            </a:avLst>
          </a:prstGeom>
          <a:solidFill>
            <a:srgbClr val="5F6B7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713" name="Google Shape;713;p26"/>
          <p:cNvSpPr/>
          <p:nvPr/>
        </p:nvSpPr>
        <p:spPr>
          <a:xfrm>
            <a:off x="4846320" y="2651760"/>
            <a:ext cx="7772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Y133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4" name="Google Shape;714;p26"/>
          <p:cNvSpPr/>
          <p:nvPr/>
        </p:nvSpPr>
        <p:spPr>
          <a:xfrm>
            <a:off x="5687568" y="2651760"/>
            <a:ext cx="10515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733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déchets / recyclé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5" name="Google Shape;715;p26"/>
          <p:cNvSpPr/>
          <p:nvPr/>
        </p:nvSpPr>
        <p:spPr>
          <a:xfrm>
            <a:off x="6812280" y="2651760"/>
            <a:ext cx="777240" cy="384048"/>
          </a:xfrm>
          <a:prstGeom prst="roundRect">
            <a:avLst>
              <a:gd fmla="val 11905" name="adj"/>
            </a:avLst>
          </a:prstGeom>
          <a:solidFill>
            <a:srgbClr val="5F6B7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716" name="Google Shape;716;p26"/>
          <p:cNvSpPr/>
          <p:nvPr/>
        </p:nvSpPr>
        <p:spPr>
          <a:xfrm>
            <a:off x="6812280" y="2651760"/>
            <a:ext cx="7772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Y141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7" name="Google Shape;717;p26"/>
          <p:cNvSpPr/>
          <p:nvPr/>
        </p:nvSpPr>
        <p:spPr>
          <a:xfrm>
            <a:off x="7653528" y="2651760"/>
            <a:ext cx="10515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733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PME (report)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8" name="Google Shape;718;p26"/>
          <p:cNvSpPr/>
          <p:nvPr/>
        </p:nvSpPr>
        <p:spPr>
          <a:xfrm>
            <a:off x="457200" y="3566160"/>
            <a:ext cx="8229600" cy="1051560"/>
          </a:xfrm>
          <a:prstGeom prst="roundRect">
            <a:avLst>
              <a:gd fmla="val 6957" name="adj"/>
            </a:avLst>
          </a:prstGeom>
          <a:solidFill>
            <a:srgbClr val="004079"/>
          </a:solidFill>
          <a:ln cap="flat" cmpd="sng" w="12700">
            <a:solidFill>
              <a:srgbClr val="E1E9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719" name="Google Shape;719;p26"/>
          <p:cNvSpPr/>
          <p:nvPr/>
        </p:nvSpPr>
        <p:spPr>
          <a:xfrm>
            <a:off x="731520" y="3794760"/>
            <a:ext cx="594360" cy="594360"/>
          </a:xfrm>
          <a:prstGeom prst="ellipse">
            <a:avLst/>
          </a:prstGeom>
          <a:solidFill>
            <a:srgbClr val="DF337F"/>
          </a:solidFill>
          <a:ln>
            <a:noFill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icons/handshake.png" id="720" name="Google Shape;720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4166" y="3937406"/>
            <a:ext cx="309067" cy="309067"/>
          </a:xfrm>
          <a:prstGeom prst="rect">
            <a:avLst/>
          </a:prstGeom>
          <a:noFill/>
          <a:ln>
            <a:noFill/>
          </a:ln>
        </p:spPr>
      </p:pic>
      <p:sp>
        <p:nvSpPr>
          <p:cNvPr id="721" name="Google Shape;721;p26"/>
          <p:cNvSpPr/>
          <p:nvPr/>
        </p:nvSpPr>
        <p:spPr>
          <a:xfrm>
            <a:off x="1508760" y="3675888"/>
            <a:ext cx="69494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Transmission amont / aval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2" name="Google Shape;722;p26"/>
          <p:cNvSpPr/>
          <p:nvPr/>
        </p:nvSpPr>
        <p:spPr>
          <a:xfrm>
            <a:off x="1508760" y="4041648"/>
            <a:ext cx="69494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FE0EE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CFE0EE"/>
                </a:solidFill>
                <a:latin typeface="Calibri"/>
                <a:ea typeface="Calibri"/>
                <a:cs typeface="Calibri"/>
                <a:sym typeface="Calibri"/>
              </a:rPr>
              <a:t>L'opérateur transmet le n° de DDR et le code de vérification à son seul client aval immédiat ; les maillons suivants ne conservent que les infos fournisseur.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3" name="Google Shape;723;p26"/>
          <p:cNvSpPr/>
          <p:nvPr/>
        </p:nvSpPr>
        <p:spPr>
          <a:xfrm>
            <a:off x="457200" y="484632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1100"/>
              <a:buFont typeface="Calibri"/>
              <a:buNone/>
            </a:pPr>
            <a:r>
              <a:rPr b="0" i="1" lang="en-US" sz="11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Autres codes : Y142 (activité non commerciale) · 99EU9999999999 = n° conventionnel export/réimport, produits fabriqués entre le 29/06/2023 et l'application.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" name="Google Shape;622;p23"/>
          <p:cNvSpPr/>
          <p:nvPr/>
        </p:nvSpPr>
        <p:spPr>
          <a:xfrm>
            <a:off x="457200" y="6510528"/>
            <a:ext cx="5852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RDUE / EUDR  ·  Webinaire CCI Lyon Métropole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3" name="Google Shape;623;p23"/>
          <p:cNvSpPr/>
          <p:nvPr/>
        </p:nvSpPr>
        <p:spPr>
          <a:xfrm>
            <a:off x="7955280" y="651052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24 / 34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4" name="Google Shape;624;p23"/>
          <p:cNvSpPr/>
          <p:nvPr/>
        </p:nvSpPr>
        <p:spPr>
          <a:xfrm>
            <a:off x="7223760" y="292608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F337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DF337F"/>
                </a:solidFill>
                <a:latin typeface="Calibri"/>
                <a:ea typeface="Calibri"/>
                <a:cs typeface="Calibri"/>
                <a:sym typeface="Calibri"/>
              </a:rPr>
              <a:t>CCI</a:t>
            </a:r>
            <a:r>
              <a:rPr b="1" i="0" lang="en-US" sz="110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 LYON MÉTROPOLE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5" name="Google Shape;625;p23"/>
          <p:cNvSpPr/>
          <p:nvPr/>
        </p:nvSpPr>
        <p:spPr>
          <a:xfrm>
            <a:off x="7223760" y="457200"/>
            <a:ext cx="1828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700"/>
              <a:buFont typeface="Calibri"/>
              <a:buNone/>
            </a:pPr>
            <a:r>
              <a:rPr b="0" i="1" lang="en-US" sz="7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Saint-Étienne Roanne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6" name="Google Shape;626;p23"/>
          <p:cNvSpPr/>
          <p:nvPr/>
        </p:nvSpPr>
        <p:spPr>
          <a:xfrm>
            <a:off x="457200" y="384048"/>
            <a:ext cx="65836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4079"/>
              </a:buClr>
              <a:buSzPts val="2700"/>
              <a:buFont typeface="Calibri"/>
              <a:buNone/>
            </a:pPr>
            <a:r>
              <a:rPr b="1" i="0" lang="en-US" sz="270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Cas pratique : l'huile de palme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7" name="Google Shape;627;p23"/>
          <p:cNvSpPr/>
          <p:nvPr/>
        </p:nvSpPr>
        <p:spPr>
          <a:xfrm>
            <a:off x="457200" y="987552"/>
            <a:ext cx="81381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Le même produit peut être soumis… ou hors champ, selon l'usage.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8" name="Google Shape;628;p23"/>
          <p:cNvSpPr/>
          <p:nvPr/>
        </p:nvSpPr>
        <p:spPr>
          <a:xfrm>
            <a:off x="457200" y="1554480"/>
            <a:ext cx="4023360" cy="3931920"/>
          </a:xfrm>
          <a:prstGeom prst="roundRect">
            <a:avLst>
              <a:gd fmla="val 1860" name="adj"/>
            </a:avLst>
          </a:prstGeom>
          <a:solidFill>
            <a:srgbClr val="FFFFFF"/>
          </a:solidFill>
          <a:ln cap="flat" cmpd="sng" w="12700">
            <a:solidFill>
              <a:srgbClr val="E1E9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629" name="Google Shape;629;p23"/>
          <p:cNvSpPr/>
          <p:nvPr/>
        </p:nvSpPr>
        <p:spPr>
          <a:xfrm>
            <a:off x="457200" y="1554480"/>
            <a:ext cx="4023360" cy="731520"/>
          </a:xfrm>
          <a:prstGeom prst="roundRect">
            <a:avLst>
              <a:gd fmla="val 10000" name="adj"/>
            </a:avLst>
          </a:prstGeom>
          <a:solidFill>
            <a:srgbClr val="00A49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630" name="Google Shape;630;p23"/>
          <p:cNvSpPr/>
          <p:nvPr/>
        </p:nvSpPr>
        <p:spPr>
          <a:xfrm>
            <a:off x="640080" y="1554480"/>
            <a:ext cx="37490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 · Scénario standard — soumis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1" name="Google Shape;631;p23"/>
          <p:cNvSpPr/>
          <p:nvPr/>
        </p:nvSpPr>
        <p:spPr>
          <a:xfrm>
            <a:off x="685800" y="2468880"/>
            <a:ext cx="3566160" cy="2834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733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Importation d'huile de palme brute ou de dérivés pour la fabrication de savons ou d'additifs alimentaires.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Clr>
                <a:srgbClr val="00A49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0A49F"/>
                </a:solidFill>
                <a:latin typeface="Calibri"/>
                <a:ea typeface="Calibri"/>
                <a:cs typeface="Calibri"/>
                <a:sym typeface="Calibri"/>
              </a:rPr>
              <a:t>→ Diligence raisonnée complète requise · dépôt DDR dans TRACES-NT.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2" name="Google Shape;632;p23"/>
          <p:cNvSpPr/>
          <p:nvPr/>
        </p:nvSpPr>
        <p:spPr>
          <a:xfrm>
            <a:off x="4663440" y="1554480"/>
            <a:ext cx="4023360" cy="3931920"/>
          </a:xfrm>
          <a:prstGeom prst="roundRect">
            <a:avLst>
              <a:gd fmla="val 1860" name="adj"/>
            </a:avLst>
          </a:prstGeom>
          <a:solidFill>
            <a:srgbClr val="FFFFFF"/>
          </a:solidFill>
          <a:ln cap="flat" cmpd="sng" w="12700">
            <a:solidFill>
              <a:srgbClr val="E1E9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633" name="Google Shape;633;p23"/>
          <p:cNvSpPr/>
          <p:nvPr/>
        </p:nvSpPr>
        <p:spPr>
          <a:xfrm>
            <a:off x="4663440" y="1554480"/>
            <a:ext cx="4023360" cy="731520"/>
          </a:xfrm>
          <a:prstGeom prst="roundRect">
            <a:avLst>
              <a:gd fmla="val 10000" name="adj"/>
            </a:avLst>
          </a:prstGeom>
          <a:solidFill>
            <a:srgbClr val="5F6B7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634" name="Google Shape;634;p23"/>
          <p:cNvSpPr/>
          <p:nvPr/>
        </p:nvSpPr>
        <p:spPr>
          <a:xfrm>
            <a:off x="4846320" y="1554480"/>
            <a:ext cx="37490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 · Exclusions stratégiques — hors champ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5" name="Google Shape;635;p23"/>
          <p:cNvSpPr/>
          <p:nvPr/>
        </p:nvSpPr>
        <p:spPr>
          <a:xfrm>
            <a:off x="4892040" y="2468880"/>
            <a:ext cx="3566160" cy="2834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4079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Flux 1 — pharmaceutique : </a:t>
            </a:r>
            <a:r>
              <a:rPr b="0" i="0" lang="en-US" sz="1150" u="none" cap="none" strike="noStrike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dérivés oléochimiques utilisés exclusivement pour la fabrication de médicaments.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4079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Flux 2 — biocarburants : 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733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huiles usagées / déchets récupérés (matière recyclée, code Y133).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50"/>
              <a:buFont typeface="Calibri"/>
              <a:buNone/>
            </a:pPr>
            <a:r>
              <a:rPr/>
              <a:t/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→ Exemption des obligations RDUE · pas de DDR requise.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4079"/>
        </a:solidFill>
      </p:bgPr>
    </p:bg>
    <p:spTree>
      <p:nvGrpSpPr>
        <p:cNvPr id="790" name="Shape 7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1" name="Google Shape;791;p29"/>
          <p:cNvSpPr/>
          <p:nvPr/>
        </p:nvSpPr>
        <p:spPr>
          <a:xfrm>
            <a:off x="7040880" y="292608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F337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DF337F"/>
                </a:solidFill>
                <a:latin typeface="Calibri"/>
                <a:ea typeface="Calibri"/>
                <a:cs typeface="Calibri"/>
                <a:sym typeface="Calibri"/>
              </a:rPr>
              <a:t>CCI</a:t>
            </a:r>
            <a:r>
              <a:rPr b="1" i="0" lang="en-US" sz="110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 LYON MÉTROPOLE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2" name="Google Shape;792;p29"/>
          <p:cNvSpPr/>
          <p:nvPr/>
        </p:nvSpPr>
        <p:spPr>
          <a:xfrm>
            <a:off x="7040880" y="457200"/>
            <a:ext cx="1828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700"/>
              <a:buFont typeface="Calibri"/>
              <a:buNone/>
            </a:pPr>
            <a:r>
              <a:rPr b="0" i="1" lang="en-US" sz="7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Saint-Étienne Roanne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3" name="Google Shape;793;p29"/>
          <p:cNvSpPr/>
          <p:nvPr/>
        </p:nvSpPr>
        <p:spPr>
          <a:xfrm>
            <a:off x="-1463040" y="3840480"/>
            <a:ext cx="4572000" cy="4572000"/>
          </a:xfrm>
          <a:prstGeom prst="ellipse">
            <a:avLst/>
          </a:prstGeom>
          <a:solidFill>
            <a:srgbClr val="00305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794" name="Google Shape;794;p29"/>
          <p:cNvSpPr/>
          <p:nvPr/>
        </p:nvSpPr>
        <p:spPr>
          <a:xfrm>
            <a:off x="640080" y="1417320"/>
            <a:ext cx="5943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F337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DF337F"/>
                </a:solidFill>
                <a:latin typeface="Calibri"/>
                <a:ea typeface="Calibri"/>
                <a:cs typeface="Calibri"/>
                <a:sym typeface="Calibri"/>
              </a:rPr>
              <a:t>PARTIE IV</a:t>
            </a:r>
            <a:r>
              <a:rPr b="1" i="0" lang="en-US" sz="1400" u="none" cap="none" strike="noStrike">
                <a:solidFill>
                  <a:srgbClr val="9FC4E0"/>
                </a:solidFill>
                <a:latin typeface="Calibri"/>
                <a:ea typeface="Calibri"/>
                <a:cs typeface="Calibri"/>
                <a:sym typeface="Calibri"/>
              </a:rPr>
              <a:t>    ·    10 min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5" name="Google Shape;795;p29"/>
          <p:cNvSpPr/>
          <p:nvPr/>
        </p:nvSpPr>
        <p:spPr>
          <a:xfrm>
            <a:off x="594360" y="1828800"/>
            <a:ext cx="54864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400"/>
              <a:buFont typeface="Calibri"/>
              <a:buNone/>
            </a:pPr>
            <a:r>
              <a:rPr b="1" i="0" lang="en-US" sz="3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Bonnes pratiques &amp; conseils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6" name="Google Shape;796;p29"/>
          <p:cNvSpPr/>
          <p:nvPr/>
        </p:nvSpPr>
        <p:spPr>
          <a:xfrm>
            <a:off x="685800" y="3566160"/>
            <a:ext cx="5486400" cy="2560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E6F0F8"/>
              </a:buClr>
              <a:buSzPts val="1400"/>
              <a:buFont typeface="Calibri"/>
              <a:buChar char="•"/>
            </a:pPr>
            <a:r>
              <a:rPr b="0" i="0" lang="en-US" sz="1400" u="none" cap="none" strike="noStrike">
                <a:solidFill>
                  <a:srgbClr val="E6F0F8"/>
                </a:solidFill>
                <a:latin typeface="Calibri"/>
                <a:ea typeface="Calibri"/>
                <a:cs typeface="Calibri"/>
                <a:sym typeface="Calibri"/>
              </a:rPr>
              <a:t>Anticiper : tester TRACES-NT dès l'ouverture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900"/>
              </a:spcBef>
              <a:spcAft>
                <a:spcPts val="0"/>
              </a:spcAft>
              <a:buClr>
                <a:srgbClr val="E6F0F8"/>
              </a:buClr>
              <a:buSzPts val="1400"/>
              <a:buFont typeface="Calibri"/>
              <a:buChar char="•"/>
            </a:pPr>
            <a:r>
              <a:rPr b="0" i="0" lang="en-US" sz="1400" u="none" cap="none" strike="noStrike">
                <a:solidFill>
                  <a:srgbClr val="E6F0F8"/>
                </a:solidFill>
                <a:latin typeface="Calibri"/>
                <a:ea typeface="Calibri"/>
                <a:cs typeface="Calibri"/>
                <a:sym typeface="Calibri"/>
              </a:rPr>
              <a:t>Archiver : conserver les preuves 5 ans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900"/>
              </a:spcBef>
              <a:spcAft>
                <a:spcPts val="0"/>
              </a:spcAft>
              <a:buClr>
                <a:srgbClr val="E6F0F8"/>
              </a:buClr>
              <a:buSzPts val="1400"/>
              <a:buFont typeface="Calibri"/>
              <a:buChar char="•"/>
            </a:pPr>
            <a:r>
              <a:rPr b="0" i="0" lang="en-US" sz="1400" u="none" cap="none" strike="noStrike">
                <a:solidFill>
                  <a:srgbClr val="E6F0F8"/>
                </a:solidFill>
                <a:latin typeface="Calibri"/>
                <a:ea typeface="Calibri"/>
                <a:cs typeface="Calibri"/>
                <a:sym typeface="Calibri"/>
              </a:rPr>
              <a:t>Se faire accompagner : les bons interlocuteurs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900"/>
              </a:spcBef>
              <a:spcAft>
                <a:spcPts val="0"/>
              </a:spcAft>
              <a:buClr>
                <a:srgbClr val="E6F0F8"/>
              </a:buClr>
              <a:buSzPts val="1400"/>
              <a:buFont typeface="Calibri"/>
              <a:buChar char="•"/>
            </a:pPr>
            <a:r>
              <a:rPr b="0" i="0" lang="en-US" sz="1400" u="none" cap="none" strike="noStrike">
                <a:solidFill>
                  <a:srgbClr val="E6F0F8"/>
                </a:solidFill>
                <a:latin typeface="Calibri"/>
                <a:ea typeface="Calibri"/>
                <a:cs typeface="Calibri"/>
                <a:sym typeface="Calibri"/>
              </a:rPr>
              <a:t>La synthèse des conseils &amp; la maîtrise des risques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7" name="Google Shape;797;p29"/>
          <p:cNvSpPr/>
          <p:nvPr/>
        </p:nvSpPr>
        <p:spPr>
          <a:xfrm>
            <a:off x="6446520" y="1645920"/>
            <a:ext cx="2240280" cy="731520"/>
          </a:xfrm>
          <a:prstGeom prst="roundRect">
            <a:avLst>
              <a:gd fmla="val 7500" name="adj"/>
            </a:avLst>
          </a:prstGeom>
          <a:solidFill>
            <a:srgbClr val="063A6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798" name="Google Shape;798;p29"/>
          <p:cNvSpPr/>
          <p:nvPr/>
        </p:nvSpPr>
        <p:spPr>
          <a:xfrm>
            <a:off x="6583680" y="1773936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FB4DB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7FB4DB"/>
                </a:solidFill>
                <a:latin typeface="Calibri"/>
                <a:ea typeface="Calibri"/>
                <a:cs typeface="Calibri"/>
                <a:sym typeface="Calibri"/>
              </a:rPr>
              <a:t>IN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9" name="Google Shape;799;p29"/>
          <p:cNvSpPr/>
          <p:nvPr/>
        </p:nvSpPr>
        <p:spPr>
          <a:xfrm>
            <a:off x="7086600" y="1700784"/>
            <a:ext cx="150876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FE0EE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FE0EE"/>
                </a:solidFill>
                <a:latin typeface="Calibri"/>
                <a:ea typeface="Calibri"/>
                <a:cs typeface="Calibri"/>
                <a:sym typeface="Calibri"/>
              </a:rPr>
              <a:t>Contexte &amp; enjeux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0" name="Google Shape;800;p29"/>
          <p:cNvSpPr/>
          <p:nvPr/>
        </p:nvSpPr>
        <p:spPr>
          <a:xfrm>
            <a:off x="6446520" y="2514600"/>
            <a:ext cx="2240280" cy="731520"/>
          </a:xfrm>
          <a:prstGeom prst="roundRect">
            <a:avLst>
              <a:gd fmla="val 7500" name="adj"/>
            </a:avLst>
          </a:prstGeom>
          <a:solidFill>
            <a:srgbClr val="063A6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801" name="Google Shape;801;p29"/>
          <p:cNvSpPr/>
          <p:nvPr/>
        </p:nvSpPr>
        <p:spPr>
          <a:xfrm>
            <a:off x="6583680" y="2642616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FB4DB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7FB4DB"/>
                </a:solidFill>
                <a:latin typeface="Calibri"/>
                <a:ea typeface="Calibri"/>
                <a:cs typeface="Calibri"/>
                <a:sym typeface="Calibri"/>
              </a:rPr>
              <a:t>I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2" name="Google Shape;802;p29"/>
          <p:cNvSpPr/>
          <p:nvPr/>
        </p:nvSpPr>
        <p:spPr>
          <a:xfrm>
            <a:off x="7086600" y="2569464"/>
            <a:ext cx="150876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FE0EE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FE0EE"/>
                </a:solidFill>
                <a:latin typeface="Calibri"/>
                <a:ea typeface="Calibri"/>
                <a:cs typeface="Calibri"/>
                <a:sym typeface="Calibri"/>
              </a:rPr>
              <a:t>Êtes-vous concernés ?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3" name="Google Shape;803;p29"/>
          <p:cNvSpPr/>
          <p:nvPr/>
        </p:nvSpPr>
        <p:spPr>
          <a:xfrm>
            <a:off x="6446520" y="3383280"/>
            <a:ext cx="2240280" cy="731520"/>
          </a:xfrm>
          <a:prstGeom prst="roundRect">
            <a:avLst>
              <a:gd fmla="val 7500" name="adj"/>
            </a:avLst>
          </a:prstGeom>
          <a:solidFill>
            <a:srgbClr val="063A6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804" name="Google Shape;804;p29"/>
          <p:cNvSpPr/>
          <p:nvPr/>
        </p:nvSpPr>
        <p:spPr>
          <a:xfrm>
            <a:off x="6583680" y="3511296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FB4DB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7FB4DB"/>
                </a:solidFill>
                <a:latin typeface="Calibri"/>
                <a:ea typeface="Calibri"/>
                <a:cs typeface="Calibri"/>
                <a:sym typeface="Calibri"/>
              </a:rPr>
              <a:t>II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5" name="Google Shape;805;p29"/>
          <p:cNvSpPr/>
          <p:nvPr/>
        </p:nvSpPr>
        <p:spPr>
          <a:xfrm>
            <a:off x="7086600" y="3438144"/>
            <a:ext cx="150876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FE0EE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FE0EE"/>
                </a:solidFill>
                <a:latin typeface="Calibri"/>
                <a:ea typeface="Calibri"/>
                <a:cs typeface="Calibri"/>
                <a:sym typeface="Calibri"/>
              </a:rPr>
              <a:t>La diligence raisonnée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6" name="Google Shape;806;p29"/>
          <p:cNvSpPr/>
          <p:nvPr/>
        </p:nvSpPr>
        <p:spPr>
          <a:xfrm>
            <a:off x="6446520" y="4251960"/>
            <a:ext cx="2240280" cy="731520"/>
          </a:xfrm>
          <a:prstGeom prst="roundRect">
            <a:avLst>
              <a:gd fmla="val 7500" name="adj"/>
            </a:avLst>
          </a:prstGeom>
          <a:solidFill>
            <a:srgbClr val="063A6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807" name="Google Shape;807;p29"/>
          <p:cNvSpPr/>
          <p:nvPr/>
        </p:nvSpPr>
        <p:spPr>
          <a:xfrm>
            <a:off x="6583680" y="4379976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FB4DB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7FB4DB"/>
                </a:solidFill>
                <a:latin typeface="Calibri"/>
                <a:ea typeface="Calibri"/>
                <a:cs typeface="Calibri"/>
                <a:sym typeface="Calibri"/>
              </a:rPr>
              <a:t>III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8" name="Google Shape;808;p29"/>
          <p:cNvSpPr/>
          <p:nvPr/>
        </p:nvSpPr>
        <p:spPr>
          <a:xfrm>
            <a:off x="7086600" y="4306824"/>
            <a:ext cx="150876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FE0EE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FE0EE"/>
                </a:solidFill>
                <a:latin typeface="Calibri"/>
                <a:ea typeface="Calibri"/>
                <a:cs typeface="Calibri"/>
                <a:sym typeface="Calibri"/>
              </a:rPr>
              <a:t>Mise en œuvre &amp; formalités douanières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9" name="Google Shape;809;p29"/>
          <p:cNvSpPr/>
          <p:nvPr/>
        </p:nvSpPr>
        <p:spPr>
          <a:xfrm>
            <a:off x="6446520" y="5120640"/>
            <a:ext cx="2240280" cy="731520"/>
          </a:xfrm>
          <a:prstGeom prst="roundRect">
            <a:avLst>
              <a:gd fmla="val 7500" name="adj"/>
            </a:avLst>
          </a:prstGeom>
          <a:solidFill>
            <a:srgbClr val="DF337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810" name="Google Shape;810;p29"/>
          <p:cNvSpPr/>
          <p:nvPr/>
        </p:nvSpPr>
        <p:spPr>
          <a:xfrm>
            <a:off x="6583680" y="5248656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IV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1" name="Google Shape;811;p29"/>
          <p:cNvSpPr/>
          <p:nvPr/>
        </p:nvSpPr>
        <p:spPr>
          <a:xfrm>
            <a:off x="7086600" y="5175504"/>
            <a:ext cx="150876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Bonnes pratiques &amp; conseils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7FA"/>
        </a:solidFill>
      </p:bgPr>
    </p:bg>
    <p:spTree>
      <p:nvGrpSpPr>
        <p:cNvPr id="816" name="Shape 8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7" name="Google Shape;817;p30"/>
          <p:cNvSpPr/>
          <p:nvPr/>
        </p:nvSpPr>
        <p:spPr>
          <a:xfrm>
            <a:off x="457200" y="6510528"/>
            <a:ext cx="5852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RDUE / EUDR  ·  Webinaire CCI Lyon Métropole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8" name="Google Shape;818;p30"/>
          <p:cNvSpPr/>
          <p:nvPr/>
        </p:nvSpPr>
        <p:spPr>
          <a:xfrm>
            <a:off x="7955280" y="651052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26 / 34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9" name="Google Shape;819;p30"/>
          <p:cNvSpPr/>
          <p:nvPr/>
        </p:nvSpPr>
        <p:spPr>
          <a:xfrm>
            <a:off x="7223760" y="292608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F337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DF337F"/>
                </a:solidFill>
                <a:latin typeface="Calibri"/>
                <a:ea typeface="Calibri"/>
                <a:cs typeface="Calibri"/>
                <a:sym typeface="Calibri"/>
              </a:rPr>
              <a:t>CCI</a:t>
            </a:r>
            <a:r>
              <a:rPr b="1" i="0" lang="en-US" sz="110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 LYON MÉTROPOLE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0" name="Google Shape;820;p30"/>
          <p:cNvSpPr/>
          <p:nvPr/>
        </p:nvSpPr>
        <p:spPr>
          <a:xfrm>
            <a:off x="7223760" y="457200"/>
            <a:ext cx="1828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700"/>
              <a:buFont typeface="Calibri"/>
              <a:buNone/>
            </a:pPr>
            <a:r>
              <a:rPr b="0" i="1" lang="en-US" sz="7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Saint-Étienne Roanne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1" name="Google Shape;821;p30"/>
          <p:cNvSpPr/>
          <p:nvPr/>
        </p:nvSpPr>
        <p:spPr>
          <a:xfrm>
            <a:off x="457200" y="384048"/>
            <a:ext cx="65836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4079"/>
              </a:buClr>
              <a:buSzPts val="2700"/>
              <a:buFont typeface="Calibri"/>
              <a:buNone/>
            </a:pPr>
            <a:r>
              <a:rPr b="1" i="0" lang="en-US" sz="270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Cartographier les risques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2" name="Google Shape;822;p30"/>
          <p:cNvSpPr/>
          <p:nvPr/>
        </p:nvSpPr>
        <p:spPr>
          <a:xfrm>
            <a:off x="457200" y="987552"/>
            <a:ext cx="81381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Le RDUE est pluriel : ce n'est pas qu'un sujet d'image.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3" name="Google Shape;823;p30"/>
          <p:cNvSpPr/>
          <p:nvPr/>
        </p:nvSpPr>
        <p:spPr>
          <a:xfrm>
            <a:off x="457200" y="1691640"/>
            <a:ext cx="2606040" cy="1691640"/>
          </a:xfrm>
          <a:prstGeom prst="roundRect">
            <a:avLst>
              <a:gd fmla="val 4324" name="adj"/>
            </a:avLst>
          </a:prstGeom>
          <a:solidFill>
            <a:srgbClr val="FFFFFF"/>
          </a:solidFill>
          <a:ln cap="flat" cmpd="sng" w="12700">
            <a:solidFill>
              <a:srgbClr val="E1E9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824" name="Google Shape;824;p30"/>
          <p:cNvSpPr/>
          <p:nvPr/>
        </p:nvSpPr>
        <p:spPr>
          <a:xfrm>
            <a:off x="640080" y="1892808"/>
            <a:ext cx="502920" cy="502920"/>
          </a:xfrm>
          <a:prstGeom prst="ellipse">
            <a:avLst/>
          </a:prstGeom>
          <a:solidFill>
            <a:srgbClr val="004079"/>
          </a:solidFill>
          <a:ln>
            <a:noFill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icons/gavel.png" id="825" name="Google Shape;825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0781" y="2013509"/>
            <a:ext cx="261518" cy="261518"/>
          </a:xfrm>
          <a:prstGeom prst="rect">
            <a:avLst/>
          </a:prstGeom>
          <a:noFill/>
          <a:ln>
            <a:noFill/>
          </a:ln>
        </p:spPr>
      </p:pic>
      <p:sp>
        <p:nvSpPr>
          <p:cNvPr id="826" name="Google Shape;826;p30"/>
          <p:cNvSpPr/>
          <p:nvPr/>
        </p:nvSpPr>
        <p:spPr>
          <a:xfrm>
            <a:off x="1234440" y="1911096"/>
            <a:ext cx="16916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4079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Juridique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7" name="Google Shape;827;p30"/>
          <p:cNvSpPr/>
          <p:nvPr/>
        </p:nvSpPr>
        <p:spPr>
          <a:xfrm>
            <a:off x="640080" y="2496312"/>
            <a:ext cx="22860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733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Diligence insuffisante, rôle mal qualifié, DDR incomplète.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8" name="Google Shape;828;p30"/>
          <p:cNvSpPr/>
          <p:nvPr/>
        </p:nvSpPr>
        <p:spPr>
          <a:xfrm>
            <a:off x="3246120" y="1691640"/>
            <a:ext cx="2606040" cy="1691640"/>
          </a:xfrm>
          <a:prstGeom prst="roundRect">
            <a:avLst>
              <a:gd fmla="val 4324" name="adj"/>
            </a:avLst>
          </a:prstGeom>
          <a:solidFill>
            <a:srgbClr val="FFFFFF"/>
          </a:solidFill>
          <a:ln cap="flat" cmpd="sng" w="12700">
            <a:solidFill>
              <a:srgbClr val="E1E9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829" name="Google Shape;829;p30"/>
          <p:cNvSpPr/>
          <p:nvPr/>
        </p:nvSpPr>
        <p:spPr>
          <a:xfrm>
            <a:off x="3429000" y="1892808"/>
            <a:ext cx="502920" cy="502920"/>
          </a:xfrm>
          <a:prstGeom prst="ellipse">
            <a:avLst/>
          </a:prstGeom>
          <a:solidFill>
            <a:srgbClr val="0092D2"/>
          </a:solidFill>
          <a:ln>
            <a:noFill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icons/truck.png" id="830" name="Google Shape;830;p3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549701" y="2013509"/>
            <a:ext cx="261518" cy="261518"/>
          </a:xfrm>
          <a:prstGeom prst="rect">
            <a:avLst/>
          </a:prstGeom>
          <a:noFill/>
          <a:ln>
            <a:noFill/>
          </a:ln>
        </p:spPr>
      </p:pic>
      <p:sp>
        <p:nvSpPr>
          <p:cNvPr id="831" name="Google Shape;831;p30"/>
          <p:cNvSpPr/>
          <p:nvPr/>
        </p:nvSpPr>
        <p:spPr>
          <a:xfrm>
            <a:off x="4023360" y="1911096"/>
            <a:ext cx="16916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4079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Douanier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2" name="Google Shape;832;p30"/>
          <p:cNvSpPr/>
          <p:nvPr/>
        </p:nvSpPr>
        <p:spPr>
          <a:xfrm>
            <a:off x="3429000" y="2496312"/>
            <a:ext cx="22860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733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Refus de mainlevée, mauvais code, lots bloqués.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3" name="Google Shape;833;p30"/>
          <p:cNvSpPr/>
          <p:nvPr/>
        </p:nvSpPr>
        <p:spPr>
          <a:xfrm>
            <a:off x="6035040" y="1691640"/>
            <a:ext cx="2606040" cy="1691640"/>
          </a:xfrm>
          <a:prstGeom prst="roundRect">
            <a:avLst>
              <a:gd fmla="val 4324" name="adj"/>
            </a:avLst>
          </a:prstGeom>
          <a:solidFill>
            <a:srgbClr val="FFFFFF"/>
          </a:solidFill>
          <a:ln cap="flat" cmpd="sng" w="12700">
            <a:solidFill>
              <a:srgbClr val="E1E9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834" name="Google Shape;834;p30"/>
          <p:cNvSpPr/>
          <p:nvPr/>
        </p:nvSpPr>
        <p:spPr>
          <a:xfrm>
            <a:off x="6217920" y="1892808"/>
            <a:ext cx="502920" cy="502920"/>
          </a:xfrm>
          <a:prstGeom prst="ellipse">
            <a:avLst/>
          </a:prstGeom>
          <a:solidFill>
            <a:srgbClr val="D8232A"/>
          </a:solidFill>
          <a:ln>
            <a:noFill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icons/euro.png" id="835" name="Google Shape;835;p3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338621" y="2013509"/>
            <a:ext cx="261518" cy="261518"/>
          </a:xfrm>
          <a:prstGeom prst="rect">
            <a:avLst/>
          </a:prstGeom>
          <a:noFill/>
          <a:ln>
            <a:noFill/>
          </a:ln>
        </p:spPr>
      </p:pic>
      <p:sp>
        <p:nvSpPr>
          <p:cNvPr id="836" name="Google Shape;836;p30"/>
          <p:cNvSpPr/>
          <p:nvPr/>
        </p:nvSpPr>
        <p:spPr>
          <a:xfrm>
            <a:off x="6812280" y="1911096"/>
            <a:ext cx="16916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4079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Financier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7" name="Google Shape;837;p30"/>
          <p:cNvSpPr/>
          <p:nvPr/>
        </p:nvSpPr>
        <p:spPr>
          <a:xfrm>
            <a:off x="6217920" y="2496312"/>
            <a:ext cx="22860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733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Amende (plafond ≥ 4 % du CA UE), confiscation, exclusion.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8" name="Google Shape;838;p30"/>
          <p:cNvSpPr/>
          <p:nvPr/>
        </p:nvSpPr>
        <p:spPr>
          <a:xfrm>
            <a:off x="1399032" y="3611880"/>
            <a:ext cx="2606040" cy="1691640"/>
          </a:xfrm>
          <a:prstGeom prst="roundRect">
            <a:avLst>
              <a:gd fmla="val 4324" name="adj"/>
            </a:avLst>
          </a:prstGeom>
          <a:solidFill>
            <a:srgbClr val="FFFFFF"/>
          </a:solidFill>
          <a:ln cap="flat" cmpd="sng" w="12700">
            <a:solidFill>
              <a:srgbClr val="E1E9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839" name="Google Shape;839;p30"/>
          <p:cNvSpPr/>
          <p:nvPr/>
        </p:nvSpPr>
        <p:spPr>
          <a:xfrm>
            <a:off x="1581912" y="3813048"/>
            <a:ext cx="502920" cy="502920"/>
          </a:xfrm>
          <a:prstGeom prst="ellipse">
            <a:avLst/>
          </a:prstGeom>
          <a:solidFill>
            <a:srgbClr val="F18700"/>
          </a:solidFill>
          <a:ln>
            <a:noFill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icons/link.png" id="840" name="Google Shape;840;p3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702613" y="3933749"/>
            <a:ext cx="261518" cy="261518"/>
          </a:xfrm>
          <a:prstGeom prst="rect">
            <a:avLst/>
          </a:prstGeom>
          <a:noFill/>
          <a:ln>
            <a:noFill/>
          </a:ln>
        </p:spPr>
      </p:pic>
      <p:sp>
        <p:nvSpPr>
          <p:cNvPr id="841" name="Google Shape;841;p30"/>
          <p:cNvSpPr/>
          <p:nvPr/>
        </p:nvSpPr>
        <p:spPr>
          <a:xfrm>
            <a:off x="2176272" y="3831336"/>
            <a:ext cx="16916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4079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Opérationnel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2" name="Google Shape;842;p30"/>
          <p:cNvSpPr/>
          <p:nvPr/>
        </p:nvSpPr>
        <p:spPr>
          <a:xfrm>
            <a:off x="1581912" y="4416552"/>
            <a:ext cx="22860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733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Fournisseurs sans données, ruptures d'appro.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3" name="Google Shape;843;p30"/>
          <p:cNvSpPr/>
          <p:nvPr/>
        </p:nvSpPr>
        <p:spPr>
          <a:xfrm>
            <a:off x="4553712" y="3611880"/>
            <a:ext cx="2606040" cy="1691640"/>
          </a:xfrm>
          <a:prstGeom prst="roundRect">
            <a:avLst>
              <a:gd fmla="val 4324" name="adj"/>
            </a:avLst>
          </a:prstGeom>
          <a:solidFill>
            <a:srgbClr val="FFFFFF"/>
          </a:solidFill>
          <a:ln cap="flat" cmpd="sng" w="12700">
            <a:solidFill>
              <a:srgbClr val="E1E9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844" name="Google Shape;844;p30"/>
          <p:cNvSpPr/>
          <p:nvPr/>
        </p:nvSpPr>
        <p:spPr>
          <a:xfrm>
            <a:off x="4736592" y="3813048"/>
            <a:ext cx="502920" cy="502920"/>
          </a:xfrm>
          <a:prstGeom prst="ellipse">
            <a:avLst/>
          </a:prstGeom>
          <a:solidFill>
            <a:srgbClr val="623988"/>
          </a:solidFill>
          <a:ln>
            <a:noFill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icons/globe.png" id="845" name="Google Shape;845;p30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4857293" y="3933749"/>
            <a:ext cx="261518" cy="261518"/>
          </a:xfrm>
          <a:prstGeom prst="rect">
            <a:avLst/>
          </a:prstGeom>
          <a:noFill/>
          <a:ln>
            <a:noFill/>
          </a:ln>
        </p:spPr>
      </p:pic>
      <p:sp>
        <p:nvSpPr>
          <p:cNvPr id="846" name="Google Shape;846;p30"/>
          <p:cNvSpPr/>
          <p:nvPr/>
        </p:nvSpPr>
        <p:spPr>
          <a:xfrm>
            <a:off x="5330952" y="3831336"/>
            <a:ext cx="16916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4079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RSE / réputation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7" name="Google Shape;847;p30"/>
          <p:cNvSpPr/>
          <p:nvPr/>
        </p:nvSpPr>
        <p:spPr>
          <a:xfrm>
            <a:off x="4736592" y="4416552"/>
            <a:ext cx="22860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733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Exigences clients &amp; financeurs, exposition médiatique.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52" name="Shape 8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3" name="Google Shape;853;p31"/>
          <p:cNvSpPr/>
          <p:nvPr/>
        </p:nvSpPr>
        <p:spPr>
          <a:xfrm>
            <a:off x="457200" y="6510528"/>
            <a:ext cx="5852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RDUE / EUDR  ·  Webinaire CCI Lyon Métropole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4" name="Google Shape;854;p31"/>
          <p:cNvSpPr/>
          <p:nvPr/>
        </p:nvSpPr>
        <p:spPr>
          <a:xfrm>
            <a:off x="7955280" y="651052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27 / 34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5" name="Google Shape;855;p31"/>
          <p:cNvSpPr/>
          <p:nvPr/>
        </p:nvSpPr>
        <p:spPr>
          <a:xfrm>
            <a:off x="7223760" y="292608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F337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DF337F"/>
                </a:solidFill>
                <a:latin typeface="Calibri"/>
                <a:ea typeface="Calibri"/>
                <a:cs typeface="Calibri"/>
                <a:sym typeface="Calibri"/>
              </a:rPr>
              <a:t>CCI</a:t>
            </a:r>
            <a:r>
              <a:rPr b="1" i="0" lang="en-US" sz="110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 LYON MÉTROPOLE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6" name="Google Shape;856;p31"/>
          <p:cNvSpPr/>
          <p:nvPr/>
        </p:nvSpPr>
        <p:spPr>
          <a:xfrm>
            <a:off x="7223760" y="457200"/>
            <a:ext cx="1828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700"/>
              <a:buFont typeface="Calibri"/>
              <a:buNone/>
            </a:pPr>
            <a:r>
              <a:rPr b="0" i="1" lang="en-US" sz="7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Saint-Étienne Roanne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7" name="Google Shape;857;p31"/>
          <p:cNvSpPr/>
          <p:nvPr/>
        </p:nvSpPr>
        <p:spPr>
          <a:xfrm>
            <a:off x="457200" y="384048"/>
            <a:ext cx="65836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4079"/>
              </a:buClr>
              <a:buSzPts val="2700"/>
              <a:buFont typeface="Calibri"/>
              <a:buNone/>
            </a:pPr>
            <a:r>
              <a:rPr b="1" i="0" lang="en-US" sz="270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Le régime des sanctions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8" name="Google Shape;858;p31"/>
          <p:cNvSpPr/>
          <p:nvPr/>
        </p:nvSpPr>
        <p:spPr>
          <a:xfrm>
            <a:off x="457200" y="987552"/>
            <a:ext cx="81381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Une déclaration en douane engage la responsabilité de l'opérateur (art. 25).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9" name="Google Shape;859;p31"/>
          <p:cNvSpPr/>
          <p:nvPr/>
        </p:nvSpPr>
        <p:spPr>
          <a:xfrm>
            <a:off x="457200" y="1691640"/>
            <a:ext cx="1965960" cy="3108960"/>
          </a:xfrm>
          <a:prstGeom prst="roundRect">
            <a:avLst>
              <a:gd fmla="val 3721" name="adj"/>
            </a:avLst>
          </a:prstGeom>
          <a:solidFill>
            <a:srgbClr val="FFFFFF"/>
          </a:solidFill>
          <a:ln cap="flat" cmpd="sng" w="12700">
            <a:solidFill>
              <a:srgbClr val="E1E9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860" name="Google Shape;860;p31"/>
          <p:cNvSpPr/>
          <p:nvPr/>
        </p:nvSpPr>
        <p:spPr>
          <a:xfrm>
            <a:off x="1005840" y="1965960"/>
            <a:ext cx="822960" cy="822960"/>
          </a:xfrm>
          <a:prstGeom prst="ellipse">
            <a:avLst/>
          </a:prstGeom>
          <a:solidFill>
            <a:srgbClr val="D8232A"/>
          </a:solidFill>
          <a:ln>
            <a:noFill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icons/euro.png" id="861" name="Google Shape;861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03350" y="2163470"/>
            <a:ext cx="427939" cy="427939"/>
          </a:xfrm>
          <a:prstGeom prst="rect">
            <a:avLst/>
          </a:prstGeom>
          <a:noFill/>
          <a:ln>
            <a:noFill/>
          </a:ln>
        </p:spPr>
      </p:pic>
      <p:sp>
        <p:nvSpPr>
          <p:cNvPr id="862" name="Google Shape;862;p31"/>
          <p:cNvSpPr/>
          <p:nvPr/>
        </p:nvSpPr>
        <p:spPr>
          <a:xfrm>
            <a:off x="548640" y="2926080"/>
            <a:ext cx="17830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4079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Financière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3" name="Google Shape;863;p31"/>
          <p:cNvSpPr/>
          <p:nvPr/>
        </p:nvSpPr>
        <p:spPr>
          <a:xfrm>
            <a:off x="594360" y="3429000"/>
            <a:ext cx="169164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2733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Plafond fixé par chaque État membre à au moins 4 % du CA annuel UE.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4" name="Google Shape;864;p31"/>
          <p:cNvSpPr/>
          <p:nvPr/>
        </p:nvSpPr>
        <p:spPr>
          <a:xfrm>
            <a:off x="2560320" y="1691640"/>
            <a:ext cx="1965960" cy="3108960"/>
          </a:xfrm>
          <a:prstGeom prst="roundRect">
            <a:avLst>
              <a:gd fmla="val 3721" name="adj"/>
            </a:avLst>
          </a:prstGeom>
          <a:solidFill>
            <a:srgbClr val="FFFFFF"/>
          </a:solidFill>
          <a:ln cap="flat" cmpd="sng" w="12700">
            <a:solidFill>
              <a:srgbClr val="E1E9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865" name="Google Shape;865;p31"/>
          <p:cNvSpPr/>
          <p:nvPr/>
        </p:nvSpPr>
        <p:spPr>
          <a:xfrm>
            <a:off x="3108960" y="1965960"/>
            <a:ext cx="822960" cy="822960"/>
          </a:xfrm>
          <a:prstGeom prst="ellipse">
            <a:avLst/>
          </a:prstGeom>
          <a:solidFill>
            <a:srgbClr val="F18700"/>
          </a:solidFill>
          <a:ln>
            <a:noFill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icons/truck.png" id="866" name="Google Shape;866;p3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306470" y="2163470"/>
            <a:ext cx="427939" cy="427939"/>
          </a:xfrm>
          <a:prstGeom prst="rect">
            <a:avLst/>
          </a:prstGeom>
          <a:noFill/>
          <a:ln>
            <a:noFill/>
          </a:ln>
        </p:spPr>
      </p:pic>
      <p:sp>
        <p:nvSpPr>
          <p:cNvPr id="867" name="Google Shape;867;p31"/>
          <p:cNvSpPr/>
          <p:nvPr/>
        </p:nvSpPr>
        <p:spPr>
          <a:xfrm>
            <a:off x="2651760" y="2926080"/>
            <a:ext cx="17830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4079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Logistique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8" name="Google Shape;868;p31"/>
          <p:cNvSpPr/>
          <p:nvPr/>
        </p:nvSpPr>
        <p:spPr>
          <a:xfrm>
            <a:off x="2697480" y="3429000"/>
            <a:ext cx="169164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2733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Immobilisation et confiscation des produits concernés.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9" name="Google Shape;869;p31"/>
          <p:cNvSpPr/>
          <p:nvPr/>
        </p:nvSpPr>
        <p:spPr>
          <a:xfrm>
            <a:off x="4663440" y="1691640"/>
            <a:ext cx="1965960" cy="3108960"/>
          </a:xfrm>
          <a:prstGeom prst="roundRect">
            <a:avLst>
              <a:gd fmla="val 3721" name="adj"/>
            </a:avLst>
          </a:prstGeom>
          <a:solidFill>
            <a:srgbClr val="FFFFFF"/>
          </a:solidFill>
          <a:ln cap="flat" cmpd="sng" w="12700">
            <a:solidFill>
              <a:srgbClr val="E1E9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870" name="Google Shape;870;p31"/>
          <p:cNvSpPr/>
          <p:nvPr/>
        </p:nvSpPr>
        <p:spPr>
          <a:xfrm>
            <a:off x="5212080" y="1965960"/>
            <a:ext cx="822960" cy="822960"/>
          </a:xfrm>
          <a:prstGeom prst="ellipse">
            <a:avLst/>
          </a:prstGeom>
          <a:solidFill>
            <a:srgbClr val="623988"/>
          </a:solidFill>
          <a:ln>
            <a:noFill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icons/ban.png" id="871" name="Google Shape;871;p3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09590" y="2163470"/>
            <a:ext cx="427939" cy="427939"/>
          </a:xfrm>
          <a:prstGeom prst="rect">
            <a:avLst/>
          </a:prstGeom>
          <a:noFill/>
          <a:ln>
            <a:noFill/>
          </a:ln>
        </p:spPr>
      </p:pic>
      <p:sp>
        <p:nvSpPr>
          <p:cNvPr id="872" name="Google Shape;872;p31"/>
          <p:cNvSpPr/>
          <p:nvPr/>
        </p:nvSpPr>
        <p:spPr>
          <a:xfrm>
            <a:off x="4754880" y="2926080"/>
            <a:ext cx="17830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4079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Commerciale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3" name="Google Shape;873;p31"/>
          <p:cNvSpPr/>
          <p:nvPr/>
        </p:nvSpPr>
        <p:spPr>
          <a:xfrm>
            <a:off x="4800600" y="3429000"/>
            <a:ext cx="169164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2733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Exclusion temporaire (max. 12 mois) des marchés et financements publics.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4" name="Google Shape;874;p31"/>
          <p:cNvSpPr/>
          <p:nvPr/>
        </p:nvSpPr>
        <p:spPr>
          <a:xfrm>
            <a:off x="6766560" y="1691640"/>
            <a:ext cx="1965960" cy="3108960"/>
          </a:xfrm>
          <a:prstGeom prst="roundRect">
            <a:avLst>
              <a:gd fmla="val 3721" name="adj"/>
            </a:avLst>
          </a:prstGeom>
          <a:solidFill>
            <a:srgbClr val="FFFFFF"/>
          </a:solidFill>
          <a:ln cap="flat" cmpd="sng" w="12700">
            <a:solidFill>
              <a:srgbClr val="E1E9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875" name="Google Shape;875;p31"/>
          <p:cNvSpPr/>
          <p:nvPr/>
        </p:nvSpPr>
        <p:spPr>
          <a:xfrm>
            <a:off x="7315200" y="1965960"/>
            <a:ext cx="822960" cy="822960"/>
          </a:xfrm>
          <a:prstGeom prst="ellipse">
            <a:avLst/>
          </a:prstGeom>
          <a:solidFill>
            <a:srgbClr val="004079"/>
          </a:solidFill>
          <a:ln>
            <a:noFill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icons/gavel.png" id="876" name="Google Shape;876;p3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512710" y="2163470"/>
            <a:ext cx="427939" cy="427939"/>
          </a:xfrm>
          <a:prstGeom prst="rect">
            <a:avLst/>
          </a:prstGeom>
          <a:noFill/>
          <a:ln>
            <a:noFill/>
          </a:ln>
        </p:spPr>
      </p:pic>
      <p:sp>
        <p:nvSpPr>
          <p:cNvPr id="877" name="Google Shape;877;p31"/>
          <p:cNvSpPr/>
          <p:nvPr/>
        </p:nvSpPr>
        <p:spPr>
          <a:xfrm>
            <a:off x="6858000" y="2926080"/>
            <a:ext cx="17830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4079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Pénale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8" name="Google Shape;878;p31"/>
          <p:cNvSpPr/>
          <p:nvPr/>
        </p:nvSpPr>
        <p:spPr>
          <a:xfrm>
            <a:off x="6903720" y="3429000"/>
            <a:ext cx="169164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2733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Poursuites possibles (directive (UE) 2024/1203).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9" name="Google Shape;879;p31"/>
          <p:cNvSpPr/>
          <p:nvPr/>
        </p:nvSpPr>
        <p:spPr>
          <a:xfrm>
            <a:off x="457200" y="5029200"/>
            <a:ext cx="8229600" cy="548640"/>
          </a:xfrm>
          <a:prstGeom prst="roundRect">
            <a:avLst>
              <a:gd fmla="val 13333" name="adj"/>
            </a:avLst>
          </a:prstGeom>
          <a:solidFill>
            <a:srgbClr val="004079"/>
          </a:solidFill>
          <a:ln cap="flat" cmpd="sng" w="12700">
            <a:solidFill>
              <a:srgbClr val="E1E9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880" name="Google Shape;880;p31"/>
          <p:cNvSpPr/>
          <p:nvPr/>
        </p:nvSpPr>
        <p:spPr>
          <a:xfrm>
            <a:off x="457200" y="502920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Taux de contrôle : 1 % (risque faible) · 3 % (standard) · 9 % des opérateurs et des quantités (élevé).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7FA"/>
        </a:solidFill>
      </p:bgPr>
    </p:bg>
    <p:spTree>
      <p:nvGrpSpPr>
        <p:cNvPr id="885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p32"/>
          <p:cNvSpPr/>
          <p:nvPr/>
        </p:nvSpPr>
        <p:spPr>
          <a:xfrm>
            <a:off x="457200" y="6510528"/>
            <a:ext cx="5852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RDUE / EUDR  ·  Webinaire CCI Lyon Métropole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7" name="Google Shape;887;p32"/>
          <p:cNvSpPr/>
          <p:nvPr/>
        </p:nvSpPr>
        <p:spPr>
          <a:xfrm>
            <a:off x="7955280" y="651052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28 / 34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8" name="Google Shape;888;p32"/>
          <p:cNvSpPr/>
          <p:nvPr/>
        </p:nvSpPr>
        <p:spPr>
          <a:xfrm>
            <a:off x="7223760" y="292608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F337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DF337F"/>
                </a:solidFill>
                <a:latin typeface="Calibri"/>
                <a:ea typeface="Calibri"/>
                <a:cs typeface="Calibri"/>
                <a:sym typeface="Calibri"/>
              </a:rPr>
              <a:t>CCI</a:t>
            </a:r>
            <a:r>
              <a:rPr b="1" i="0" lang="en-US" sz="110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 LYON MÉTROPOLE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9" name="Google Shape;889;p32"/>
          <p:cNvSpPr/>
          <p:nvPr/>
        </p:nvSpPr>
        <p:spPr>
          <a:xfrm>
            <a:off x="7223760" y="457200"/>
            <a:ext cx="1828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700"/>
              <a:buFont typeface="Calibri"/>
              <a:buNone/>
            </a:pPr>
            <a:r>
              <a:rPr b="0" i="1" lang="en-US" sz="7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Saint-Étienne Roanne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0" name="Google Shape;890;p32"/>
          <p:cNvSpPr/>
          <p:nvPr/>
        </p:nvSpPr>
        <p:spPr>
          <a:xfrm>
            <a:off x="457200" y="384048"/>
            <a:ext cx="65836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4079"/>
              </a:buClr>
              <a:buSzPts val="2700"/>
              <a:buFont typeface="Calibri"/>
              <a:buNone/>
            </a:pPr>
            <a:r>
              <a:rPr b="1" i="0" lang="en-US" sz="270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Les leviers pour réduire la charge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1" name="Google Shape;891;p32"/>
          <p:cNvSpPr/>
          <p:nvPr/>
        </p:nvSpPr>
        <p:spPr>
          <a:xfrm>
            <a:off x="457200" y="987552"/>
            <a:ext cx="81381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Bien joué, le RDUE se pilote.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2" name="Google Shape;892;p32"/>
          <p:cNvSpPr/>
          <p:nvPr/>
        </p:nvSpPr>
        <p:spPr>
          <a:xfrm>
            <a:off x="457200" y="1737360"/>
            <a:ext cx="2606040" cy="1554480"/>
          </a:xfrm>
          <a:prstGeom prst="roundRect">
            <a:avLst>
              <a:gd fmla="val 4706" name="adj"/>
            </a:avLst>
          </a:prstGeom>
          <a:solidFill>
            <a:srgbClr val="FFFFFF"/>
          </a:solidFill>
          <a:ln cap="flat" cmpd="sng" w="12700">
            <a:solidFill>
              <a:srgbClr val="E1E9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893" name="Google Shape;893;p32"/>
          <p:cNvSpPr/>
          <p:nvPr/>
        </p:nvSpPr>
        <p:spPr>
          <a:xfrm>
            <a:off x="640080" y="1920240"/>
            <a:ext cx="457200" cy="457200"/>
          </a:xfrm>
          <a:prstGeom prst="ellipse">
            <a:avLst/>
          </a:prstGeom>
          <a:solidFill>
            <a:srgbClr val="DF337F"/>
          </a:solidFill>
          <a:ln>
            <a:noFill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icons/recycle.png" id="894" name="Google Shape;894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9808" y="2029968"/>
            <a:ext cx="237744" cy="237744"/>
          </a:xfrm>
          <a:prstGeom prst="rect">
            <a:avLst/>
          </a:prstGeom>
          <a:noFill/>
          <a:ln>
            <a:noFill/>
          </a:ln>
        </p:spPr>
      </p:pic>
      <p:sp>
        <p:nvSpPr>
          <p:cNvPr id="895" name="Google Shape;895;p32"/>
          <p:cNvSpPr/>
          <p:nvPr/>
        </p:nvSpPr>
        <p:spPr>
          <a:xfrm>
            <a:off x="1207008" y="1920240"/>
            <a:ext cx="17373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4079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Statut d'opérateur en aval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6" name="Google Shape;896;p32"/>
          <p:cNvSpPr/>
          <p:nvPr/>
        </p:nvSpPr>
        <p:spPr>
          <a:xfrm>
            <a:off x="640080" y="2514600"/>
            <a:ext cx="22860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733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S'appuyer sur la DDR de l'amont plutôt que reconstituer la traçabilité.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7" name="Google Shape;897;p32"/>
          <p:cNvSpPr/>
          <p:nvPr/>
        </p:nvSpPr>
        <p:spPr>
          <a:xfrm>
            <a:off x="3246120" y="1737360"/>
            <a:ext cx="2606040" cy="1554480"/>
          </a:xfrm>
          <a:prstGeom prst="roundRect">
            <a:avLst>
              <a:gd fmla="val 4706" name="adj"/>
            </a:avLst>
          </a:prstGeom>
          <a:solidFill>
            <a:srgbClr val="FFFFFF"/>
          </a:solidFill>
          <a:ln cap="flat" cmpd="sng" w="12700">
            <a:solidFill>
              <a:srgbClr val="E1E9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898" name="Google Shape;898;p32"/>
          <p:cNvSpPr/>
          <p:nvPr/>
        </p:nvSpPr>
        <p:spPr>
          <a:xfrm>
            <a:off x="3429000" y="1920240"/>
            <a:ext cx="457200" cy="457200"/>
          </a:xfrm>
          <a:prstGeom prst="ellipse">
            <a:avLst/>
          </a:prstGeom>
          <a:solidFill>
            <a:srgbClr val="DF337F"/>
          </a:solidFill>
          <a:ln>
            <a:noFill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icons/seedling.png" id="899" name="Google Shape;899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538728" y="2029968"/>
            <a:ext cx="237744" cy="237744"/>
          </a:xfrm>
          <a:prstGeom prst="rect">
            <a:avLst/>
          </a:prstGeom>
          <a:noFill/>
          <a:ln>
            <a:noFill/>
          </a:ln>
        </p:spPr>
      </p:pic>
      <p:sp>
        <p:nvSpPr>
          <p:cNvPr id="900" name="Google Shape;900;p32"/>
          <p:cNvSpPr/>
          <p:nvPr/>
        </p:nvSpPr>
        <p:spPr>
          <a:xfrm>
            <a:off x="3995928" y="1920240"/>
            <a:ext cx="17373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4079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Sourcing pays à risque faible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1" name="Google Shape;901;p32"/>
          <p:cNvSpPr/>
          <p:nvPr/>
        </p:nvSpPr>
        <p:spPr>
          <a:xfrm>
            <a:off x="3429000" y="2514600"/>
            <a:ext cx="22860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733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Bascule vers la diligence simplifiée (art. 13).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2" name="Google Shape;902;p32"/>
          <p:cNvSpPr/>
          <p:nvPr/>
        </p:nvSpPr>
        <p:spPr>
          <a:xfrm>
            <a:off x="6035040" y="1737360"/>
            <a:ext cx="2606040" cy="1554480"/>
          </a:xfrm>
          <a:prstGeom prst="roundRect">
            <a:avLst>
              <a:gd fmla="val 4706" name="adj"/>
            </a:avLst>
          </a:prstGeom>
          <a:solidFill>
            <a:srgbClr val="FFFFFF"/>
          </a:solidFill>
          <a:ln cap="flat" cmpd="sng" w="12700">
            <a:solidFill>
              <a:srgbClr val="E1E9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903" name="Google Shape;903;p32"/>
          <p:cNvSpPr/>
          <p:nvPr/>
        </p:nvSpPr>
        <p:spPr>
          <a:xfrm>
            <a:off x="6217920" y="1920240"/>
            <a:ext cx="457200" cy="457200"/>
          </a:xfrm>
          <a:prstGeom prst="ellipse">
            <a:avLst/>
          </a:prstGeom>
          <a:solidFill>
            <a:srgbClr val="DF337F"/>
          </a:solidFill>
          <a:ln>
            <a:noFill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icons/handshake.png" id="904" name="Google Shape;904;p3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327648" y="2029968"/>
            <a:ext cx="237744" cy="237744"/>
          </a:xfrm>
          <a:prstGeom prst="rect">
            <a:avLst/>
          </a:prstGeom>
          <a:noFill/>
          <a:ln>
            <a:noFill/>
          </a:ln>
        </p:spPr>
      </p:pic>
      <p:sp>
        <p:nvSpPr>
          <p:cNvPr id="905" name="Google Shape;905;p32"/>
          <p:cNvSpPr/>
          <p:nvPr/>
        </p:nvSpPr>
        <p:spPr>
          <a:xfrm>
            <a:off x="6784848" y="1920240"/>
            <a:ext cx="17373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4079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Mandataire / mutualisation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6" name="Google Shape;906;p32"/>
          <p:cNvSpPr/>
          <p:nvPr/>
        </p:nvSpPr>
        <p:spPr>
          <a:xfrm>
            <a:off x="6217920" y="2514600"/>
            <a:ext cx="22860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733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Déléguer la diligence (art. 6) ou mutualiser en filière.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7" name="Google Shape;907;p32"/>
          <p:cNvSpPr/>
          <p:nvPr/>
        </p:nvSpPr>
        <p:spPr>
          <a:xfrm>
            <a:off x="457200" y="3474720"/>
            <a:ext cx="2606040" cy="1554480"/>
          </a:xfrm>
          <a:prstGeom prst="roundRect">
            <a:avLst>
              <a:gd fmla="val 4706" name="adj"/>
            </a:avLst>
          </a:prstGeom>
          <a:solidFill>
            <a:srgbClr val="FFFFFF"/>
          </a:solidFill>
          <a:ln cap="flat" cmpd="sng" w="12700">
            <a:solidFill>
              <a:srgbClr val="E1E9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908" name="Google Shape;908;p32"/>
          <p:cNvSpPr/>
          <p:nvPr/>
        </p:nvSpPr>
        <p:spPr>
          <a:xfrm>
            <a:off x="640080" y="3657600"/>
            <a:ext cx="457200" cy="457200"/>
          </a:xfrm>
          <a:prstGeom prst="ellipse">
            <a:avLst/>
          </a:prstGeom>
          <a:solidFill>
            <a:srgbClr val="DF337F"/>
          </a:solidFill>
          <a:ln>
            <a:noFill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icons/calendar.png" id="909" name="Google Shape;909;p3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49808" y="3767328"/>
            <a:ext cx="237744" cy="237744"/>
          </a:xfrm>
          <a:prstGeom prst="rect">
            <a:avLst/>
          </a:prstGeom>
          <a:noFill/>
          <a:ln>
            <a:noFill/>
          </a:ln>
        </p:spPr>
      </p:pic>
      <p:sp>
        <p:nvSpPr>
          <p:cNvPr id="910" name="Google Shape;910;p32"/>
          <p:cNvSpPr/>
          <p:nvPr/>
        </p:nvSpPr>
        <p:spPr>
          <a:xfrm>
            <a:off x="1207008" y="3657600"/>
            <a:ext cx="17373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4079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Exploiter le calendrier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1" name="Google Shape;911;p32"/>
          <p:cNvSpPr/>
          <p:nvPr/>
        </p:nvSpPr>
        <p:spPr>
          <a:xfrm>
            <a:off x="640080" y="4251960"/>
            <a:ext cx="22860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733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Délai PME (30/06/2027) ; nouveaux produits (30/12/2027).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2" name="Google Shape;912;p32"/>
          <p:cNvSpPr/>
          <p:nvPr/>
        </p:nvSpPr>
        <p:spPr>
          <a:xfrm>
            <a:off x="3246120" y="3474720"/>
            <a:ext cx="2606040" cy="1554480"/>
          </a:xfrm>
          <a:prstGeom prst="roundRect">
            <a:avLst>
              <a:gd fmla="val 4706" name="adj"/>
            </a:avLst>
          </a:prstGeom>
          <a:solidFill>
            <a:srgbClr val="FFFFFF"/>
          </a:solidFill>
          <a:ln cap="flat" cmpd="sng" w="12700">
            <a:solidFill>
              <a:srgbClr val="E1E9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913" name="Google Shape;913;p32"/>
          <p:cNvSpPr/>
          <p:nvPr/>
        </p:nvSpPr>
        <p:spPr>
          <a:xfrm>
            <a:off x="3429000" y="3657600"/>
            <a:ext cx="457200" cy="457200"/>
          </a:xfrm>
          <a:prstGeom prst="ellipse">
            <a:avLst/>
          </a:prstGeom>
          <a:solidFill>
            <a:srgbClr val="DF337F"/>
          </a:solidFill>
          <a:ln>
            <a:noFill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icons/filesign.png" id="914" name="Google Shape;914;p32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3538728" y="3767328"/>
            <a:ext cx="237744" cy="237744"/>
          </a:xfrm>
          <a:prstGeom prst="rect">
            <a:avLst/>
          </a:prstGeom>
          <a:noFill/>
          <a:ln>
            <a:noFill/>
          </a:ln>
        </p:spPr>
      </p:pic>
      <p:sp>
        <p:nvSpPr>
          <p:cNvPr id="915" name="Google Shape;915;p32"/>
          <p:cNvSpPr/>
          <p:nvPr/>
        </p:nvSpPr>
        <p:spPr>
          <a:xfrm>
            <a:off x="3995928" y="3657600"/>
            <a:ext cx="17373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4079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Déclaration simplifiée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6" name="Google Shape;916;p32"/>
          <p:cNvSpPr/>
          <p:nvPr/>
        </p:nvSpPr>
        <p:spPr>
          <a:xfrm>
            <a:off x="3429000" y="4251960"/>
            <a:ext cx="22860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733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Déclaration unique pour les micro/petits producteurs de pays à risque faible.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7" name="Google Shape;917;p32"/>
          <p:cNvSpPr/>
          <p:nvPr/>
        </p:nvSpPr>
        <p:spPr>
          <a:xfrm>
            <a:off x="6035040" y="3474720"/>
            <a:ext cx="2606040" cy="1554480"/>
          </a:xfrm>
          <a:prstGeom prst="roundRect">
            <a:avLst>
              <a:gd fmla="val 4706" name="adj"/>
            </a:avLst>
          </a:prstGeom>
          <a:solidFill>
            <a:srgbClr val="FFFFFF"/>
          </a:solidFill>
          <a:ln cap="flat" cmpd="sng" w="12700">
            <a:solidFill>
              <a:srgbClr val="E1E9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918" name="Google Shape;918;p32"/>
          <p:cNvSpPr/>
          <p:nvPr/>
        </p:nvSpPr>
        <p:spPr>
          <a:xfrm>
            <a:off x="6217920" y="3657600"/>
            <a:ext cx="457200" cy="457200"/>
          </a:xfrm>
          <a:prstGeom prst="ellipse">
            <a:avLst/>
          </a:prstGeom>
          <a:solidFill>
            <a:srgbClr val="DF337F"/>
          </a:solidFill>
          <a:ln>
            <a:noFill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icons/contract.png" id="919" name="Google Shape;919;p32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327648" y="3767328"/>
            <a:ext cx="237744" cy="237744"/>
          </a:xfrm>
          <a:prstGeom prst="rect">
            <a:avLst/>
          </a:prstGeom>
          <a:noFill/>
          <a:ln>
            <a:noFill/>
          </a:ln>
        </p:spPr>
      </p:pic>
      <p:sp>
        <p:nvSpPr>
          <p:cNvPr id="920" name="Google Shape;920;p32"/>
          <p:cNvSpPr/>
          <p:nvPr/>
        </p:nvSpPr>
        <p:spPr>
          <a:xfrm>
            <a:off x="6784848" y="3657600"/>
            <a:ext cx="17373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4079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Transfert par contrat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1" name="Google Shape;921;p32"/>
          <p:cNvSpPr/>
          <p:nvPr/>
        </p:nvSpPr>
        <p:spPr>
          <a:xfrm>
            <a:off x="6217920" y="4251960"/>
            <a:ext cx="22860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733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Garanties, indemnisation, résiliation portées par les fournisseurs.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67" name="Shape 7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" name="Google Shape;768;p28"/>
          <p:cNvSpPr/>
          <p:nvPr/>
        </p:nvSpPr>
        <p:spPr>
          <a:xfrm>
            <a:off x="457200" y="6510528"/>
            <a:ext cx="5852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RDUE / EUDR  ·  Webinaire CCI Lyon Métropole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9" name="Google Shape;769;p28"/>
          <p:cNvSpPr/>
          <p:nvPr/>
        </p:nvSpPr>
        <p:spPr>
          <a:xfrm>
            <a:off x="7955280" y="651052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29 / 34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0" name="Google Shape;770;p28"/>
          <p:cNvSpPr/>
          <p:nvPr/>
        </p:nvSpPr>
        <p:spPr>
          <a:xfrm>
            <a:off x="7223760" y="292608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F337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DF337F"/>
                </a:solidFill>
                <a:latin typeface="Calibri"/>
                <a:ea typeface="Calibri"/>
                <a:cs typeface="Calibri"/>
                <a:sym typeface="Calibri"/>
              </a:rPr>
              <a:t>CCI</a:t>
            </a:r>
            <a:r>
              <a:rPr b="1" i="0" lang="en-US" sz="110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 LYON MÉTROPOLE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1" name="Google Shape;771;p28"/>
          <p:cNvSpPr/>
          <p:nvPr/>
        </p:nvSpPr>
        <p:spPr>
          <a:xfrm>
            <a:off x="7223760" y="457200"/>
            <a:ext cx="1828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700"/>
              <a:buFont typeface="Calibri"/>
              <a:buNone/>
            </a:pPr>
            <a:r>
              <a:rPr b="0" i="1" lang="en-US" sz="7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Saint-Étienne Roanne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2" name="Google Shape;772;p28"/>
          <p:cNvSpPr/>
          <p:nvPr/>
        </p:nvSpPr>
        <p:spPr>
          <a:xfrm>
            <a:off x="457200" y="384048"/>
            <a:ext cx="65836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4079"/>
              </a:buClr>
              <a:buSzPts val="2700"/>
              <a:buFont typeface="Calibri"/>
              <a:buNone/>
            </a:pPr>
            <a:r>
              <a:rPr b="1" i="0" lang="en-US" sz="270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Deux profils, deux stratégies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3" name="Google Shape;773;p28"/>
          <p:cNvSpPr/>
          <p:nvPr/>
        </p:nvSpPr>
        <p:spPr>
          <a:xfrm>
            <a:off x="457200" y="987552"/>
            <a:ext cx="81381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Des exemples d'entreprises ayant structuré leur SDR (profils génériques).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4" name="Google Shape;774;p28"/>
          <p:cNvSpPr/>
          <p:nvPr/>
        </p:nvSpPr>
        <p:spPr>
          <a:xfrm>
            <a:off x="457200" y="1554480"/>
            <a:ext cx="4023360" cy="4023360"/>
          </a:xfrm>
          <a:prstGeom prst="roundRect">
            <a:avLst>
              <a:gd fmla="val 1818" name="adj"/>
            </a:avLst>
          </a:prstGeom>
          <a:solidFill>
            <a:srgbClr val="FFFFFF"/>
          </a:solidFill>
          <a:ln cap="flat" cmpd="sng" w="12700">
            <a:solidFill>
              <a:srgbClr val="E1E9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775" name="Google Shape;775;p28"/>
          <p:cNvSpPr/>
          <p:nvPr/>
        </p:nvSpPr>
        <p:spPr>
          <a:xfrm>
            <a:off x="457200" y="1554480"/>
            <a:ext cx="4023360" cy="822960"/>
          </a:xfrm>
          <a:prstGeom prst="roundRect">
            <a:avLst>
              <a:gd fmla="val 8889" name="adj"/>
            </a:avLst>
          </a:prstGeom>
          <a:solidFill>
            <a:srgbClr val="F187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776" name="Google Shape;776;p28"/>
          <p:cNvSpPr/>
          <p:nvPr/>
        </p:nvSpPr>
        <p:spPr>
          <a:xfrm>
            <a:off x="621792" y="1691640"/>
            <a:ext cx="548640" cy="548640"/>
          </a:xfrm>
          <a:prstGeom prst="ellipse">
            <a:avLst/>
          </a:prstGeom>
          <a:solidFill>
            <a:srgbClr val="B5670A"/>
          </a:solidFill>
          <a:ln>
            <a:noFill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icons/store.png" id="777" name="Google Shape;777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53466" y="1823314"/>
            <a:ext cx="285293" cy="285293"/>
          </a:xfrm>
          <a:prstGeom prst="rect">
            <a:avLst/>
          </a:prstGeom>
          <a:noFill/>
          <a:ln>
            <a:noFill/>
          </a:ln>
        </p:spPr>
      </p:pic>
      <p:sp>
        <p:nvSpPr>
          <p:cNvPr id="778" name="Google Shape;778;p28"/>
          <p:cNvSpPr/>
          <p:nvPr/>
        </p:nvSpPr>
        <p:spPr>
          <a:xfrm>
            <a:off x="1280160" y="1554480"/>
            <a:ext cx="31089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Le négociant en invendus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E6CF"/>
              </a:buClr>
              <a:buSzPts val="1050"/>
              <a:buFont typeface="Calibri"/>
              <a:buNone/>
            </a:pPr>
            <a:r>
              <a:rPr b="0" i="1" lang="en-US" sz="1050" u="none" cap="none" strike="noStrike">
                <a:solidFill>
                  <a:srgbClr val="FCE6CF"/>
                </a:solidFill>
                <a:latin typeface="Calibri"/>
                <a:ea typeface="Calibri"/>
                <a:cs typeface="Calibri"/>
                <a:sym typeface="Calibri"/>
              </a:rPr>
              <a:t>déstockage · catalogue multi-produits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9" name="Google Shape;779;p28"/>
          <p:cNvSpPr/>
          <p:nvPr/>
        </p:nvSpPr>
        <p:spPr>
          <a:xfrm>
            <a:off x="640080" y="2560320"/>
            <a:ext cx="3657600" cy="2926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18700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18700"/>
                </a:solidFill>
                <a:latin typeface="Calibri"/>
                <a:ea typeface="Calibri"/>
                <a:cs typeface="Calibri"/>
                <a:sym typeface="Calibri"/>
              </a:rPr>
              <a:t>Impact fort et compliqué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Clr>
                <a:srgbClr val="1A2733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Sourcing opportuniste, traçabilité amont quasi impossible à reconstituer.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Clr>
                <a:srgbClr val="004079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Stratégie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Clr>
                <a:srgbClr val="1A2733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Statut d'aval (réutiliser les DDR, C717) · exiger le n° à l'achat · exclusions (Y132/Y133/Y129) · filtrer le sourcing.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0" name="Google Shape;780;p28"/>
          <p:cNvSpPr/>
          <p:nvPr/>
        </p:nvSpPr>
        <p:spPr>
          <a:xfrm>
            <a:off x="4663440" y="1554480"/>
            <a:ext cx="4023360" cy="4023360"/>
          </a:xfrm>
          <a:prstGeom prst="roundRect">
            <a:avLst>
              <a:gd fmla="val 1818" name="adj"/>
            </a:avLst>
          </a:prstGeom>
          <a:solidFill>
            <a:srgbClr val="FFFFFF"/>
          </a:solidFill>
          <a:ln cap="flat" cmpd="sng" w="12700">
            <a:solidFill>
              <a:srgbClr val="E1E9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781" name="Google Shape;781;p28"/>
          <p:cNvSpPr/>
          <p:nvPr/>
        </p:nvSpPr>
        <p:spPr>
          <a:xfrm>
            <a:off x="4663440" y="1554480"/>
            <a:ext cx="4023360" cy="822960"/>
          </a:xfrm>
          <a:prstGeom prst="roundRect">
            <a:avLst>
              <a:gd fmla="val 8889" name="adj"/>
            </a:avLst>
          </a:prstGeom>
          <a:solidFill>
            <a:srgbClr val="00407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782" name="Google Shape;782;p28"/>
          <p:cNvSpPr/>
          <p:nvPr/>
        </p:nvSpPr>
        <p:spPr>
          <a:xfrm>
            <a:off x="4828032" y="1691640"/>
            <a:ext cx="548640" cy="548640"/>
          </a:xfrm>
          <a:prstGeom prst="ellipse">
            <a:avLst/>
          </a:prstGeom>
          <a:solidFill>
            <a:srgbClr val="063A68"/>
          </a:solidFill>
          <a:ln>
            <a:noFill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icons/industry.png" id="783" name="Google Shape;783;p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959706" y="1823314"/>
            <a:ext cx="285293" cy="285293"/>
          </a:xfrm>
          <a:prstGeom prst="rect">
            <a:avLst/>
          </a:prstGeom>
          <a:noFill/>
          <a:ln>
            <a:noFill/>
          </a:ln>
        </p:spPr>
      </p:pic>
      <p:sp>
        <p:nvSpPr>
          <p:cNvPr id="784" name="Google Shape;784;p28"/>
          <p:cNvSpPr/>
          <p:nvPr/>
        </p:nvSpPr>
        <p:spPr>
          <a:xfrm>
            <a:off x="5486400" y="1554480"/>
            <a:ext cx="31089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50"/>
              <a:buFont typeface="Calibri"/>
              <a:buNone/>
            </a:pPr>
            <a:r>
              <a:rPr b="1" i="0" lang="en-US" sz="14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L'industriel à diligence mature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FE0EE"/>
              </a:buClr>
              <a:buSzPts val="1050"/>
              <a:buFont typeface="Calibri"/>
              <a:buNone/>
            </a:pPr>
            <a:r>
              <a:rPr b="0" i="1" lang="en-US" sz="1050" u="none" cap="none" strike="noStrike">
                <a:solidFill>
                  <a:srgbClr val="CFE0EE"/>
                </a:solidFill>
                <a:latin typeface="Calibri"/>
                <a:ea typeface="Calibri"/>
                <a:cs typeface="Calibri"/>
                <a:sym typeface="Calibri"/>
              </a:rPr>
              <a:t>filière caoutchouc · chaîne longue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5" name="Google Shape;785;p28"/>
          <p:cNvSpPr/>
          <p:nvPr/>
        </p:nvSpPr>
        <p:spPr>
          <a:xfrm>
            <a:off x="4846320" y="2560320"/>
            <a:ext cx="3657600" cy="2926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92D2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092D2"/>
                </a:solidFill>
                <a:latin typeface="Calibri"/>
                <a:ea typeface="Calibri"/>
                <a:cs typeface="Calibri"/>
                <a:sym typeface="Calibri"/>
              </a:rPr>
              <a:t>Impact maîtrisable — enjeu d'échelle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Clr>
                <a:srgbClr val="1A2733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Diligence déjà structurée. Point dur : les petits planteurs (géoloc à grande échelle).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Clr>
                <a:srgbClr val="004079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Stratégie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Clr>
                <a:srgbClr val="1A2733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Dossier de preuve opposable · sécuriser la donnée smallholders · valoriser (ESG/CSRD) · cascade contractuelle.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7FA"/>
        </a:solidFill>
      </p:bgPr>
    </p:bg>
    <p:spTree>
      <p:nvGrpSpPr>
        <p:cNvPr id="563" name="Shape 5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4" name="Google Shape;564;p22"/>
          <p:cNvSpPr/>
          <p:nvPr/>
        </p:nvSpPr>
        <p:spPr>
          <a:xfrm>
            <a:off x="457200" y="6510528"/>
            <a:ext cx="5852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RDUE / EUDR  ·  Webinaire CCI Lyon Métropole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5" name="Google Shape;565;p22"/>
          <p:cNvSpPr/>
          <p:nvPr/>
        </p:nvSpPr>
        <p:spPr>
          <a:xfrm>
            <a:off x="7955280" y="651052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30 / 34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6" name="Google Shape;566;p22"/>
          <p:cNvSpPr/>
          <p:nvPr/>
        </p:nvSpPr>
        <p:spPr>
          <a:xfrm>
            <a:off x="7223760" y="292608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F337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DF337F"/>
                </a:solidFill>
                <a:latin typeface="Calibri"/>
                <a:ea typeface="Calibri"/>
                <a:cs typeface="Calibri"/>
                <a:sym typeface="Calibri"/>
              </a:rPr>
              <a:t>CCI</a:t>
            </a:r>
            <a:r>
              <a:rPr b="1" i="0" lang="en-US" sz="110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 LYON MÉTROPOLE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7" name="Google Shape;567;p22"/>
          <p:cNvSpPr/>
          <p:nvPr/>
        </p:nvSpPr>
        <p:spPr>
          <a:xfrm>
            <a:off x="7223760" y="457200"/>
            <a:ext cx="1828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700"/>
              <a:buFont typeface="Calibri"/>
              <a:buNone/>
            </a:pPr>
            <a:r>
              <a:rPr b="0" i="1" lang="en-US" sz="7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Saint-Étienne Roanne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8" name="Google Shape;568;p22"/>
          <p:cNvSpPr/>
          <p:nvPr/>
        </p:nvSpPr>
        <p:spPr>
          <a:xfrm>
            <a:off x="457200" y="384048"/>
            <a:ext cx="65836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4079"/>
              </a:buClr>
              <a:buSzPts val="2700"/>
              <a:buFont typeface="Calibri"/>
              <a:buNone/>
            </a:pPr>
            <a:r>
              <a:rPr b="1" i="0" lang="en-US" sz="270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L'escalier de conformité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9" name="Google Shape;569;p22"/>
          <p:cNvSpPr/>
          <p:nvPr/>
        </p:nvSpPr>
        <p:spPr>
          <a:xfrm>
            <a:off x="457200" y="987552"/>
            <a:ext cx="81381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Quatre marches pour être prêt.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0" name="Google Shape;570;p22"/>
          <p:cNvSpPr/>
          <p:nvPr/>
        </p:nvSpPr>
        <p:spPr>
          <a:xfrm>
            <a:off x="457200" y="1691640"/>
            <a:ext cx="1965960" cy="3566160"/>
          </a:xfrm>
          <a:prstGeom prst="roundRect">
            <a:avLst>
              <a:gd fmla="val 3721" name="adj"/>
            </a:avLst>
          </a:prstGeom>
          <a:solidFill>
            <a:srgbClr val="FFFFFF"/>
          </a:solidFill>
          <a:ln cap="flat" cmpd="sng" w="12700">
            <a:solidFill>
              <a:srgbClr val="E1E9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571" name="Google Shape;571;p22"/>
          <p:cNvSpPr/>
          <p:nvPr/>
        </p:nvSpPr>
        <p:spPr>
          <a:xfrm>
            <a:off x="777240" y="4937760"/>
            <a:ext cx="256032" cy="137160"/>
          </a:xfrm>
          <a:prstGeom prst="rect">
            <a:avLst/>
          </a:prstGeom>
          <a:solidFill>
            <a:srgbClr val="00407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572" name="Google Shape;572;p22"/>
          <p:cNvSpPr/>
          <p:nvPr/>
        </p:nvSpPr>
        <p:spPr>
          <a:xfrm>
            <a:off x="1115568" y="4828032"/>
            <a:ext cx="256032" cy="246888"/>
          </a:xfrm>
          <a:prstGeom prst="rect">
            <a:avLst/>
          </a:prstGeom>
          <a:solidFill>
            <a:srgbClr val="D8E2E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573" name="Google Shape;573;p22"/>
          <p:cNvSpPr/>
          <p:nvPr/>
        </p:nvSpPr>
        <p:spPr>
          <a:xfrm>
            <a:off x="1453896" y="4718304"/>
            <a:ext cx="256032" cy="356616"/>
          </a:xfrm>
          <a:prstGeom prst="rect">
            <a:avLst/>
          </a:prstGeom>
          <a:solidFill>
            <a:srgbClr val="D8E2E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574" name="Google Shape;574;p22"/>
          <p:cNvSpPr/>
          <p:nvPr/>
        </p:nvSpPr>
        <p:spPr>
          <a:xfrm>
            <a:off x="1792224" y="4608576"/>
            <a:ext cx="256032" cy="466344"/>
          </a:xfrm>
          <a:prstGeom prst="rect">
            <a:avLst/>
          </a:prstGeom>
          <a:solidFill>
            <a:srgbClr val="D8E2E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575" name="Google Shape;575;p22"/>
          <p:cNvSpPr/>
          <p:nvPr/>
        </p:nvSpPr>
        <p:spPr>
          <a:xfrm>
            <a:off x="1170432" y="1892808"/>
            <a:ext cx="548640" cy="548640"/>
          </a:xfrm>
          <a:prstGeom prst="roundRect">
            <a:avLst>
              <a:gd fmla="val 50000" name="adj"/>
            </a:avLst>
          </a:prstGeom>
          <a:solidFill>
            <a:srgbClr val="00407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576" name="Google Shape;576;p22"/>
          <p:cNvSpPr/>
          <p:nvPr/>
        </p:nvSpPr>
        <p:spPr>
          <a:xfrm>
            <a:off x="1170432" y="1892808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7" name="Google Shape;577;p22"/>
          <p:cNvSpPr/>
          <p:nvPr/>
        </p:nvSpPr>
        <p:spPr>
          <a:xfrm>
            <a:off x="1115568" y="2560320"/>
            <a:ext cx="658368" cy="658368"/>
          </a:xfrm>
          <a:prstGeom prst="ellipse">
            <a:avLst/>
          </a:prstGeom>
          <a:solidFill>
            <a:srgbClr val="004079"/>
          </a:solidFill>
          <a:ln>
            <a:noFill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icons/compass.png" id="578" name="Google Shape;578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73576" y="2718328"/>
            <a:ext cx="342351" cy="342351"/>
          </a:xfrm>
          <a:prstGeom prst="rect">
            <a:avLst/>
          </a:prstGeom>
          <a:noFill/>
          <a:ln>
            <a:noFill/>
          </a:ln>
        </p:spPr>
      </p:pic>
      <p:sp>
        <p:nvSpPr>
          <p:cNvPr id="579" name="Google Shape;579;p22"/>
          <p:cNvSpPr/>
          <p:nvPr/>
        </p:nvSpPr>
        <p:spPr>
          <a:xfrm>
            <a:off x="548640" y="3291840"/>
            <a:ext cx="17830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4079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Cartographier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0" name="Google Shape;580;p22"/>
          <p:cNvSpPr/>
          <p:nvPr/>
        </p:nvSpPr>
        <p:spPr>
          <a:xfrm>
            <a:off x="594360" y="3703320"/>
            <a:ext cx="169164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2733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Audit de vos flux : quels produits, quels codes, quels pays ?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1" name="Google Shape;581;p22"/>
          <p:cNvSpPr/>
          <p:nvPr/>
        </p:nvSpPr>
        <p:spPr>
          <a:xfrm>
            <a:off x="2359152" y="2788920"/>
            <a:ext cx="256032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›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2" name="Google Shape;582;p22"/>
          <p:cNvSpPr/>
          <p:nvPr/>
        </p:nvSpPr>
        <p:spPr>
          <a:xfrm>
            <a:off x="2578608" y="1691640"/>
            <a:ext cx="1965960" cy="3566160"/>
          </a:xfrm>
          <a:prstGeom prst="roundRect">
            <a:avLst>
              <a:gd fmla="val 3721" name="adj"/>
            </a:avLst>
          </a:prstGeom>
          <a:solidFill>
            <a:srgbClr val="FFFFFF"/>
          </a:solidFill>
          <a:ln cap="flat" cmpd="sng" w="12700">
            <a:solidFill>
              <a:srgbClr val="E1E9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583" name="Google Shape;583;p22"/>
          <p:cNvSpPr/>
          <p:nvPr/>
        </p:nvSpPr>
        <p:spPr>
          <a:xfrm>
            <a:off x="2898648" y="4937760"/>
            <a:ext cx="256032" cy="137160"/>
          </a:xfrm>
          <a:prstGeom prst="rect">
            <a:avLst/>
          </a:prstGeom>
          <a:solidFill>
            <a:srgbClr val="0092D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584" name="Google Shape;584;p22"/>
          <p:cNvSpPr/>
          <p:nvPr/>
        </p:nvSpPr>
        <p:spPr>
          <a:xfrm>
            <a:off x="3236976" y="4828032"/>
            <a:ext cx="256032" cy="246888"/>
          </a:xfrm>
          <a:prstGeom prst="rect">
            <a:avLst/>
          </a:prstGeom>
          <a:solidFill>
            <a:srgbClr val="0092D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585" name="Google Shape;585;p22"/>
          <p:cNvSpPr/>
          <p:nvPr/>
        </p:nvSpPr>
        <p:spPr>
          <a:xfrm>
            <a:off x="3575304" y="4718304"/>
            <a:ext cx="256032" cy="356616"/>
          </a:xfrm>
          <a:prstGeom prst="rect">
            <a:avLst/>
          </a:prstGeom>
          <a:solidFill>
            <a:srgbClr val="D8E2E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586" name="Google Shape;586;p22"/>
          <p:cNvSpPr/>
          <p:nvPr/>
        </p:nvSpPr>
        <p:spPr>
          <a:xfrm>
            <a:off x="3913632" y="4608576"/>
            <a:ext cx="256032" cy="466344"/>
          </a:xfrm>
          <a:prstGeom prst="rect">
            <a:avLst/>
          </a:prstGeom>
          <a:solidFill>
            <a:srgbClr val="D8E2E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587" name="Google Shape;587;p22"/>
          <p:cNvSpPr/>
          <p:nvPr/>
        </p:nvSpPr>
        <p:spPr>
          <a:xfrm>
            <a:off x="3291840" y="1892808"/>
            <a:ext cx="548640" cy="548640"/>
          </a:xfrm>
          <a:prstGeom prst="roundRect">
            <a:avLst>
              <a:gd fmla="val 50000" name="adj"/>
            </a:avLst>
          </a:prstGeom>
          <a:solidFill>
            <a:srgbClr val="0092D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588" name="Google Shape;588;p22"/>
          <p:cNvSpPr/>
          <p:nvPr/>
        </p:nvSpPr>
        <p:spPr>
          <a:xfrm>
            <a:off x="3291840" y="1892808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9" name="Google Shape;589;p22"/>
          <p:cNvSpPr/>
          <p:nvPr/>
        </p:nvSpPr>
        <p:spPr>
          <a:xfrm>
            <a:off x="3236976" y="2560320"/>
            <a:ext cx="658368" cy="658368"/>
          </a:xfrm>
          <a:prstGeom prst="ellipse">
            <a:avLst/>
          </a:prstGeom>
          <a:solidFill>
            <a:srgbClr val="0092D2"/>
          </a:solidFill>
          <a:ln>
            <a:noFill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icons/sitemap.png" id="590" name="Google Shape;590;p2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394984" y="2718328"/>
            <a:ext cx="342351" cy="342351"/>
          </a:xfrm>
          <a:prstGeom prst="rect">
            <a:avLst/>
          </a:prstGeom>
          <a:noFill/>
          <a:ln>
            <a:noFill/>
          </a:ln>
        </p:spPr>
      </p:pic>
      <p:sp>
        <p:nvSpPr>
          <p:cNvPr id="591" name="Google Shape;591;p22"/>
          <p:cNvSpPr/>
          <p:nvPr/>
        </p:nvSpPr>
        <p:spPr>
          <a:xfrm>
            <a:off x="2670048" y="3291840"/>
            <a:ext cx="17830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4079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Structurer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2" name="Google Shape;592;p22"/>
          <p:cNvSpPr/>
          <p:nvPr/>
        </p:nvSpPr>
        <p:spPr>
          <a:xfrm>
            <a:off x="2715768" y="3703320"/>
            <a:ext cx="169164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2733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Bâtir le système (SDR) : procédures, référent, gouvernance.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3" name="Google Shape;593;p22"/>
          <p:cNvSpPr/>
          <p:nvPr/>
        </p:nvSpPr>
        <p:spPr>
          <a:xfrm>
            <a:off x="4480560" y="2788920"/>
            <a:ext cx="256032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›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4" name="Google Shape;594;p22"/>
          <p:cNvSpPr/>
          <p:nvPr/>
        </p:nvSpPr>
        <p:spPr>
          <a:xfrm>
            <a:off x="4700016" y="1691640"/>
            <a:ext cx="1965960" cy="3566160"/>
          </a:xfrm>
          <a:prstGeom prst="roundRect">
            <a:avLst>
              <a:gd fmla="val 3721" name="adj"/>
            </a:avLst>
          </a:prstGeom>
          <a:solidFill>
            <a:srgbClr val="FFFFFF"/>
          </a:solidFill>
          <a:ln cap="flat" cmpd="sng" w="12700">
            <a:solidFill>
              <a:srgbClr val="E1E9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595" name="Google Shape;595;p22"/>
          <p:cNvSpPr/>
          <p:nvPr/>
        </p:nvSpPr>
        <p:spPr>
          <a:xfrm>
            <a:off x="5020056" y="4937760"/>
            <a:ext cx="256032" cy="137160"/>
          </a:xfrm>
          <a:prstGeom prst="rect">
            <a:avLst/>
          </a:prstGeom>
          <a:solidFill>
            <a:srgbClr val="00A49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596" name="Google Shape;596;p22"/>
          <p:cNvSpPr/>
          <p:nvPr/>
        </p:nvSpPr>
        <p:spPr>
          <a:xfrm>
            <a:off x="5358384" y="4828032"/>
            <a:ext cx="256032" cy="246888"/>
          </a:xfrm>
          <a:prstGeom prst="rect">
            <a:avLst/>
          </a:prstGeom>
          <a:solidFill>
            <a:srgbClr val="00A49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597" name="Google Shape;597;p22"/>
          <p:cNvSpPr/>
          <p:nvPr/>
        </p:nvSpPr>
        <p:spPr>
          <a:xfrm>
            <a:off x="5696712" y="4718304"/>
            <a:ext cx="256032" cy="356616"/>
          </a:xfrm>
          <a:prstGeom prst="rect">
            <a:avLst/>
          </a:prstGeom>
          <a:solidFill>
            <a:srgbClr val="00A49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598" name="Google Shape;598;p22"/>
          <p:cNvSpPr/>
          <p:nvPr/>
        </p:nvSpPr>
        <p:spPr>
          <a:xfrm>
            <a:off x="6035040" y="4608576"/>
            <a:ext cx="256032" cy="466344"/>
          </a:xfrm>
          <a:prstGeom prst="rect">
            <a:avLst/>
          </a:prstGeom>
          <a:solidFill>
            <a:srgbClr val="D8E2E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599" name="Google Shape;599;p22"/>
          <p:cNvSpPr/>
          <p:nvPr/>
        </p:nvSpPr>
        <p:spPr>
          <a:xfrm>
            <a:off x="5413248" y="1892808"/>
            <a:ext cx="548640" cy="548640"/>
          </a:xfrm>
          <a:prstGeom prst="roundRect">
            <a:avLst>
              <a:gd fmla="val 50000" name="adj"/>
            </a:avLst>
          </a:prstGeom>
          <a:solidFill>
            <a:srgbClr val="00A49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600" name="Google Shape;600;p22"/>
          <p:cNvSpPr/>
          <p:nvPr/>
        </p:nvSpPr>
        <p:spPr>
          <a:xfrm>
            <a:off x="5413248" y="1892808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1" name="Google Shape;601;p22"/>
          <p:cNvSpPr/>
          <p:nvPr/>
        </p:nvSpPr>
        <p:spPr>
          <a:xfrm>
            <a:off x="5358384" y="2560320"/>
            <a:ext cx="658368" cy="658368"/>
          </a:xfrm>
          <a:prstGeom prst="ellipse">
            <a:avLst/>
          </a:prstGeom>
          <a:solidFill>
            <a:srgbClr val="00A49F"/>
          </a:solidFill>
          <a:ln>
            <a:noFill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icons/clipboardcheck.png" id="602" name="Google Shape;602;p2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516392" y="2718328"/>
            <a:ext cx="342351" cy="342351"/>
          </a:xfrm>
          <a:prstGeom prst="rect">
            <a:avLst/>
          </a:prstGeom>
          <a:noFill/>
          <a:ln>
            <a:noFill/>
          </a:ln>
        </p:spPr>
      </p:pic>
      <p:sp>
        <p:nvSpPr>
          <p:cNvPr id="603" name="Google Shape;603;p22"/>
          <p:cNvSpPr/>
          <p:nvPr/>
        </p:nvSpPr>
        <p:spPr>
          <a:xfrm>
            <a:off x="4791456" y="3291840"/>
            <a:ext cx="17830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4079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Documenter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4" name="Google Shape;604;p22"/>
          <p:cNvSpPr/>
          <p:nvPr/>
        </p:nvSpPr>
        <p:spPr>
          <a:xfrm>
            <a:off x="4837176" y="3703320"/>
            <a:ext cx="169164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2733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La traçabilité : géolocalisation, preuves, archivage 5 ans.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5" name="Google Shape;605;p22"/>
          <p:cNvSpPr/>
          <p:nvPr/>
        </p:nvSpPr>
        <p:spPr>
          <a:xfrm>
            <a:off x="6601968" y="2788920"/>
            <a:ext cx="256032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›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6" name="Google Shape;606;p22"/>
          <p:cNvSpPr/>
          <p:nvPr/>
        </p:nvSpPr>
        <p:spPr>
          <a:xfrm>
            <a:off x="6821424" y="1691640"/>
            <a:ext cx="1965960" cy="3566160"/>
          </a:xfrm>
          <a:prstGeom prst="roundRect">
            <a:avLst>
              <a:gd fmla="val 3721" name="adj"/>
            </a:avLst>
          </a:prstGeom>
          <a:solidFill>
            <a:srgbClr val="FFFFFF"/>
          </a:solidFill>
          <a:ln cap="flat" cmpd="sng" w="12700">
            <a:solidFill>
              <a:srgbClr val="E1E9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607" name="Google Shape;607;p22"/>
          <p:cNvSpPr/>
          <p:nvPr/>
        </p:nvSpPr>
        <p:spPr>
          <a:xfrm>
            <a:off x="7141464" y="4937760"/>
            <a:ext cx="256032" cy="137160"/>
          </a:xfrm>
          <a:prstGeom prst="rect">
            <a:avLst/>
          </a:prstGeom>
          <a:solidFill>
            <a:srgbClr val="F187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608" name="Google Shape;608;p22"/>
          <p:cNvSpPr/>
          <p:nvPr/>
        </p:nvSpPr>
        <p:spPr>
          <a:xfrm>
            <a:off x="7479792" y="4828032"/>
            <a:ext cx="256032" cy="246888"/>
          </a:xfrm>
          <a:prstGeom prst="rect">
            <a:avLst/>
          </a:prstGeom>
          <a:solidFill>
            <a:srgbClr val="F187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609" name="Google Shape;609;p22"/>
          <p:cNvSpPr/>
          <p:nvPr/>
        </p:nvSpPr>
        <p:spPr>
          <a:xfrm>
            <a:off x="7818120" y="4718304"/>
            <a:ext cx="256032" cy="356616"/>
          </a:xfrm>
          <a:prstGeom prst="rect">
            <a:avLst/>
          </a:prstGeom>
          <a:solidFill>
            <a:srgbClr val="F187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610" name="Google Shape;610;p22"/>
          <p:cNvSpPr/>
          <p:nvPr/>
        </p:nvSpPr>
        <p:spPr>
          <a:xfrm>
            <a:off x="8156448" y="4608576"/>
            <a:ext cx="256032" cy="466344"/>
          </a:xfrm>
          <a:prstGeom prst="rect">
            <a:avLst/>
          </a:prstGeom>
          <a:solidFill>
            <a:srgbClr val="F187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611" name="Google Shape;611;p22"/>
          <p:cNvSpPr/>
          <p:nvPr/>
        </p:nvSpPr>
        <p:spPr>
          <a:xfrm>
            <a:off x="7534656" y="1892808"/>
            <a:ext cx="548640" cy="548640"/>
          </a:xfrm>
          <a:prstGeom prst="roundRect">
            <a:avLst>
              <a:gd fmla="val 50000" name="adj"/>
            </a:avLst>
          </a:prstGeom>
          <a:solidFill>
            <a:srgbClr val="F187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612" name="Google Shape;612;p22"/>
          <p:cNvSpPr/>
          <p:nvPr/>
        </p:nvSpPr>
        <p:spPr>
          <a:xfrm>
            <a:off x="7534656" y="1892808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3" name="Google Shape;613;p22"/>
          <p:cNvSpPr/>
          <p:nvPr/>
        </p:nvSpPr>
        <p:spPr>
          <a:xfrm>
            <a:off x="7479792" y="2560320"/>
            <a:ext cx="658368" cy="658368"/>
          </a:xfrm>
          <a:prstGeom prst="ellipse">
            <a:avLst/>
          </a:prstGeom>
          <a:solidFill>
            <a:srgbClr val="F18700"/>
          </a:solidFill>
          <a:ln>
            <a:noFill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icons/key.png" id="614" name="Google Shape;614;p2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637800" y="2718328"/>
            <a:ext cx="342351" cy="342351"/>
          </a:xfrm>
          <a:prstGeom prst="rect">
            <a:avLst/>
          </a:prstGeom>
          <a:noFill/>
          <a:ln>
            <a:noFill/>
          </a:ln>
        </p:spPr>
      </p:pic>
      <p:sp>
        <p:nvSpPr>
          <p:cNvPr id="615" name="Google Shape;615;p22"/>
          <p:cNvSpPr/>
          <p:nvPr/>
        </p:nvSpPr>
        <p:spPr>
          <a:xfrm>
            <a:off x="6912864" y="3291840"/>
            <a:ext cx="17830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4079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Connecter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6" name="Google Shape;616;p22"/>
          <p:cNvSpPr/>
          <p:nvPr/>
        </p:nvSpPr>
        <p:spPr>
          <a:xfrm>
            <a:off x="6958584" y="3703320"/>
            <a:ext cx="169164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2733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Les accès : compte EU Login, TRACES-NT, codes douaniers.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26" name="Shape 9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Google Shape;927;p33"/>
          <p:cNvSpPr/>
          <p:nvPr/>
        </p:nvSpPr>
        <p:spPr>
          <a:xfrm>
            <a:off x="457200" y="6510528"/>
            <a:ext cx="5852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RDUE / EUDR  ·  Webinaire CCI Lyon Métropole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8" name="Google Shape;928;p33"/>
          <p:cNvSpPr/>
          <p:nvPr/>
        </p:nvSpPr>
        <p:spPr>
          <a:xfrm>
            <a:off x="7955280" y="651052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31 / 34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9" name="Google Shape;929;p33"/>
          <p:cNvSpPr/>
          <p:nvPr/>
        </p:nvSpPr>
        <p:spPr>
          <a:xfrm>
            <a:off x="7223760" y="292608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F337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DF337F"/>
                </a:solidFill>
                <a:latin typeface="Calibri"/>
                <a:ea typeface="Calibri"/>
                <a:cs typeface="Calibri"/>
                <a:sym typeface="Calibri"/>
              </a:rPr>
              <a:t>CCI</a:t>
            </a:r>
            <a:r>
              <a:rPr b="1" i="0" lang="en-US" sz="110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 LYON MÉTROPOLE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0" name="Google Shape;930;p33"/>
          <p:cNvSpPr/>
          <p:nvPr/>
        </p:nvSpPr>
        <p:spPr>
          <a:xfrm>
            <a:off x="7223760" y="457200"/>
            <a:ext cx="1828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700"/>
              <a:buFont typeface="Calibri"/>
              <a:buNone/>
            </a:pPr>
            <a:r>
              <a:rPr b="0" i="1" lang="en-US" sz="7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Saint-Étienne Roanne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1" name="Google Shape;931;p33"/>
          <p:cNvSpPr/>
          <p:nvPr/>
        </p:nvSpPr>
        <p:spPr>
          <a:xfrm>
            <a:off x="457200" y="384048"/>
            <a:ext cx="65836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4079"/>
              </a:buClr>
              <a:buSzPts val="2700"/>
              <a:buFont typeface="Calibri"/>
              <a:buNone/>
            </a:pPr>
            <a:r>
              <a:rPr b="1" i="0" lang="en-US" sz="270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Les conseils de l'experte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2" name="Google Shape;932;p33"/>
          <p:cNvSpPr/>
          <p:nvPr/>
        </p:nvSpPr>
        <p:spPr>
          <a:xfrm>
            <a:off x="457200" y="987552"/>
            <a:ext cx="81381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Anticiper, archiver, se faire accompagner.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3" name="Google Shape;933;p33"/>
          <p:cNvSpPr/>
          <p:nvPr/>
        </p:nvSpPr>
        <p:spPr>
          <a:xfrm>
            <a:off x="457200" y="1554480"/>
            <a:ext cx="2606040" cy="1645920"/>
          </a:xfrm>
          <a:prstGeom prst="roundRect">
            <a:avLst>
              <a:gd fmla="val 4444" name="adj"/>
            </a:avLst>
          </a:prstGeom>
          <a:solidFill>
            <a:srgbClr val="FFFFFF"/>
          </a:solidFill>
          <a:ln cap="flat" cmpd="sng" w="12700">
            <a:solidFill>
              <a:srgbClr val="E1E9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934" name="Google Shape;934;p33"/>
          <p:cNvSpPr/>
          <p:nvPr/>
        </p:nvSpPr>
        <p:spPr>
          <a:xfrm>
            <a:off x="640080" y="1755648"/>
            <a:ext cx="548640" cy="548640"/>
          </a:xfrm>
          <a:prstGeom prst="ellipse">
            <a:avLst/>
          </a:prstGeom>
          <a:solidFill>
            <a:srgbClr val="DF337F"/>
          </a:solidFill>
          <a:ln>
            <a:noFill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icons/rocket.png" id="935" name="Google Shape;935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1754" y="1887322"/>
            <a:ext cx="285293" cy="285293"/>
          </a:xfrm>
          <a:prstGeom prst="rect">
            <a:avLst/>
          </a:prstGeom>
          <a:noFill/>
          <a:ln>
            <a:noFill/>
          </a:ln>
        </p:spPr>
      </p:pic>
      <p:sp>
        <p:nvSpPr>
          <p:cNvPr id="936" name="Google Shape;936;p33"/>
          <p:cNvSpPr/>
          <p:nvPr/>
        </p:nvSpPr>
        <p:spPr>
          <a:xfrm>
            <a:off x="1325880" y="1755648"/>
            <a:ext cx="16002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4079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Anticiper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7" name="Google Shape;937;p33"/>
          <p:cNvSpPr/>
          <p:nvPr/>
        </p:nvSpPr>
        <p:spPr>
          <a:xfrm>
            <a:off x="640080" y="2578608"/>
            <a:ext cx="22860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733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Tester la déclaration en ligne dès l'ouverture des accès sur TRACES-NT.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8" name="Google Shape;938;p33"/>
          <p:cNvSpPr/>
          <p:nvPr/>
        </p:nvSpPr>
        <p:spPr>
          <a:xfrm>
            <a:off x="3246120" y="1554480"/>
            <a:ext cx="2606040" cy="1645920"/>
          </a:xfrm>
          <a:prstGeom prst="roundRect">
            <a:avLst>
              <a:gd fmla="val 4444" name="adj"/>
            </a:avLst>
          </a:prstGeom>
          <a:solidFill>
            <a:srgbClr val="FFFFFF"/>
          </a:solidFill>
          <a:ln cap="flat" cmpd="sng" w="12700">
            <a:solidFill>
              <a:srgbClr val="E1E9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939" name="Google Shape;939;p33"/>
          <p:cNvSpPr/>
          <p:nvPr/>
        </p:nvSpPr>
        <p:spPr>
          <a:xfrm>
            <a:off x="3429000" y="1755648"/>
            <a:ext cx="548640" cy="548640"/>
          </a:xfrm>
          <a:prstGeom prst="ellipse">
            <a:avLst/>
          </a:prstGeom>
          <a:solidFill>
            <a:srgbClr val="004079"/>
          </a:solidFill>
          <a:ln>
            <a:noFill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icons/archive.png" id="940" name="Google Shape;940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560674" y="1887322"/>
            <a:ext cx="285293" cy="285293"/>
          </a:xfrm>
          <a:prstGeom prst="rect">
            <a:avLst/>
          </a:prstGeom>
          <a:noFill/>
          <a:ln>
            <a:noFill/>
          </a:ln>
        </p:spPr>
      </p:pic>
      <p:sp>
        <p:nvSpPr>
          <p:cNvPr id="941" name="Google Shape;941;p33"/>
          <p:cNvSpPr/>
          <p:nvPr/>
        </p:nvSpPr>
        <p:spPr>
          <a:xfrm>
            <a:off x="4114800" y="1755648"/>
            <a:ext cx="16002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4079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Archiver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2" name="Google Shape;942;p33"/>
          <p:cNvSpPr/>
          <p:nvPr/>
        </p:nvSpPr>
        <p:spPr>
          <a:xfrm>
            <a:off x="3429000" y="2578608"/>
            <a:ext cx="22860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733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Conserver registres et preuves de diligence pendant 5 ans.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3" name="Google Shape;943;p33"/>
          <p:cNvSpPr/>
          <p:nvPr/>
        </p:nvSpPr>
        <p:spPr>
          <a:xfrm>
            <a:off x="6035040" y="1554480"/>
            <a:ext cx="2606040" cy="1645920"/>
          </a:xfrm>
          <a:prstGeom prst="roundRect">
            <a:avLst>
              <a:gd fmla="val 4444" name="adj"/>
            </a:avLst>
          </a:prstGeom>
          <a:solidFill>
            <a:srgbClr val="FFFFFF"/>
          </a:solidFill>
          <a:ln cap="flat" cmpd="sng" w="12700">
            <a:solidFill>
              <a:srgbClr val="E1E9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944" name="Google Shape;944;p33"/>
          <p:cNvSpPr/>
          <p:nvPr/>
        </p:nvSpPr>
        <p:spPr>
          <a:xfrm>
            <a:off x="6217920" y="1755648"/>
            <a:ext cx="548640" cy="548640"/>
          </a:xfrm>
          <a:prstGeom prst="ellipse">
            <a:avLst/>
          </a:prstGeom>
          <a:solidFill>
            <a:srgbClr val="0092D2"/>
          </a:solidFill>
          <a:ln>
            <a:noFill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icons/compass.png" id="945" name="Google Shape;945;p3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349594" y="1887322"/>
            <a:ext cx="285293" cy="285293"/>
          </a:xfrm>
          <a:prstGeom prst="rect">
            <a:avLst/>
          </a:prstGeom>
          <a:noFill/>
          <a:ln>
            <a:noFill/>
          </a:ln>
        </p:spPr>
      </p:pic>
      <p:sp>
        <p:nvSpPr>
          <p:cNvPr id="946" name="Google Shape;946;p33"/>
          <p:cNvSpPr/>
          <p:nvPr/>
        </p:nvSpPr>
        <p:spPr>
          <a:xfrm>
            <a:off x="6903720" y="1755648"/>
            <a:ext cx="16002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4079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Auditer vos nomenclatures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7" name="Google Shape;947;p33"/>
          <p:cNvSpPr/>
          <p:nvPr/>
        </p:nvSpPr>
        <p:spPr>
          <a:xfrm>
            <a:off x="6217920" y="2578608"/>
            <a:ext cx="22860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733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Vérifier si vos produits figurent à l'annexe I.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8" name="Google Shape;948;p33"/>
          <p:cNvSpPr/>
          <p:nvPr/>
        </p:nvSpPr>
        <p:spPr>
          <a:xfrm>
            <a:off x="457200" y="3383280"/>
            <a:ext cx="2606040" cy="1645920"/>
          </a:xfrm>
          <a:prstGeom prst="roundRect">
            <a:avLst>
              <a:gd fmla="val 4444" name="adj"/>
            </a:avLst>
          </a:prstGeom>
          <a:solidFill>
            <a:srgbClr val="FFFFFF"/>
          </a:solidFill>
          <a:ln cap="flat" cmpd="sng" w="12700">
            <a:solidFill>
              <a:srgbClr val="E1E9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949" name="Google Shape;949;p33"/>
          <p:cNvSpPr/>
          <p:nvPr/>
        </p:nvSpPr>
        <p:spPr>
          <a:xfrm>
            <a:off x="640080" y="3584448"/>
            <a:ext cx="548640" cy="548640"/>
          </a:xfrm>
          <a:prstGeom prst="ellipse">
            <a:avLst/>
          </a:prstGeom>
          <a:solidFill>
            <a:srgbClr val="00A49F"/>
          </a:solidFill>
          <a:ln>
            <a:noFill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icons/key.png" id="950" name="Google Shape;950;p3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1754" y="3716122"/>
            <a:ext cx="285293" cy="285293"/>
          </a:xfrm>
          <a:prstGeom prst="rect">
            <a:avLst/>
          </a:prstGeom>
          <a:noFill/>
          <a:ln>
            <a:noFill/>
          </a:ln>
        </p:spPr>
      </p:pic>
      <p:sp>
        <p:nvSpPr>
          <p:cNvPr id="951" name="Google Shape;951;p33"/>
          <p:cNvSpPr/>
          <p:nvPr/>
        </p:nvSpPr>
        <p:spPr>
          <a:xfrm>
            <a:off x="1325880" y="3584448"/>
            <a:ext cx="16002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4079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Préparer EU Login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2" name="Google Shape;952;p33"/>
          <p:cNvSpPr/>
          <p:nvPr/>
        </p:nvSpPr>
        <p:spPr>
          <a:xfrm>
            <a:off x="640080" y="4407408"/>
            <a:ext cx="22860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733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Créer votre compte dès maintenant pour accéder au système.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3" name="Google Shape;953;p33"/>
          <p:cNvSpPr/>
          <p:nvPr/>
        </p:nvSpPr>
        <p:spPr>
          <a:xfrm>
            <a:off x="3246120" y="3383280"/>
            <a:ext cx="2606040" cy="1645920"/>
          </a:xfrm>
          <a:prstGeom prst="roundRect">
            <a:avLst>
              <a:gd fmla="val 4444" name="adj"/>
            </a:avLst>
          </a:prstGeom>
          <a:solidFill>
            <a:srgbClr val="FFFFFF"/>
          </a:solidFill>
          <a:ln cap="flat" cmpd="sng" w="12700">
            <a:solidFill>
              <a:srgbClr val="E1E9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954" name="Google Shape;954;p33"/>
          <p:cNvSpPr/>
          <p:nvPr/>
        </p:nvSpPr>
        <p:spPr>
          <a:xfrm>
            <a:off x="3429000" y="3584448"/>
            <a:ext cx="548640" cy="548640"/>
          </a:xfrm>
          <a:prstGeom prst="ellipse">
            <a:avLst/>
          </a:prstGeom>
          <a:solidFill>
            <a:srgbClr val="F18700"/>
          </a:solidFill>
          <a:ln>
            <a:noFill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icons/seedling.png" id="955" name="Google Shape;955;p33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3560674" y="3716122"/>
            <a:ext cx="285293" cy="285293"/>
          </a:xfrm>
          <a:prstGeom prst="rect">
            <a:avLst/>
          </a:prstGeom>
          <a:noFill/>
          <a:ln>
            <a:noFill/>
          </a:ln>
        </p:spPr>
      </p:pic>
      <p:sp>
        <p:nvSpPr>
          <p:cNvPr id="956" name="Google Shape;956;p33"/>
          <p:cNvSpPr/>
          <p:nvPr/>
        </p:nvSpPr>
        <p:spPr>
          <a:xfrm>
            <a:off x="4114800" y="3584448"/>
            <a:ext cx="16002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4079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Sécuriser la géolocalisation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7" name="Google Shape;957;p33"/>
          <p:cNvSpPr/>
          <p:nvPr/>
        </p:nvSpPr>
        <p:spPr>
          <a:xfrm>
            <a:off x="3429000" y="4407408"/>
            <a:ext cx="22860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733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Obtenir les données de vos fournisseurs étrangers — indispensables à la DDR.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8" name="Google Shape;958;p33"/>
          <p:cNvSpPr/>
          <p:nvPr/>
        </p:nvSpPr>
        <p:spPr>
          <a:xfrm>
            <a:off x="6035040" y="3383280"/>
            <a:ext cx="2606040" cy="1645920"/>
          </a:xfrm>
          <a:prstGeom prst="roundRect">
            <a:avLst>
              <a:gd fmla="val 4444" name="adj"/>
            </a:avLst>
          </a:prstGeom>
          <a:solidFill>
            <a:srgbClr val="FFFFFF"/>
          </a:solidFill>
          <a:ln cap="flat" cmpd="sng" w="12700">
            <a:solidFill>
              <a:srgbClr val="E1E9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959" name="Google Shape;959;p33"/>
          <p:cNvSpPr/>
          <p:nvPr/>
        </p:nvSpPr>
        <p:spPr>
          <a:xfrm>
            <a:off x="6217920" y="3584448"/>
            <a:ext cx="548640" cy="548640"/>
          </a:xfrm>
          <a:prstGeom prst="ellipse">
            <a:avLst/>
          </a:prstGeom>
          <a:solidFill>
            <a:srgbClr val="623988"/>
          </a:solidFill>
          <a:ln>
            <a:noFill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icons/userTie.png" id="960" name="Google Shape;960;p33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349594" y="3716122"/>
            <a:ext cx="285293" cy="285293"/>
          </a:xfrm>
          <a:prstGeom prst="rect">
            <a:avLst/>
          </a:prstGeom>
          <a:noFill/>
          <a:ln>
            <a:noFill/>
          </a:ln>
        </p:spPr>
      </p:pic>
      <p:sp>
        <p:nvSpPr>
          <p:cNvPr id="961" name="Google Shape;961;p33"/>
          <p:cNvSpPr/>
          <p:nvPr/>
        </p:nvSpPr>
        <p:spPr>
          <a:xfrm>
            <a:off x="6903720" y="3584448"/>
            <a:ext cx="16002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4079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Se faire accompagner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2" name="Google Shape;962;p33"/>
          <p:cNvSpPr/>
          <p:nvPr/>
        </p:nvSpPr>
        <p:spPr>
          <a:xfrm>
            <a:off x="6217920" y="4407408"/>
            <a:ext cx="22860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733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Ministères MTE/MASA (fond) · Pôle d'action économique des douanes (formalités).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7FA"/>
        </a:solidFill>
      </p:bgPr>
    </p:bg>
    <p:spTree>
      <p:nvGrpSpPr>
        <p:cNvPr id="967" name="Shape 9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8" name="Google Shape;968;p34"/>
          <p:cNvSpPr/>
          <p:nvPr/>
        </p:nvSpPr>
        <p:spPr>
          <a:xfrm>
            <a:off x="457200" y="6510528"/>
            <a:ext cx="5852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RDUE / EUDR  ·  Webinaire CCI Lyon Métropole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9" name="Google Shape;969;p34"/>
          <p:cNvSpPr/>
          <p:nvPr/>
        </p:nvSpPr>
        <p:spPr>
          <a:xfrm>
            <a:off x="7955280" y="651052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32 / 34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0" name="Google Shape;970;p34"/>
          <p:cNvSpPr/>
          <p:nvPr/>
        </p:nvSpPr>
        <p:spPr>
          <a:xfrm>
            <a:off x="7223760" y="292608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F337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DF337F"/>
                </a:solidFill>
                <a:latin typeface="Calibri"/>
                <a:ea typeface="Calibri"/>
                <a:cs typeface="Calibri"/>
                <a:sym typeface="Calibri"/>
              </a:rPr>
              <a:t>CCI</a:t>
            </a:r>
            <a:r>
              <a:rPr b="1" i="0" lang="en-US" sz="110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 LYON MÉTROPOLE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1" name="Google Shape;971;p34"/>
          <p:cNvSpPr/>
          <p:nvPr/>
        </p:nvSpPr>
        <p:spPr>
          <a:xfrm>
            <a:off x="7223760" y="457200"/>
            <a:ext cx="1828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700"/>
              <a:buFont typeface="Calibri"/>
              <a:buNone/>
            </a:pPr>
            <a:r>
              <a:rPr b="0" i="1" lang="en-US" sz="7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Saint-Étienne Roanne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2" name="Google Shape;972;p34"/>
          <p:cNvSpPr/>
          <p:nvPr/>
        </p:nvSpPr>
        <p:spPr>
          <a:xfrm>
            <a:off x="457200" y="384048"/>
            <a:ext cx="65836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4079"/>
              </a:buClr>
              <a:buSzPts val="2700"/>
              <a:buFont typeface="Calibri"/>
              <a:buNone/>
            </a:pPr>
            <a:r>
              <a:rPr b="1" i="0" lang="en-US" sz="270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La conformité en 3 niveaux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3" name="Google Shape;973;p34"/>
          <p:cNvSpPr/>
          <p:nvPr/>
        </p:nvSpPr>
        <p:spPr>
          <a:xfrm>
            <a:off x="457200" y="987552"/>
            <a:ext cx="81381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La synthèse : du produit à la déclaration parfaite.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4" name="Google Shape;974;p34"/>
          <p:cNvSpPr/>
          <p:nvPr/>
        </p:nvSpPr>
        <p:spPr>
          <a:xfrm>
            <a:off x="1188720" y="1737360"/>
            <a:ext cx="6766560" cy="1051560"/>
          </a:xfrm>
          <a:prstGeom prst="roundRect">
            <a:avLst>
              <a:gd fmla="val 6957" name="adj"/>
            </a:avLst>
          </a:prstGeom>
          <a:solidFill>
            <a:srgbClr val="00A49F"/>
          </a:solidFill>
          <a:ln cap="flat" cmpd="sng" w="12700">
            <a:solidFill>
              <a:srgbClr val="E1E9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975" name="Google Shape;975;p34"/>
          <p:cNvSpPr/>
          <p:nvPr/>
        </p:nvSpPr>
        <p:spPr>
          <a:xfrm>
            <a:off x="1188720" y="1865376"/>
            <a:ext cx="67665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Le produit conforme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6" name="Google Shape;976;p34"/>
          <p:cNvSpPr/>
          <p:nvPr/>
        </p:nvSpPr>
        <p:spPr>
          <a:xfrm>
            <a:off x="1463040" y="2212848"/>
            <a:ext cx="6217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0F6FA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F0F6FA"/>
                </a:solidFill>
                <a:latin typeface="Calibri"/>
                <a:ea typeface="Calibri"/>
                <a:cs typeface="Calibri"/>
                <a:sym typeface="Calibri"/>
              </a:rPr>
              <a:t>Risque nul ou négligeable (zéro déforestation + légalité).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7" name="Google Shape;977;p34"/>
          <p:cNvSpPr/>
          <p:nvPr/>
        </p:nvSpPr>
        <p:spPr>
          <a:xfrm>
            <a:off x="2103120" y="2971800"/>
            <a:ext cx="4937760" cy="1051560"/>
          </a:xfrm>
          <a:prstGeom prst="roundRect">
            <a:avLst>
              <a:gd fmla="val 6957" name="adj"/>
            </a:avLst>
          </a:prstGeom>
          <a:solidFill>
            <a:srgbClr val="0092D2"/>
          </a:solidFill>
          <a:ln cap="flat" cmpd="sng" w="12700">
            <a:solidFill>
              <a:srgbClr val="E1E9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978" name="Google Shape;978;p34"/>
          <p:cNvSpPr/>
          <p:nvPr/>
        </p:nvSpPr>
        <p:spPr>
          <a:xfrm>
            <a:off x="2103120" y="3099816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Le système documenté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9" name="Google Shape;979;p34"/>
          <p:cNvSpPr/>
          <p:nvPr/>
        </p:nvSpPr>
        <p:spPr>
          <a:xfrm>
            <a:off x="2377440" y="3447288"/>
            <a:ext cx="43891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0F6FA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F0F6FA"/>
                </a:solidFill>
                <a:latin typeface="Calibri"/>
                <a:ea typeface="Calibri"/>
                <a:cs typeface="Calibri"/>
                <a:sym typeface="Calibri"/>
              </a:rPr>
              <a:t>Preuves géolocalisées, DDR enregistrée dans TRACES-NT.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0" name="Google Shape;980;p34"/>
          <p:cNvSpPr/>
          <p:nvPr/>
        </p:nvSpPr>
        <p:spPr>
          <a:xfrm>
            <a:off x="3017520" y="4206240"/>
            <a:ext cx="3108960" cy="1051560"/>
          </a:xfrm>
          <a:prstGeom prst="roundRect">
            <a:avLst>
              <a:gd fmla="val 6957" name="adj"/>
            </a:avLst>
          </a:prstGeom>
          <a:solidFill>
            <a:srgbClr val="004079"/>
          </a:solidFill>
          <a:ln cap="flat" cmpd="sng" w="12700">
            <a:solidFill>
              <a:srgbClr val="E1E9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981" name="Google Shape;981;p34"/>
          <p:cNvSpPr/>
          <p:nvPr/>
        </p:nvSpPr>
        <p:spPr>
          <a:xfrm>
            <a:off x="3017520" y="4334256"/>
            <a:ext cx="31089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La déclaration parfaite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2" name="Google Shape;982;p34"/>
          <p:cNvSpPr/>
          <p:nvPr/>
        </p:nvSpPr>
        <p:spPr>
          <a:xfrm>
            <a:off x="3291840" y="4681728"/>
            <a:ext cx="25603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0F6FA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F0F6FA"/>
                </a:solidFill>
                <a:latin typeface="Calibri"/>
                <a:ea typeface="Calibri"/>
                <a:cs typeface="Calibri"/>
                <a:sym typeface="Calibri"/>
              </a:rPr>
              <a:t>Liaison sans faille entre le n° de DDR et la déclaration douanière (codes C716 / C717).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3" name="Google Shape;983;p34"/>
          <p:cNvSpPr/>
          <p:nvPr/>
        </p:nvSpPr>
        <p:spPr>
          <a:xfrm>
            <a:off x="457200" y="562356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F337F"/>
              </a:buClr>
              <a:buSzPts val="1200"/>
              <a:buFont typeface="Calibri"/>
              <a:buNone/>
            </a:pPr>
            <a:r>
              <a:rPr b="1" i="1" lang="en-US" sz="1200" u="none" cap="none" strike="noStrike">
                <a:solidFill>
                  <a:srgbClr val="DF337F"/>
                </a:solidFill>
                <a:latin typeface="Calibri"/>
                <a:ea typeface="Calibri"/>
                <a:cs typeface="Calibri"/>
                <a:sym typeface="Calibri"/>
              </a:rPr>
              <a:t>Chaque niveau s'appuie sur le précédent — la base, c'est la donnée amont.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79" name="Google Shape;379;p15"/>
          <p:cNvSpPr/>
          <p:nvPr/>
        </p:nvSpPr>
        <p:spPr>
          <a:xfrm>
            <a:off x="457200" y="6510528"/>
            <a:ext cx="5852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RDUE / EUDR  ·  Webinaire CCI Lyon Métropole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15"/>
          <p:cNvSpPr/>
          <p:nvPr/>
        </p:nvSpPr>
        <p:spPr>
          <a:xfrm>
            <a:off x="7955280" y="651052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33 / 34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" name="Google Shape;381;p15"/>
          <p:cNvSpPr/>
          <p:nvPr/>
        </p:nvSpPr>
        <p:spPr>
          <a:xfrm>
            <a:off x="7223760" y="292608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F337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DF337F"/>
                </a:solidFill>
                <a:latin typeface="Calibri"/>
                <a:ea typeface="Calibri"/>
                <a:cs typeface="Calibri"/>
                <a:sym typeface="Calibri"/>
              </a:rPr>
              <a:t>CCI</a:t>
            </a:r>
            <a:r>
              <a:rPr b="1" i="0" lang="en-US" sz="110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 LYON MÉTROPOLE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" name="Google Shape;382;p15"/>
          <p:cNvSpPr/>
          <p:nvPr/>
        </p:nvSpPr>
        <p:spPr>
          <a:xfrm>
            <a:off x="7223760" y="457200"/>
            <a:ext cx="1828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700"/>
              <a:buFont typeface="Calibri"/>
              <a:buNone/>
            </a:pPr>
            <a:r>
              <a:rPr b="0" i="1" lang="en-US" sz="7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Saint-Étienne Roanne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" name="Google Shape;383;p15"/>
          <p:cNvSpPr/>
          <p:nvPr/>
        </p:nvSpPr>
        <p:spPr>
          <a:xfrm>
            <a:off x="457200" y="384048"/>
            <a:ext cx="65836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4079"/>
              </a:buClr>
              <a:buSzPts val="2700"/>
              <a:buFont typeface="Calibri"/>
              <a:buNone/>
            </a:pPr>
            <a:r>
              <a:rPr b="1" i="0" lang="en-US" sz="270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Vérifions ensemble : 3 questions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15"/>
          <p:cNvSpPr/>
          <p:nvPr/>
        </p:nvSpPr>
        <p:spPr>
          <a:xfrm>
            <a:off x="457200" y="987552"/>
            <a:ext cx="81381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Sondage dans le chat, puis correction.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5" name="Google Shape;385;p15"/>
          <p:cNvSpPr/>
          <p:nvPr/>
        </p:nvSpPr>
        <p:spPr>
          <a:xfrm>
            <a:off x="457200" y="1600200"/>
            <a:ext cx="8229600" cy="1280160"/>
          </a:xfrm>
          <a:prstGeom prst="roundRect">
            <a:avLst>
              <a:gd fmla="val 5714" name="adj"/>
            </a:avLst>
          </a:prstGeom>
          <a:solidFill>
            <a:srgbClr val="FFFFFF"/>
          </a:solidFill>
          <a:ln cap="flat" cmpd="sng" w="12700">
            <a:solidFill>
              <a:srgbClr val="E1E9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86" name="Google Shape;386;p15"/>
          <p:cNvSpPr/>
          <p:nvPr/>
        </p:nvSpPr>
        <p:spPr>
          <a:xfrm>
            <a:off x="685800" y="1920240"/>
            <a:ext cx="640080" cy="640080"/>
          </a:xfrm>
          <a:prstGeom prst="ellipse">
            <a:avLst/>
          </a:prstGeom>
          <a:solidFill>
            <a:srgbClr val="004079"/>
          </a:solidFill>
          <a:ln>
            <a:noFill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icons/download.png" id="387" name="Google Shape;387;p1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419" y="2073859"/>
            <a:ext cx="332842" cy="332842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15"/>
          <p:cNvSpPr/>
          <p:nvPr/>
        </p:nvSpPr>
        <p:spPr>
          <a:xfrm>
            <a:off x="658368" y="2532888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Q1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" name="Google Shape;389;p15"/>
          <p:cNvSpPr/>
          <p:nvPr/>
        </p:nvSpPr>
        <p:spPr>
          <a:xfrm>
            <a:off x="1554480" y="1783080"/>
            <a:ext cx="512064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733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Un produit de l'annexe I fabriqué le 12 mars 2023 : quel code portez-vous en douane ?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" name="Google Shape;390;p15"/>
          <p:cNvSpPr/>
          <p:nvPr/>
        </p:nvSpPr>
        <p:spPr>
          <a:xfrm>
            <a:off x="6858000" y="1984248"/>
            <a:ext cx="1691640" cy="512064"/>
          </a:xfrm>
          <a:prstGeom prst="roundRect">
            <a:avLst>
              <a:gd fmla="val 14286" name="adj"/>
            </a:avLst>
          </a:prstGeom>
          <a:solidFill>
            <a:srgbClr val="00407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91" name="Google Shape;391;p15"/>
          <p:cNvSpPr/>
          <p:nvPr/>
        </p:nvSpPr>
        <p:spPr>
          <a:xfrm>
            <a:off x="6858000" y="1984248"/>
            <a:ext cx="169164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Y132 — fabriqué avant le 29/06/2023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15"/>
          <p:cNvSpPr/>
          <p:nvPr/>
        </p:nvSpPr>
        <p:spPr>
          <a:xfrm>
            <a:off x="457200" y="3017520"/>
            <a:ext cx="8229600" cy="1280160"/>
          </a:xfrm>
          <a:prstGeom prst="roundRect">
            <a:avLst>
              <a:gd fmla="val 5714" name="adj"/>
            </a:avLst>
          </a:prstGeom>
          <a:solidFill>
            <a:srgbClr val="FFFFFF"/>
          </a:solidFill>
          <a:ln cap="flat" cmpd="sng" w="12700">
            <a:solidFill>
              <a:srgbClr val="E1E9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93" name="Google Shape;393;p15"/>
          <p:cNvSpPr/>
          <p:nvPr/>
        </p:nvSpPr>
        <p:spPr>
          <a:xfrm>
            <a:off x="685800" y="3337560"/>
            <a:ext cx="640080" cy="640080"/>
          </a:xfrm>
          <a:prstGeom prst="ellipse">
            <a:avLst/>
          </a:prstGeom>
          <a:solidFill>
            <a:srgbClr val="0092D2"/>
          </a:solidFill>
          <a:ln>
            <a:noFill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icons/industry.png" id="394" name="Google Shape;394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9419" y="3491179"/>
            <a:ext cx="332842" cy="332842"/>
          </a:xfrm>
          <a:prstGeom prst="rect">
            <a:avLst/>
          </a:prstGeom>
          <a:noFill/>
          <a:ln>
            <a:noFill/>
          </a:ln>
        </p:spPr>
      </p:pic>
      <p:sp>
        <p:nvSpPr>
          <p:cNvPr id="395" name="Google Shape;395;p15"/>
          <p:cNvSpPr/>
          <p:nvPr/>
        </p:nvSpPr>
        <p:spPr>
          <a:xfrm>
            <a:off x="658368" y="3950208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Q2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" name="Google Shape;396;p15"/>
          <p:cNvSpPr/>
          <p:nvPr/>
        </p:nvSpPr>
        <p:spPr>
          <a:xfrm>
            <a:off x="1554480" y="3200400"/>
            <a:ext cx="512064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733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Le RDUE s'applique-t-il aux exportations depuis l'Union européenne ?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p15"/>
          <p:cNvSpPr/>
          <p:nvPr/>
        </p:nvSpPr>
        <p:spPr>
          <a:xfrm>
            <a:off x="6858000" y="3401568"/>
            <a:ext cx="1691640" cy="512064"/>
          </a:xfrm>
          <a:prstGeom prst="roundRect">
            <a:avLst>
              <a:gd fmla="val 14286" name="adj"/>
            </a:avLst>
          </a:prstGeom>
          <a:solidFill>
            <a:srgbClr val="0092D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98" name="Google Shape;398;p15"/>
          <p:cNvSpPr/>
          <p:nvPr/>
        </p:nvSpPr>
        <p:spPr>
          <a:xfrm>
            <a:off x="6858000" y="3401568"/>
            <a:ext cx="169164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Oui — mise sur le marché ET exportation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" name="Google Shape;399;p15"/>
          <p:cNvSpPr/>
          <p:nvPr/>
        </p:nvSpPr>
        <p:spPr>
          <a:xfrm>
            <a:off x="457200" y="4434840"/>
            <a:ext cx="8229600" cy="1280160"/>
          </a:xfrm>
          <a:prstGeom prst="roundRect">
            <a:avLst>
              <a:gd fmla="val 5714" name="adj"/>
            </a:avLst>
          </a:prstGeom>
          <a:solidFill>
            <a:srgbClr val="FFFFFF"/>
          </a:solidFill>
          <a:ln cap="flat" cmpd="sng" w="12700">
            <a:solidFill>
              <a:srgbClr val="E1E9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00" name="Google Shape;400;p15"/>
          <p:cNvSpPr/>
          <p:nvPr/>
        </p:nvSpPr>
        <p:spPr>
          <a:xfrm>
            <a:off x="685800" y="4754880"/>
            <a:ext cx="640080" cy="640080"/>
          </a:xfrm>
          <a:prstGeom prst="ellipse">
            <a:avLst/>
          </a:prstGeom>
          <a:solidFill>
            <a:srgbClr val="00A49F"/>
          </a:solidFill>
          <a:ln>
            <a:noFill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icons/store.png" id="401" name="Google Shape;401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39419" y="4908499"/>
            <a:ext cx="332842" cy="332842"/>
          </a:xfrm>
          <a:prstGeom prst="rect">
            <a:avLst/>
          </a:prstGeom>
          <a:noFill/>
          <a:ln>
            <a:noFill/>
          </a:ln>
        </p:spPr>
      </p:pic>
      <p:sp>
        <p:nvSpPr>
          <p:cNvPr id="402" name="Google Shape;402;p15"/>
          <p:cNvSpPr/>
          <p:nvPr/>
        </p:nvSpPr>
        <p:spPr>
          <a:xfrm>
            <a:off x="658368" y="5367528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Q3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" name="Google Shape;403;p15"/>
          <p:cNvSpPr/>
          <p:nvPr/>
        </p:nvSpPr>
        <p:spPr>
          <a:xfrm>
            <a:off x="1554480" y="4617720"/>
            <a:ext cx="512064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733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« Zéro déforestation » : aucune déforestation de la parcelle après quelle date ?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" name="Google Shape;404;p15"/>
          <p:cNvSpPr/>
          <p:nvPr/>
        </p:nvSpPr>
        <p:spPr>
          <a:xfrm>
            <a:off x="6858000" y="4818888"/>
            <a:ext cx="1691640" cy="512064"/>
          </a:xfrm>
          <a:prstGeom prst="roundRect">
            <a:avLst>
              <a:gd fmla="val 14286" name="adj"/>
            </a:avLst>
          </a:prstGeom>
          <a:solidFill>
            <a:srgbClr val="00A49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05" name="Google Shape;405;p15"/>
          <p:cNvSpPr/>
          <p:nvPr/>
        </p:nvSpPr>
        <p:spPr>
          <a:xfrm>
            <a:off x="6858000" y="4818888"/>
            <a:ext cx="169164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Le 31 décembre 2020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4079"/>
        </a:solidFill>
      </p:bgPr>
    </p:bg>
    <p:spTree>
      <p:nvGrpSpPr>
        <p:cNvPr id="988" name="Shape 9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9" name="Google Shape;989;p35"/>
          <p:cNvSpPr/>
          <p:nvPr/>
        </p:nvSpPr>
        <p:spPr>
          <a:xfrm>
            <a:off x="7223760" y="292608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F337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DF337F"/>
                </a:solidFill>
                <a:latin typeface="Calibri"/>
                <a:ea typeface="Calibri"/>
                <a:cs typeface="Calibri"/>
                <a:sym typeface="Calibri"/>
              </a:rPr>
              <a:t>CCI</a:t>
            </a:r>
            <a:r>
              <a:rPr b="1" i="0" lang="en-US" sz="1100" u="none" cap="none" strike="noStrike">
                <a:solidFill>
                  <a:srgbClr val="004079"/>
                </a:solidFill>
                <a:latin typeface="Calibri"/>
                <a:ea typeface="Calibri"/>
                <a:cs typeface="Calibri"/>
                <a:sym typeface="Calibri"/>
              </a:rPr>
              <a:t> LYON MÉTROPOLE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0" name="Google Shape;990;p35"/>
          <p:cNvSpPr/>
          <p:nvPr/>
        </p:nvSpPr>
        <p:spPr>
          <a:xfrm>
            <a:off x="7223760" y="457200"/>
            <a:ext cx="1828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6"/>
              </a:buClr>
              <a:buSzPts val="700"/>
              <a:buFont typeface="Calibri"/>
              <a:buNone/>
            </a:pPr>
            <a:r>
              <a:rPr b="0" i="1" lang="en-US" sz="700" u="none" cap="none" strike="noStrike">
                <a:solidFill>
                  <a:srgbClr val="5F6B76"/>
                </a:solidFill>
                <a:latin typeface="Calibri"/>
                <a:ea typeface="Calibri"/>
                <a:cs typeface="Calibri"/>
                <a:sym typeface="Calibri"/>
              </a:rPr>
              <a:t>Saint-Étienne Roanne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1" name="Google Shape;991;p35"/>
          <p:cNvSpPr/>
          <p:nvPr/>
        </p:nvSpPr>
        <p:spPr>
          <a:xfrm>
            <a:off x="6035040" y="-1371600"/>
            <a:ext cx="4572000" cy="4572000"/>
          </a:xfrm>
          <a:prstGeom prst="ellipse">
            <a:avLst/>
          </a:prstGeom>
          <a:solidFill>
            <a:srgbClr val="00305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992" name="Google Shape;992;p35"/>
          <p:cNvSpPr/>
          <p:nvPr/>
        </p:nvSpPr>
        <p:spPr>
          <a:xfrm>
            <a:off x="548640" y="731520"/>
            <a:ext cx="80467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Merci — place à vos questions.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3" name="Google Shape;993;p35"/>
          <p:cNvSpPr/>
          <p:nvPr/>
        </p:nvSpPr>
        <p:spPr>
          <a:xfrm>
            <a:off x="548640" y="1600200"/>
            <a:ext cx="80467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FE0EE"/>
              </a:buClr>
              <a:buSzPts val="1300"/>
              <a:buFont typeface="Calibri"/>
              <a:buNone/>
            </a:pPr>
            <a:r>
              <a:rPr b="0" i="1" lang="en-US" sz="1300" u="none" cap="none" strike="noStrike">
                <a:solidFill>
                  <a:srgbClr val="CFE0EE"/>
                </a:solidFill>
                <a:latin typeface="Calibri"/>
                <a:ea typeface="Calibri"/>
                <a:cs typeface="Calibri"/>
                <a:sym typeface="Calibri"/>
              </a:rPr>
              <a:t>Vos 3 actions immédiates : auditer vos nomenclatures · créer votre compte EU Login · sécuriser vos géolocalisations.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4" name="Google Shape;994;p35"/>
          <p:cNvSpPr/>
          <p:nvPr/>
        </p:nvSpPr>
        <p:spPr>
          <a:xfrm>
            <a:off x="548640" y="2331720"/>
            <a:ext cx="3931920" cy="2331720"/>
          </a:xfrm>
          <a:prstGeom prst="roundRect">
            <a:avLst>
              <a:gd fmla="val 3137" name="adj"/>
            </a:avLst>
          </a:prstGeom>
          <a:solidFill>
            <a:srgbClr val="063A68"/>
          </a:solidFill>
          <a:ln cap="flat" cmpd="sng" w="12700">
            <a:solidFill>
              <a:srgbClr val="E1E9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995" name="Google Shape;995;p35"/>
          <p:cNvSpPr/>
          <p:nvPr/>
        </p:nvSpPr>
        <p:spPr>
          <a:xfrm>
            <a:off x="777240" y="2468880"/>
            <a:ext cx="34747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Vos interlocuteurs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6" name="Google Shape;996;p35"/>
          <p:cNvSpPr/>
          <p:nvPr/>
        </p:nvSpPr>
        <p:spPr>
          <a:xfrm>
            <a:off x="868680" y="2880360"/>
            <a:ext cx="3383280" cy="1691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CFE0EE"/>
              </a:buClr>
              <a:buSzPts val="1100"/>
              <a:buFont typeface="Calibri"/>
              <a:buChar char="•"/>
            </a:pPr>
            <a:r>
              <a:rPr b="0" i="0" lang="en-US" sz="1100" u="none" cap="none" strike="noStrike">
                <a:solidFill>
                  <a:srgbClr val="CFE0EE"/>
                </a:solidFill>
                <a:latin typeface="Calibri"/>
                <a:ea typeface="Calibri"/>
                <a:cs typeface="Calibri"/>
                <a:sym typeface="Calibri"/>
              </a:rPr>
              <a:t>Fond : Ministères Transition écologique &amp; Agriculture (MASA)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700"/>
              </a:spcBef>
              <a:spcAft>
                <a:spcPts val="0"/>
              </a:spcAft>
              <a:buClr>
                <a:srgbClr val="CFE0EE"/>
              </a:buClr>
              <a:buSzPts val="1100"/>
              <a:buFont typeface="Calibri"/>
              <a:buChar char="•"/>
            </a:pPr>
            <a:r>
              <a:rPr b="0" i="0" lang="en-US" sz="1100" u="none" cap="none" strike="noStrike">
                <a:solidFill>
                  <a:srgbClr val="CFE0EE"/>
                </a:solidFill>
                <a:latin typeface="Calibri"/>
                <a:ea typeface="Calibri"/>
                <a:cs typeface="Calibri"/>
                <a:sym typeface="Calibri"/>
              </a:rPr>
              <a:t>Formalités : Pôle d'action économique (PAE) des douanes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700"/>
              </a:spcBef>
              <a:spcAft>
                <a:spcPts val="0"/>
              </a:spcAft>
              <a:buClr>
                <a:srgbClr val="CFE0EE"/>
              </a:buClr>
              <a:buSzPts val="1100"/>
              <a:buFont typeface="Calibri"/>
              <a:buChar char="•"/>
            </a:pPr>
            <a:r>
              <a:rPr b="0" i="0" lang="en-US" sz="1100" u="none" cap="none" strike="noStrike">
                <a:solidFill>
                  <a:srgbClr val="CFE0EE"/>
                </a:solidFill>
                <a:latin typeface="Calibri"/>
                <a:ea typeface="Calibri"/>
                <a:cs typeface="Calibri"/>
                <a:sym typeface="Calibri"/>
              </a:rPr>
              <a:t>TRACES-NT · FAQ de la Commission (DG ENV)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700"/>
              </a:spcBef>
              <a:spcAft>
                <a:spcPts val="0"/>
              </a:spcAft>
              <a:buClr>
                <a:srgbClr val="CFE0EE"/>
              </a:buClr>
              <a:buSzPts val="1100"/>
              <a:buFont typeface="Calibri"/>
              <a:buChar char="•"/>
            </a:pPr>
            <a:r>
              <a:rPr b="0" i="0" lang="en-US" sz="1100" u="none" cap="none" strike="noStrike">
                <a:solidFill>
                  <a:srgbClr val="CFE0EE"/>
                </a:solidFill>
                <a:latin typeface="Calibri"/>
                <a:ea typeface="Calibri"/>
                <a:cs typeface="Calibri"/>
                <a:sym typeface="Calibri"/>
              </a:rPr>
              <a:t>deforestationimportee.ecologie.gouv.fr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7" name="Google Shape;997;p35"/>
          <p:cNvSpPr/>
          <p:nvPr/>
        </p:nvSpPr>
        <p:spPr>
          <a:xfrm>
            <a:off x="4663440" y="2331720"/>
            <a:ext cx="3931920" cy="2331720"/>
          </a:xfrm>
          <a:prstGeom prst="roundRect">
            <a:avLst>
              <a:gd fmla="val 3137" name="adj"/>
            </a:avLst>
          </a:prstGeom>
          <a:solidFill>
            <a:srgbClr val="063A68"/>
          </a:solidFill>
          <a:ln cap="flat" cmpd="sng" w="12700">
            <a:solidFill>
              <a:srgbClr val="E1E9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998" name="Google Shape;998;p35"/>
          <p:cNvSpPr/>
          <p:nvPr/>
        </p:nvSpPr>
        <p:spPr>
          <a:xfrm>
            <a:off x="4892040" y="2468880"/>
            <a:ext cx="34747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Vos intervenantes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9" name="Google Shape;999;p35"/>
          <p:cNvSpPr/>
          <p:nvPr/>
        </p:nvSpPr>
        <p:spPr>
          <a:xfrm>
            <a:off x="4892040" y="2880360"/>
            <a:ext cx="3566160" cy="1691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Céline Fontana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FE0EE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CFE0EE"/>
                </a:solidFill>
                <a:latin typeface="Calibri"/>
                <a:ea typeface="Calibri"/>
                <a:cs typeface="Calibri"/>
                <a:sym typeface="Calibri"/>
              </a:rPr>
              <a:t>CF² Douane — Conseil &amp; Formation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FE0EE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CFE0EE"/>
                </a:solidFill>
                <a:latin typeface="Calibri"/>
                <a:ea typeface="Calibri"/>
                <a:cs typeface="Calibri"/>
                <a:sym typeface="Calibri"/>
              </a:rPr>
              <a:t>06 86 93 95 72 · celine.fontana@gmail.com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Houda Zebar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FE0EE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CFE0EE"/>
                </a:solidFill>
                <a:latin typeface="Calibri"/>
                <a:ea typeface="Calibri"/>
                <a:cs typeface="Calibri"/>
                <a:sym typeface="Calibri"/>
              </a:rPr>
              <a:t>Co-animatrice du webinaire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0" name="Google Shape;1000;p35"/>
          <p:cNvSpPr/>
          <p:nvPr/>
        </p:nvSpPr>
        <p:spPr>
          <a:xfrm>
            <a:off x="548640" y="4983480"/>
            <a:ext cx="2651760" cy="731520"/>
          </a:xfrm>
          <a:prstGeom prst="roundRect">
            <a:avLst>
              <a:gd fmla="val 7500" name="adj"/>
            </a:avLst>
          </a:prstGeom>
          <a:solidFill>
            <a:srgbClr val="FFFFFF"/>
          </a:solidFill>
          <a:ln>
            <a:noFill/>
          </a:ln>
          <a:effectLst>
            <a:outerShdw blurRad="76200" rotWithShape="0" algn="bl" dir="5400000" dist="25400">
              <a:srgbClr val="8AA0B4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1001" name="Google Shape;1001;p35"/>
          <p:cNvSpPr/>
          <p:nvPr/>
        </p:nvSpPr>
        <p:spPr>
          <a:xfrm>
            <a:off x="731520" y="5193792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F337F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DF337F"/>
                </a:solidFill>
                <a:latin typeface="Calibri"/>
                <a:ea typeface="Calibri"/>
                <a:cs typeface="Calibri"/>
                <a:sym typeface="Calibri"/>
              </a:rPr>
              <a:t>CCI</a:t>
            </a: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LYON MÉTROPOLE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2" name="Google Shape;1002;p35"/>
          <p:cNvSpPr/>
          <p:nvPr/>
        </p:nvSpPr>
        <p:spPr>
          <a:xfrm>
            <a:off x="731520" y="5449824"/>
            <a:ext cx="27432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6CC"/>
              </a:buClr>
              <a:buSzPts val="1000"/>
              <a:buFont typeface="Calibri"/>
              <a:buNone/>
            </a:pPr>
            <a:r>
              <a:rPr b="0" i="1" lang="en-US" sz="1000" u="none" cap="none" strike="noStrike">
                <a:solidFill>
                  <a:srgbClr val="9FB6CC"/>
                </a:solidFill>
                <a:latin typeface="Calibri"/>
                <a:ea typeface="Calibri"/>
                <a:cs typeface="Calibri"/>
                <a:sym typeface="Calibri"/>
              </a:rPr>
              <a:t>Saint-Étienne Roanne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3" name="Google Shape;1003;p35"/>
          <p:cNvSpPr/>
          <p:nvPr/>
        </p:nvSpPr>
        <p:spPr>
          <a:xfrm>
            <a:off x="4297680" y="4983480"/>
            <a:ext cx="42976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FB6CC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FB6CC"/>
                </a:solidFill>
                <a:latin typeface="Calibri"/>
                <a:ea typeface="Calibri"/>
                <a:cs typeface="Calibri"/>
                <a:sym typeface="Calibri"/>
              </a:rPr>
              <a:t>Webinaire RDUE / EUDR — CCI Lyon Métropole &amp; CF² Douane · 24 sept. 2026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